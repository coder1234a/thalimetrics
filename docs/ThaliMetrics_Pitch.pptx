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D2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3D28"/>
          </a:solidFill>
          <a:ln/>
        </p:spPr>
      </p:sp>
      <p:sp>
        <p:nvSpPr>
          <p:cNvPr id="3" name="Text 1"/>
          <p:cNvSpPr txBox="1"/>
          <p:nvPr/>
        </p:nvSpPr>
        <p:spPr>
          <a:xfrm>
            <a:off x="822960" y="822960"/>
            <a:ext cx="9144000" cy="365760"/>
          </a:xfrm>
          <a:prstGeom prst="rect">
            <a:avLst/>
          </a:prstGeom>
          <a:noFill/>
          <a:ln/>
        </p:spPr>
        <p:txBody>
          <a:bodyPr wrap="square" rtlCol="0" anchor="ctr"/>
          <a:lstStyle/>
          <a:p>
            <a:pPr indent="0" marL="0">
              <a:buNone/>
            </a:pPr>
            <a:r>
              <a:rPr lang="en-US" sz="1300" b="1" spc="200" kern="0" dirty="0">
                <a:solidFill>
                  <a:srgbClr val="CFE3D5"/>
                </a:solidFill>
                <a:latin typeface="Calibri" pitchFamily="34" charset="0"/>
                <a:ea typeface="Calibri" pitchFamily="34" charset="-122"/>
                <a:cs typeface="Calibri" pitchFamily="34" charset="-120"/>
              </a:rPr>
              <a:t>NUTRIHACK · NUTRITION WEEK 2026 · VIT VELLORE</a:t>
            </a:r>
            <a:endParaRPr lang="en-US" sz="1300" dirty="0"/>
          </a:p>
        </p:txBody>
      </p:sp>
      <p:pic>
        <p:nvPicPr>
          <p:cNvPr id="4" name="Image 0" descr="assets/logo.png">    </p:cNvPr>
          <p:cNvPicPr>
            <a:picLocks noChangeAspect="1"/>
          </p:cNvPicPr>
          <p:nvPr/>
        </p:nvPicPr>
        <p:blipFill>
          <a:blip r:embed="rId1"/>
          <a:stretch>
            <a:fillRect/>
          </a:stretch>
        </p:blipFill>
        <p:spPr>
          <a:xfrm>
            <a:off x="822960" y="2423160"/>
            <a:ext cx="1325880" cy="914400"/>
          </a:xfrm>
          <a:prstGeom prst="rect">
            <a:avLst/>
          </a:prstGeom>
        </p:spPr>
      </p:pic>
      <p:sp>
        <p:nvSpPr>
          <p:cNvPr id="5" name="Text 2"/>
          <p:cNvSpPr txBox="1"/>
          <p:nvPr/>
        </p:nvSpPr>
        <p:spPr>
          <a:xfrm>
            <a:off x="777240" y="3246120"/>
            <a:ext cx="9144000" cy="1005840"/>
          </a:xfrm>
          <a:prstGeom prst="rect">
            <a:avLst/>
          </a:prstGeom>
          <a:noFill/>
          <a:ln/>
        </p:spPr>
        <p:txBody>
          <a:bodyPr wrap="square"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ThaliMetrics</a:t>
            </a:r>
            <a:endParaRPr lang="en-US" sz="5400" dirty="0"/>
          </a:p>
        </p:txBody>
      </p:sp>
      <p:sp>
        <p:nvSpPr>
          <p:cNvPr id="6" name="Text 3"/>
          <p:cNvSpPr txBox="1"/>
          <p:nvPr/>
        </p:nvSpPr>
        <p:spPr>
          <a:xfrm>
            <a:off x="822960" y="4160520"/>
            <a:ext cx="8229600" cy="548640"/>
          </a:xfrm>
          <a:prstGeom prst="rect">
            <a:avLst/>
          </a:prstGeom>
          <a:noFill/>
          <a:ln/>
        </p:spPr>
        <p:txBody>
          <a:bodyPr wrap="square" rtlCol="0" anchor="ctr"/>
          <a:lstStyle/>
          <a:p>
            <a:pPr indent="0" marL="0">
              <a:buNone/>
            </a:pPr>
            <a:r>
              <a:rPr lang="en-US" sz="2000" i="1" dirty="0">
                <a:solidFill>
                  <a:srgbClr val="CFE3D5"/>
                </a:solidFill>
                <a:latin typeface="Calibri" pitchFamily="34" charset="0"/>
                <a:ea typeface="Calibri" pitchFamily="34" charset="-122"/>
                <a:cs typeface="Calibri" pitchFamily="34" charset="-120"/>
              </a:rPr>
              <a:t>Eat better. Waste less.</a:t>
            </a:r>
            <a:endParaRPr lang="en-US" sz="2000" dirty="0"/>
          </a:p>
        </p:txBody>
      </p:sp>
      <p:sp>
        <p:nvSpPr>
          <p:cNvPr id="7" name="Text 4"/>
          <p:cNvSpPr txBox="1"/>
          <p:nvPr/>
        </p:nvSpPr>
        <p:spPr>
          <a:xfrm>
            <a:off x="822960" y="4800600"/>
            <a:ext cx="8046720" cy="731520"/>
          </a:xfrm>
          <a:prstGeom prst="rect">
            <a:avLst/>
          </a:prstGeom>
          <a:noFill/>
          <a:ln/>
        </p:spPr>
        <p:txBody>
          <a:bodyPr wrap="square" rtlCol="0" anchor="ctr"/>
          <a:lstStyle/>
          <a:p>
            <a:pPr indent="0" marL="0">
              <a:lnSpc>
                <a:spcPct val="130000"/>
              </a:lnSpc>
              <a:buNone/>
            </a:pPr>
            <a:r>
              <a:rPr lang="en-US" sz="1350" dirty="0">
                <a:solidFill>
                  <a:srgbClr val="E7EFEA"/>
                </a:solidFill>
                <a:latin typeface="Calibri" pitchFamily="34" charset="0"/>
                <a:ea typeface="Calibri" pitchFamily="34" charset="-122"/>
                <a:cs typeface="Calibri" pitchFamily="34" charset="-120"/>
              </a:rPr>
              <a:t>A tap-and-log platform that gives hostel students a real nutrition picture</a:t>
            </a:r>
            <a:endParaRPr lang="en-US" sz="1350" dirty="0"/>
          </a:p>
          <a:p>
            <a:pPr indent="0" marL="0">
              <a:lnSpc>
                <a:spcPct val="130000"/>
              </a:lnSpc>
              <a:buNone/>
            </a:pPr>
            <a:r>
              <a:rPr lang="en-US" sz="1350" dirty="0">
                <a:solidFill>
                  <a:srgbClr val="E7EFEA"/>
                </a:solidFill>
                <a:latin typeface="Calibri" pitchFamily="34" charset="0"/>
                <a:ea typeface="Calibri" pitchFamily="34" charset="-122"/>
                <a:cs typeface="Calibri" pitchFamily="34" charset="-120"/>
              </a:rPr>
              <a:t>and gives mess kitchens a real waste picture — from the same five-second tap.</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02 · TEAM DETAILS</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Team [Your Team Name]</a:t>
            </a:r>
            <a:endParaRPr lang="en-US" sz="3200" dirty="0"/>
          </a:p>
        </p:txBody>
      </p:sp>
      <p:sp>
        <p:nvSpPr>
          <p:cNvPr id="4" name="Shape 2"/>
          <p:cNvSpPr/>
          <p:nvPr/>
        </p:nvSpPr>
        <p:spPr>
          <a:xfrm>
            <a:off x="640080" y="1737360"/>
            <a:ext cx="10881360" cy="4206240"/>
          </a:xfrm>
          <a:prstGeom prst="roundRect">
            <a:avLst>
              <a:gd name="adj" fmla="val 2609"/>
            </a:avLst>
          </a:prstGeom>
          <a:solidFill>
            <a:srgbClr val="F3F2EE"/>
          </a:solidFill>
          <a:ln/>
        </p:spPr>
      </p:sp>
      <p:sp>
        <p:nvSpPr>
          <p:cNvPr id="5" name="Text 3"/>
          <p:cNvSpPr txBox="1"/>
          <p:nvPr/>
        </p:nvSpPr>
        <p:spPr>
          <a:xfrm>
            <a:off x="1005840" y="2011680"/>
            <a:ext cx="5486400" cy="365760"/>
          </a:xfrm>
          <a:prstGeom prst="rect">
            <a:avLst/>
          </a:prstGeom>
          <a:noFill/>
          <a:ln/>
        </p:spPr>
        <p:txBody>
          <a:bodyPr wrap="square" rtlCol="0" anchor="ctr"/>
          <a:lstStyle/>
          <a:p>
            <a:pPr indent="0" marL="0">
              <a:buNone/>
            </a:pPr>
            <a:r>
              <a:rPr lang="en-US" sz="1300" b="1" dirty="0">
                <a:solidFill>
                  <a:srgbClr val="6B7A70"/>
                </a:solidFill>
                <a:latin typeface="Calibri" pitchFamily="34" charset="0"/>
                <a:ea typeface="Calibri" pitchFamily="34" charset="-122"/>
                <a:cs typeface="Calibri" pitchFamily="34" charset="-120"/>
              </a:rPr>
              <a:t>Fill in before submitting:</a:t>
            </a:r>
            <a:endParaRPr lang="en-US" sz="1300" dirty="0"/>
          </a:p>
        </p:txBody>
      </p:sp>
      <p:sp>
        <p:nvSpPr>
          <p:cNvPr id="6" name="Text 4"/>
          <p:cNvSpPr txBox="1"/>
          <p:nvPr/>
        </p:nvSpPr>
        <p:spPr>
          <a:xfrm>
            <a:off x="1005840" y="2514600"/>
            <a:ext cx="9966960" cy="411480"/>
          </a:xfrm>
          <a:prstGeom prst="rect">
            <a:avLst/>
          </a:prstGeom>
          <a:noFill/>
          <a:ln/>
        </p:spPr>
        <p:txBody>
          <a:bodyPr wrap="square"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Team name:  </a:t>
            </a:r>
            <a:pPr indent="0" marL="0">
              <a:buNone/>
            </a:pPr>
            <a:r>
              <a:rPr lang="en-US" sz="1500" i="1" dirty="0">
                <a:solidFill>
                  <a:srgbClr val="6B7A70"/>
                </a:solidFill>
                <a:latin typeface="Calibri" pitchFamily="34" charset="0"/>
                <a:ea typeface="Calibri" pitchFamily="34" charset="-122"/>
                <a:cs typeface="Calibri" pitchFamily="34" charset="-120"/>
              </a:rPr>
              <a:t>[ fill in ]</a:t>
            </a:r>
            <a:endParaRPr lang="en-US" sz="1500" dirty="0"/>
          </a:p>
        </p:txBody>
      </p:sp>
      <p:sp>
        <p:nvSpPr>
          <p:cNvPr id="7" name="Text 5"/>
          <p:cNvSpPr txBox="1"/>
          <p:nvPr/>
        </p:nvSpPr>
        <p:spPr>
          <a:xfrm>
            <a:off x="1005840" y="3017520"/>
            <a:ext cx="9966960" cy="411480"/>
          </a:xfrm>
          <a:prstGeom prst="rect">
            <a:avLst/>
          </a:prstGeom>
          <a:noFill/>
          <a:ln/>
        </p:spPr>
        <p:txBody>
          <a:bodyPr wrap="square"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Team member 1 — role:  </a:t>
            </a:r>
            <a:pPr indent="0" marL="0">
              <a:buNone/>
            </a:pPr>
            <a:r>
              <a:rPr lang="en-US" sz="1500" i="1" dirty="0">
                <a:solidFill>
                  <a:srgbClr val="6B7A70"/>
                </a:solidFill>
                <a:latin typeface="Calibri" pitchFamily="34" charset="0"/>
                <a:ea typeface="Calibri" pitchFamily="34" charset="-122"/>
                <a:cs typeface="Calibri" pitchFamily="34" charset="-120"/>
              </a:rPr>
              <a:t>[ fill in ]</a:t>
            </a:r>
            <a:endParaRPr lang="en-US" sz="1500" dirty="0"/>
          </a:p>
        </p:txBody>
      </p:sp>
      <p:sp>
        <p:nvSpPr>
          <p:cNvPr id="8" name="Text 6"/>
          <p:cNvSpPr txBox="1"/>
          <p:nvPr/>
        </p:nvSpPr>
        <p:spPr>
          <a:xfrm>
            <a:off x="1005840" y="3520440"/>
            <a:ext cx="9966960" cy="411480"/>
          </a:xfrm>
          <a:prstGeom prst="rect">
            <a:avLst/>
          </a:prstGeom>
          <a:noFill/>
          <a:ln/>
        </p:spPr>
        <p:txBody>
          <a:bodyPr wrap="square"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Team member 2 — role:  </a:t>
            </a:r>
            <a:pPr indent="0" marL="0">
              <a:buNone/>
            </a:pPr>
            <a:r>
              <a:rPr lang="en-US" sz="1500" i="1" dirty="0">
                <a:solidFill>
                  <a:srgbClr val="6B7A70"/>
                </a:solidFill>
                <a:latin typeface="Calibri" pitchFamily="34" charset="0"/>
                <a:ea typeface="Calibri" pitchFamily="34" charset="-122"/>
                <a:cs typeface="Calibri" pitchFamily="34" charset="-120"/>
              </a:rPr>
              <a:t>[ fill in ]</a:t>
            </a:r>
            <a:endParaRPr lang="en-US" sz="1500" dirty="0"/>
          </a:p>
        </p:txBody>
      </p:sp>
      <p:sp>
        <p:nvSpPr>
          <p:cNvPr id="9" name="Text 7"/>
          <p:cNvSpPr txBox="1"/>
          <p:nvPr/>
        </p:nvSpPr>
        <p:spPr>
          <a:xfrm>
            <a:off x="1005840" y="4023360"/>
            <a:ext cx="9966960" cy="411480"/>
          </a:xfrm>
          <a:prstGeom prst="rect">
            <a:avLst/>
          </a:prstGeom>
          <a:noFill/>
          <a:ln/>
        </p:spPr>
        <p:txBody>
          <a:bodyPr wrap="square"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Team member 3 — role:  </a:t>
            </a:r>
            <a:pPr indent="0" marL="0">
              <a:buNone/>
            </a:pPr>
            <a:r>
              <a:rPr lang="en-US" sz="1500" i="1" dirty="0">
                <a:solidFill>
                  <a:srgbClr val="6B7A70"/>
                </a:solidFill>
                <a:latin typeface="Calibri" pitchFamily="34" charset="0"/>
                <a:ea typeface="Calibri" pitchFamily="34" charset="-122"/>
                <a:cs typeface="Calibri" pitchFamily="34" charset="-120"/>
              </a:rPr>
              <a:t>[ fill in ]</a:t>
            </a:r>
            <a:endParaRPr lang="en-US" sz="1500" dirty="0"/>
          </a:p>
        </p:txBody>
      </p:sp>
      <p:sp>
        <p:nvSpPr>
          <p:cNvPr id="10" name="Text 8"/>
          <p:cNvSpPr txBox="1"/>
          <p:nvPr/>
        </p:nvSpPr>
        <p:spPr>
          <a:xfrm>
            <a:off x="1005840" y="4526280"/>
            <a:ext cx="9966960" cy="411480"/>
          </a:xfrm>
          <a:prstGeom prst="rect">
            <a:avLst/>
          </a:prstGeom>
          <a:noFill/>
          <a:ln/>
        </p:spPr>
        <p:txBody>
          <a:bodyPr wrap="square"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Registration number(s):  </a:t>
            </a:r>
            <a:pPr indent="0" marL="0">
              <a:buNone/>
            </a:pPr>
            <a:r>
              <a:rPr lang="en-US" sz="1500" i="1" dirty="0">
                <a:solidFill>
                  <a:srgbClr val="6B7A70"/>
                </a:solidFill>
                <a:latin typeface="Calibri" pitchFamily="34" charset="0"/>
                <a:ea typeface="Calibri" pitchFamily="34" charset="-122"/>
                <a:cs typeface="Calibri" pitchFamily="34" charset="-120"/>
              </a:rPr>
              <a:t>[ fill in ]</a:t>
            </a:r>
            <a:endParaRPr lang="en-US" sz="1500" dirty="0"/>
          </a:p>
        </p:txBody>
      </p:sp>
      <p:sp>
        <p:nvSpPr>
          <p:cNvPr id="11" name="Text 9"/>
          <p:cNvSpPr txBox="1"/>
          <p:nvPr/>
        </p:nvSpPr>
        <p:spPr>
          <a:xfrm>
            <a:off x="1005840" y="5029200"/>
            <a:ext cx="9966960" cy="411480"/>
          </a:xfrm>
          <a:prstGeom prst="rect">
            <a:avLst/>
          </a:prstGeom>
          <a:noFill/>
          <a:ln/>
        </p:spPr>
        <p:txBody>
          <a:bodyPr wrap="square"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Contact email:  </a:t>
            </a:r>
            <a:pPr indent="0" marL="0">
              <a:buNone/>
            </a:pPr>
            <a:r>
              <a:rPr lang="en-US" sz="1500" i="1" dirty="0">
                <a:solidFill>
                  <a:srgbClr val="6B7A70"/>
                </a:solidFill>
                <a:latin typeface="Calibri" pitchFamily="34" charset="0"/>
                <a:ea typeface="Calibri" pitchFamily="34" charset="-122"/>
                <a:cs typeface="Calibri" pitchFamily="34" charset="-120"/>
              </a:rPr>
              <a:t>[ fill in ]</a:t>
            </a:r>
            <a:endParaRPr lang="en-US" sz="1500" dirty="0"/>
          </a:p>
        </p:txBody>
      </p:sp>
      <p:sp>
        <p:nvSpPr>
          <p:cNvPr id="12" name="Text 10"/>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03 · THE PROBLEM</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Two problems, tracked separately — or not at all</a:t>
            </a:r>
            <a:endParaRPr lang="en-US" sz="3200" dirty="0"/>
          </a:p>
        </p:txBody>
      </p:sp>
      <p:sp>
        <p:nvSpPr>
          <p:cNvPr id="4" name="Text 2"/>
          <p:cNvSpPr txBox="1"/>
          <p:nvPr/>
        </p:nvSpPr>
        <p:spPr>
          <a:xfrm>
            <a:off x="640080" y="1554480"/>
            <a:ext cx="10881360" cy="685800"/>
          </a:xfrm>
          <a:prstGeom prst="rect">
            <a:avLst/>
          </a:prstGeom>
          <a:noFill/>
          <a:ln/>
        </p:spPr>
        <p:txBody>
          <a:bodyPr wrap="square" rtlCol="0" anchor="ctr"/>
          <a:lstStyle/>
          <a:p>
            <a:pPr indent="0" marL="0">
              <a:lnSpc>
                <a:spcPct val="125000"/>
              </a:lnSpc>
              <a:buNone/>
            </a:pPr>
            <a:r>
              <a:rPr lang="en-US" sz="1400" dirty="0">
                <a:solidFill>
                  <a:srgbClr val="1A1A1A"/>
                </a:solidFill>
                <a:latin typeface="Calibri" pitchFamily="34" charset="0"/>
                <a:ea typeface="Calibri" pitchFamily="34" charset="-122"/>
                <a:cs typeface="Calibri" pitchFamily="34" charset="-120"/>
              </a:rPr>
              <a:t>Hostel messes waste large amounts of food every day, while the students eating in those same messes commonly fall short of basic nutrients. Nobody sees both halves of the story at once.</a:t>
            </a:r>
            <a:endParaRPr lang="en-US" sz="1400" dirty="0"/>
          </a:p>
        </p:txBody>
      </p:sp>
      <p:sp>
        <p:nvSpPr>
          <p:cNvPr id="5" name="Shape 3"/>
          <p:cNvSpPr/>
          <p:nvPr/>
        </p:nvSpPr>
        <p:spPr>
          <a:xfrm>
            <a:off x="640080" y="2514600"/>
            <a:ext cx="2578608" cy="3291840"/>
          </a:xfrm>
          <a:prstGeom prst="roundRect">
            <a:avLst>
              <a:gd name="adj" fmla="val 3546"/>
            </a:avLst>
          </a:prstGeom>
          <a:solidFill>
            <a:srgbClr val="F3F2EE"/>
          </a:solidFill>
          <a:ln/>
        </p:spPr>
      </p:sp>
      <p:sp>
        <p:nvSpPr>
          <p:cNvPr id="6" name="Text 4"/>
          <p:cNvSpPr txBox="1"/>
          <p:nvPr/>
        </p:nvSpPr>
        <p:spPr>
          <a:xfrm>
            <a:off x="841248" y="2724912"/>
            <a:ext cx="2176272" cy="548640"/>
          </a:xfrm>
          <a:prstGeom prst="rect">
            <a:avLst/>
          </a:prstGeom>
          <a:noFill/>
          <a:ln/>
        </p:spPr>
        <p:txBody>
          <a:bodyPr wrap="square" rtlCol="0" anchor="ctr"/>
          <a:lstStyle/>
          <a:p>
            <a:pPr indent="0" marL="0">
              <a:buNone/>
            </a:pPr>
            <a:r>
              <a:rPr lang="en-US" sz="1450" b="1" dirty="0">
                <a:solidFill>
                  <a:srgbClr val="163D28"/>
                </a:solidFill>
                <a:latin typeface="Calibri" pitchFamily="34" charset="0"/>
                <a:ea typeface="Calibri" pitchFamily="34" charset="-122"/>
                <a:cs typeface="Calibri" pitchFamily="34" charset="-120"/>
              </a:rPr>
              <a:t>Nutrition gaps</a:t>
            </a:r>
            <a:endParaRPr lang="en-US" sz="1450" dirty="0"/>
          </a:p>
        </p:txBody>
      </p:sp>
      <p:sp>
        <p:nvSpPr>
          <p:cNvPr id="7" name="Text 5"/>
          <p:cNvSpPr txBox="1"/>
          <p:nvPr/>
        </p:nvSpPr>
        <p:spPr>
          <a:xfrm>
            <a:off x="841248" y="3246120"/>
            <a:ext cx="2176272" cy="2377440"/>
          </a:xfrm>
          <a:prstGeom prst="rect">
            <a:avLst/>
          </a:prstGeom>
          <a:noFill/>
          <a:ln/>
        </p:spPr>
        <p:txBody>
          <a:bodyPr wrap="square" rtlCol="0" anchor="ctr"/>
          <a:lstStyle/>
          <a:p>
            <a:pPr indent="0" marL="0">
              <a:lnSpc>
                <a:spcPct val="125000"/>
              </a:lnSpc>
              <a:buNone/>
            </a:pPr>
            <a:r>
              <a:rPr lang="en-US" sz="1150" dirty="0">
                <a:solidFill>
                  <a:srgbClr val="1A1A1A"/>
                </a:solidFill>
                <a:latin typeface="Calibri" pitchFamily="34" charset="0"/>
                <a:ea typeface="Calibri" pitchFamily="34" charset="-122"/>
                <a:cs typeface="Calibri" pitchFamily="34" charset="-120"/>
              </a:rPr>
              <a:t>59.1% of young Indian women (15–19y) are anaemic (NFHS-5). Protein RDA is 0.83 g/kg/day — many students don't reliably clear it.</a:t>
            </a:r>
            <a:endParaRPr lang="en-US" sz="1150" dirty="0"/>
          </a:p>
        </p:txBody>
      </p:sp>
      <p:sp>
        <p:nvSpPr>
          <p:cNvPr id="8" name="Shape 6"/>
          <p:cNvSpPr/>
          <p:nvPr/>
        </p:nvSpPr>
        <p:spPr>
          <a:xfrm>
            <a:off x="3419856" y="2514600"/>
            <a:ext cx="2578608" cy="3291840"/>
          </a:xfrm>
          <a:prstGeom prst="roundRect">
            <a:avLst>
              <a:gd name="adj" fmla="val 3546"/>
            </a:avLst>
          </a:prstGeom>
          <a:solidFill>
            <a:srgbClr val="F3F2EE"/>
          </a:solidFill>
          <a:ln/>
        </p:spPr>
      </p:sp>
      <p:sp>
        <p:nvSpPr>
          <p:cNvPr id="9" name="Text 7"/>
          <p:cNvSpPr txBox="1"/>
          <p:nvPr/>
        </p:nvSpPr>
        <p:spPr>
          <a:xfrm>
            <a:off x="3621024" y="2724912"/>
            <a:ext cx="2176272" cy="548640"/>
          </a:xfrm>
          <a:prstGeom prst="rect">
            <a:avLst/>
          </a:prstGeom>
          <a:noFill/>
          <a:ln/>
        </p:spPr>
        <p:txBody>
          <a:bodyPr wrap="square" rtlCol="0" anchor="ctr"/>
          <a:lstStyle/>
          <a:p>
            <a:pPr indent="0" marL="0">
              <a:buNone/>
            </a:pPr>
            <a:r>
              <a:rPr lang="en-US" sz="1450" b="1" dirty="0">
                <a:solidFill>
                  <a:srgbClr val="163D28"/>
                </a:solidFill>
                <a:latin typeface="Calibri" pitchFamily="34" charset="0"/>
                <a:ea typeface="Calibri" pitchFamily="34" charset="-122"/>
                <a:cs typeface="Calibri" pitchFamily="34" charset="-120"/>
              </a:rPr>
              <a:t>Food waste</a:t>
            </a:r>
            <a:endParaRPr lang="en-US" sz="1450" dirty="0"/>
          </a:p>
        </p:txBody>
      </p:sp>
      <p:sp>
        <p:nvSpPr>
          <p:cNvPr id="10" name="Text 8"/>
          <p:cNvSpPr txBox="1"/>
          <p:nvPr/>
        </p:nvSpPr>
        <p:spPr>
          <a:xfrm>
            <a:off x="3621024" y="3246120"/>
            <a:ext cx="2176272" cy="2377440"/>
          </a:xfrm>
          <a:prstGeom prst="rect">
            <a:avLst/>
          </a:prstGeom>
          <a:noFill/>
          <a:ln/>
        </p:spPr>
        <p:txBody>
          <a:bodyPr wrap="square" rtlCol="0" anchor="ctr"/>
          <a:lstStyle/>
          <a:p>
            <a:pPr indent="0" marL="0">
              <a:lnSpc>
                <a:spcPct val="125000"/>
              </a:lnSpc>
              <a:buNone/>
            </a:pPr>
            <a:r>
              <a:rPr lang="en-US" sz="1150" dirty="0">
                <a:solidFill>
                  <a:srgbClr val="1A1A1A"/>
                </a:solidFill>
                <a:latin typeface="Calibri" pitchFamily="34" charset="0"/>
                <a:ea typeface="Calibri" pitchFamily="34" charset="-122"/>
                <a:cs typeface="Calibri" pitchFamily="34" charset="-120"/>
              </a:rPr>
              <a:t>Hostel mess audits recorded 3–6 kg of leftover food per meal slot in a single block. 17% of food is wasted at the consumer level nationally.</a:t>
            </a:r>
            <a:endParaRPr lang="en-US" sz="1150" dirty="0"/>
          </a:p>
        </p:txBody>
      </p:sp>
      <p:sp>
        <p:nvSpPr>
          <p:cNvPr id="11" name="Shape 9"/>
          <p:cNvSpPr/>
          <p:nvPr/>
        </p:nvSpPr>
        <p:spPr>
          <a:xfrm>
            <a:off x="6199632" y="2514600"/>
            <a:ext cx="2578608" cy="3291840"/>
          </a:xfrm>
          <a:prstGeom prst="roundRect">
            <a:avLst>
              <a:gd name="adj" fmla="val 3546"/>
            </a:avLst>
          </a:prstGeom>
          <a:solidFill>
            <a:srgbClr val="F3F2EE"/>
          </a:solidFill>
          <a:ln/>
        </p:spPr>
      </p:sp>
      <p:sp>
        <p:nvSpPr>
          <p:cNvPr id="12" name="Text 10"/>
          <p:cNvSpPr txBox="1"/>
          <p:nvPr/>
        </p:nvSpPr>
        <p:spPr>
          <a:xfrm>
            <a:off x="6400800" y="2724912"/>
            <a:ext cx="2176272" cy="548640"/>
          </a:xfrm>
          <a:prstGeom prst="rect">
            <a:avLst/>
          </a:prstGeom>
          <a:noFill/>
          <a:ln/>
        </p:spPr>
        <p:txBody>
          <a:bodyPr wrap="square" rtlCol="0" anchor="ctr"/>
          <a:lstStyle/>
          <a:p>
            <a:pPr indent="0" marL="0">
              <a:buNone/>
            </a:pPr>
            <a:r>
              <a:rPr lang="en-US" sz="1450" b="1" dirty="0">
                <a:solidFill>
                  <a:srgbClr val="163D28"/>
                </a:solidFill>
                <a:latin typeface="Calibri" pitchFamily="34" charset="0"/>
                <a:ea typeface="Calibri" pitchFamily="34" charset="-122"/>
                <a:cs typeface="Calibri" pitchFamily="34" charset="-120"/>
              </a:rPr>
              <a:t>No shared signal</a:t>
            </a:r>
            <a:endParaRPr lang="en-US" sz="1450" dirty="0"/>
          </a:p>
        </p:txBody>
      </p:sp>
      <p:sp>
        <p:nvSpPr>
          <p:cNvPr id="13" name="Text 11"/>
          <p:cNvSpPr txBox="1"/>
          <p:nvPr/>
        </p:nvSpPr>
        <p:spPr>
          <a:xfrm>
            <a:off x="6400800" y="3246120"/>
            <a:ext cx="2176272" cy="2377440"/>
          </a:xfrm>
          <a:prstGeom prst="rect">
            <a:avLst/>
          </a:prstGeom>
          <a:noFill/>
          <a:ln/>
        </p:spPr>
        <p:txBody>
          <a:bodyPr wrap="square" rtlCol="0" anchor="ctr"/>
          <a:lstStyle/>
          <a:p>
            <a:pPr indent="0" marL="0">
              <a:lnSpc>
                <a:spcPct val="125000"/>
              </a:lnSpc>
              <a:buNone/>
            </a:pPr>
            <a:r>
              <a:rPr lang="en-US" sz="1150" dirty="0">
                <a:solidFill>
                  <a:srgbClr val="1A1A1A"/>
                </a:solidFill>
                <a:latin typeface="Calibri" pitchFamily="34" charset="0"/>
                <a:ea typeface="Calibri" pitchFamily="34" charset="-122"/>
                <a:cs typeface="Calibri" pitchFamily="34" charset="-120"/>
              </a:rPr>
              <a:t>Nutrition-tracking apps don't see the mess. Kitchen waste-tracking tools don't see the student. Nothing connects the two.</a:t>
            </a:r>
            <a:endParaRPr lang="en-US" sz="1150" dirty="0"/>
          </a:p>
        </p:txBody>
      </p:sp>
      <p:sp>
        <p:nvSpPr>
          <p:cNvPr id="14" name="Shape 12"/>
          <p:cNvSpPr/>
          <p:nvPr/>
        </p:nvSpPr>
        <p:spPr>
          <a:xfrm>
            <a:off x="8979408" y="2514600"/>
            <a:ext cx="2578608" cy="3291840"/>
          </a:xfrm>
          <a:prstGeom prst="roundRect">
            <a:avLst>
              <a:gd name="adj" fmla="val 3546"/>
            </a:avLst>
          </a:prstGeom>
          <a:solidFill>
            <a:srgbClr val="F3F2EE"/>
          </a:solidFill>
          <a:ln/>
        </p:spPr>
      </p:sp>
      <p:sp>
        <p:nvSpPr>
          <p:cNvPr id="15" name="Text 13"/>
          <p:cNvSpPr txBox="1"/>
          <p:nvPr/>
        </p:nvSpPr>
        <p:spPr>
          <a:xfrm>
            <a:off x="9180576" y="2724912"/>
            <a:ext cx="2176272" cy="548640"/>
          </a:xfrm>
          <a:prstGeom prst="rect">
            <a:avLst/>
          </a:prstGeom>
          <a:noFill/>
          <a:ln/>
        </p:spPr>
        <p:txBody>
          <a:bodyPr wrap="square" rtlCol="0" anchor="ctr"/>
          <a:lstStyle/>
          <a:p>
            <a:pPr indent="0" marL="0">
              <a:buNone/>
            </a:pPr>
            <a:r>
              <a:rPr lang="en-US" sz="1450" b="1" dirty="0">
                <a:solidFill>
                  <a:srgbClr val="163D28"/>
                </a:solidFill>
                <a:latin typeface="Calibri" pitchFamily="34" charset="0"/>
                <a:ea typeface="Calibri" pitchFamily="34" charset="-122"/>
                <a:cs typeface="Calibri" pitchFamily="34" charset="-120"/>
              </a:rPr>
              <a:t>Real eating behaviour</a:t>
            </a:r>
            <a:endParaRPr lang="en-US" sz="1450" dirty="0"/>
          </a:p>
        </p:txBody>
      </p:sp>
      <p:sp>
        <p:nvSpPr>
          <p:cNvPr id="16" name="Text 14"/>
          <p:cNvSpPr txBox="1"/>
          <p:nvPr/>
        </p:nvSpPr>
        <p:spPr>
          <a:xfrm>
            <a:off x="9180576" y="3246120"/>
            <a:ext cx="2176272" cy="2377440"/>
          </a:xfrm>
          <a:prstGeom prst="rect">
            <a:avLst/>
          </a:prstGeom>
          <a:noFill/>
          <a:ln/>
        </p:spPr>
        <p:txBody>
          <a:bodyPr wrap="square" rtlCol="0" anchor="ctr"/>
          <a:lstStyle/>
          <a:p>
            <a:pPr indent="0" marL="0">
              <a:lnSpc>
                <a:spcPct val="125000"/>
              </a:lnSpc>
              <a:buNone/>
            </a:pPr>
            <a:r>
              <a:rPr lang="en-US" sz="1150" dirty="0">
                <a:solidFill>
                  <a:srgbClr val="1A1A1A"/>
                </a:solidFill>
                <a:latin typeface="Calibri" pitchFamily="34" charset="0"/>
                <a:ea typeface="Calibri" pitchFamily="34" charset="-122"/>
                <a:cs typeface="Calibri" pitchFamily="34" charset="-120"/>
              </a:rPr>
              <a:t>Students take refills, share bowls, and eat in sessions — not one static plate. Most tracking tools assume the opposite.</a:t>
            </a:r>
            <a:endParaRPr lang="en-US" sz="1150" dirty="0"/>
          </a:p>
        </p:txBody>
      </p:sp>
      <p:sp>
        <p:nvSpPr>
          <p:cNvPr id="17" name="Text 15"/>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04 · PROPOSED SOLUTION</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One tap at the tray return, two problems solved</a:t>
            </a:r>
            <a:endParaRPr lang="en-US" sz="3200" dirty="0"/>
          </a:p>
        </p:txBody>
      </p:sp>
      <p:sp>
        <p:nvSpPr>
          <p:cNvPr id="4" name="Text 2"/>
          <p:cNvSpPr txBox="1"/>
          <p:nvPr/>
        </p:nvSpPr>
        <p:spPr>
          <a:xfrm>
            <a:off x="640080" y="1572768"/>
            <a:ext cx="10881360" cy="457200"/>
          </a:xfrm>
          <a:prstGeom prst="rect">
            <a:avLst/>
          </a:prstGeom>
          <a:noFill/>
          <a:ln/>
        </p:spPr>
        <p:txBody>
          <a:bodyPr wrap="square" rtlCol="0" anchor="ctr"/>
          <a:lstStyle/>
          <a:p>
            <a:pPr indent="0" marL="0">
              <a:buNone/>
            </a:pPr>
            <a:r>
              <a:rPr lang="en-US" sz="1450" dirty="0">
                <a:solidFill>
                  <a:srgbClr val="1A1A1A"/>
                </a:solidFill>
                <a:latin typeface="Calibri" pitchFamily="34" charset="0"/>
                <a:ea typeface="Calibri" pitchFamily="34" charset="-122"/>
                <a:cs typeface="Calibri" pitchFamily="34" charset="-120"/>
              </a:rPr>
              <a:t>ThaliMetrics is a tap-and-log app built around two realistic sessions per meal — not a single static plate.</a:t>
            </a:r>
            <a:endParaRPr lang="en-US" sz="1450" dirty="0"/>
          </a:p>
        </p:txBody>
      </p:sp>
      <p:sp>
        <p:nvSpPr>
          <p:cNvPr id="5" name="Shape 3"/>
          <p:cNvSpPr/>
          <p:nvPr/>
        </p:nvSpPr>
        <p:spPr>
          <a:xfrm>
            <a:off x="640080" y="2286000"/>
            <a:ext cx="3429000" cy="3566160"/>
          </a:xfrm>
          <a:prstGeom prst="roundRect">
            <a:avLst>
              <a:gd name="adj" fmla="val 3200"/>
            </a:avLst>
          </a:prstGeom>
          <a:solidFill>
            <a:srgbClr val="F3F2EE"/>
          </a:solidFill>
          <a:ln/>
        </p:spPr>
      </p:sp>
      <p:sp>
        <p:nvSpPr>
          <p:cNvPr id="6" name="Text 4"/>
          <p:cNvSpPr txBox="1"/>
          <p:nvPr/>
        </p:nvSpPr>
        <p:spPr>
          <a:xfrm>
            <a:off x="868680" y="2468880"/>
            <a:ext cx="731520" cy="640080"/>
          </a:xfrm>
          <a:prstGeom prst="rect">
            <a:avLst/>
          </a:prstGeom>
          <a:noFill/>
          <a:ln/>
        </p:spPr>
        <p:txBody>
          <a:bodyPr wrap="square" rtlCol="0" anchor="ctr"/>
          <a:lstStyle/>
          <a:p>
            <a:pPr indent="0" marL="0">
              <a:buNone/>
            </a:pPr>
            <a:r>
              <a:rPr lang="en-US" sz="3000" b="1" dirty="0">
                <a:solidFill>
                  <a:srgbClr val="D9503F"/>
                </a:solidFill>
                <a:latin typeface="Calibri" pitchFamily="34" charset="0"/>
                <a:ea typeface="Calibri" pitchFamily="34" charset="-122"/>
                <a:cs typeface="Calibri" pitchFamily="34" charset="-120"/>
              </a:rPr>
              <a:t>1</a:t>
            </a:r>
            <a:endParaRPr lang="en-US" sz="3000" dirty="0"/>
          </a:p>
        </p:txBody>
      </p:sp>
      <p:sp>
        <p:nvSpPr>
          <p:cNvPr id="7" name="Text 5"/>
          <p:cNvSpPr txBox="1"/>
          <p:nvPr/>
        </p:nvSpPr>
        <p:spPr>
          <a:xfrm>
            <a:off x="868680" y="3154680"/>
            <a:ext cx="2971800" cy="548640"/>
          </a:xfrm>
          <a:prstGeom prst="rect">
            <a:avLst/>
          </a:prstGeom>
          <a:noFill/>
          <a:ln/>
        </p:spPr>
        <p:txBody>
          <a:bodyPr wrap="square" rtlCol="0" anchor="ctr"/>
          <a:lstStyle/>
          <a:p>
            <a:pPr indent="0" marL="0">
              <a:buNone/>
            </a:pPr>
            <a:r>
              <a:rPr lang="en-US" sz="1550" b="1" dirty="0">
                <a:solidFill>
                  <a:srgbClr val="163D28"/>
                </a:solidFill>
                <a:latin typeface="Calibri" pitchFamily="34" charset="0"/>
                <a:ea typeface="Calibri" pitchFamily="34" charset="-122"/>
                <a:cs typeface="Calibri" pitchFamily="34" charset="-120"/>
              </a:rPr>
              <a:t>I'm taking food</a:t>
            </a:r>
            <a:endParaRPr lang="en-US" sz="1550" dirty="0"/>
          </a:p>
        </p:txBody>
      </p:sp>
      <p:sp>
        <p:nvSpPr>
          <p:cNvPr id="8" name="Text 6"/>
          <p:cNvSpPr txBox="1"/>
          <p:nvPr/>
        </p:nvSpPr>
        <p:spPr>
          <a:xfrm>
            <a:off x="868680" y="3703320"/>
            <a:ext cx="2971800" cy="2011680"/>
          </a:xfrm>
          <a:prstGeom prst="rect">
            <a:avLst/>
          </a:prstGeom>
          <a:noFill/>
          <a:ln/>
        </p:spPr>
        <p:txBody>
          <a:bodyPr wrap="square" rtlCol="0" anchor="ctr"/>
          <a:lstStyle/>
          <a:p>
            <a:pPr indent="0" marL="0">
              <a:lnSpc>
                <a:spcPct val="130000"/>
              </a:lnSpc>
              <a:buNone/>
            </a:pPr>
            <a:r>
              <a:rPr lang="en-US" sz="1200" dirty="0">
                <a:solidFill>
                  <a:srgbClr val="1A1A1A"/>
                </a:solidFill>
                <a:latin typeface="Calibri" pitchFamily="34" charset="0"/>
                <a:ea typeface="Calibri" pitchFamily="34" charset="-122"/>
                <a:cs typeface="Calibri" pitchFamily="34" charset="-120"/>
              </a:rPr>
              <a:t>Log each serving as you take it — bowl/glass fill-slider, roti quarter-tap. Seconds? Just add again.</a:t>
            </a:r>
            <a:endParaRPr lang="en-US" sz="1200" dirty="0"/>
          </a:p>
        </p:txBody>
      </p:sp>
      <p:sp>
        <p:nvSpPr>
          <p:cNvPr id="9" name="Shape 7"/>
          <p:cNvSpPr/>
          <p:nvPr/>
        </p:nvSpPr>
        <p:spPr>
          <a:xfrm>
            <a:off x="4325112" y="2286000"/>
            <a:ext cx="3429000" cy="3566160"/>
          </a:xfrm>
          <a:prstGeom prst="roundRect">
            <a:avLst>
              <a:gd name="adj" fmla="val 3200"/>
            </a:avLst>
          </a:prstGeom>
          <a:solidFill>
            <a:srgbClr val="F3F2EE"/>
          </a:solidFill>
          <a:ln/>
        </p:spPr>
      </p:sp>
      <p:sp>
        <p:nvSpPr>
          <p:cNvPr id="10" name="Text 8"/>
          <p:cNvSpPr txBox="1"/>
          <p:nvPr/>
        </p:nvSpPr>
        <p:spPr>
          <a:xfrm>
            <a:off x="4553712" y="2468880"/>
            <a:ext cx="731520" cy="640080"/>
          </a:xfrm>
          <a:prstGeom prst="rect">
            <a:avLst/>
          </a:prstGeom>
          <a:noFill/>
          <a:ln/>
        </p:spPr>
        <p:txBody>
          <a:bodyPr wrap="square" rtlCol="0" anchor="ctr"/>
          <a:lstStyle/>
          <a:p>
            <a:pPr indent="0" marL="0">
              <a:buNone/>
            </a:pPr>
            <a:r>
              <a:rPr lang="en-US" sz="3000" b="1" dirty="0">
                <a:solidFill>
                  <a:srgbClr val="D9503F"/>
                </a:solidFill>
                <a:latin typeface="Calibri" pitchFamily="34" charset="0"/>
                <a:ea typeface="Calibri" pitchFamily="34" charset="-122"/>
                <a:cs typeface="Calibri" pitchFamily="34" charset="-120"/>
              </a:rPr>
              <a:t>2</a:t>
            </a:r>
            <a:endParaRPr lang="en-US" sz="3000" dirty="0"/>
          </a:p>
        </p:txBody>
      </p:sp>
      <p:sp>
        <p:nvSpPr>
          <p:cNvPr id="11" name="Text 9"/>
          <p:cNvSpPr txBox="1"/>
          <p:nvPr/>
        </p:nvSpPr>
        <p:spPr>
          <a:xfrm>
            <a:off x="4553712" y="3154680"/>
            <a:ext cx="2971800" cy="548640"/>
          </a:xfrm>
          <a:prstGeom prst="rect">
            <a:avLst/>
          </a:prstGeom>
          <a:noFill/>
          <a:ln/>
        </p:spPr>
        <p:txBody>
          <a:bodyPr wrap="square" rtlCol="0" anchor="ctr"/>
          <a:lstStyle/>
          <a:p>
            <a:pPr indent="0" marL="0">
              <a:buNone/>
            </a:pPr>
            <a:r>
              <a:rPr lang="en-US" sz="1550" b="1" dirty="0">
                <a:solidFill>
                  <a:srgbClr val="163D28"/>
                </a:solidFill>
                <a:latin typeface="Calibri" pitchFamily="34" charset="0"/>
                <a:ea typeface="Calibri" pitchFamily="34" charset="-122"/>
                <a:cs typeface="Calibri" pitchFamily="34" charset="-120"/>
              </a:rPr>
              <a:t>I'm leaving / logging waste</a:t>
            </a:r>
            <a:endParaRPr lang="en-US" sz="1550" dirty="0"/>
          </a:p>
        </p:txBody>
      </p:sp>
      <p:sp>
        <p:nvSpPr>
          <p:cNvPr id="12" name="Text 10"/>
          <p:cNvSpPr txBox="1"/>
          <p:nvPr/>
        </p:nvSpPr>
        <p:spPr>
          <a:xfrm>
            <a:off x="4553712" y="3703320"/>
            <a:ext cx="2971800" cy="2011680"/>
          </a:xfrm>
          <a:prstGeom prst="rect">
            <a:avLst/>
          </a:prstGeom>
          <a:noFill/>
          <a:ln/>
        </p:spPr>
        <p:txBody>
          <a:bodyPr wrap="square" rtlCol="0" anchor="ctr"/>
          <a:lstStyle/>
          <a:p>
            <a:pPr indent="0" marL="0">
              <a:lnSpc>
                <a:spcPct val="130000"/>
              </a:lnSpc>
              <a:buNone/>
            </a:pPr>
            <a:r>
              <a:rPr lang="en-US" sz="1200" dirty="0">
                <a:solidFill>
                  <a:srgbClr val="1A1A1A"/>
                </a:solidFill>
                <a:latin typeface="Calibri" pitchFamily="34" charset="0"/>
                <a:ea typeface="Calibri" pitchFamily="34" charset="-122"/>
                <a:cs typeface="Calibri" pitchFamily="34" charset="-120"/>
              </a:rPr>
              <a:t>Show how much you're leaving — scaled exactly to what you took, never a generic 0–100%.</a:t>
            </a:r>
            <a:endParaRPr lang="en-US" sz="1200" dirty="0"/>
          </a:p>
        </p:txBody>
      </p:sp>
      <p:sp>
        <p:nvSpPr>
          <p:cNvPr id="13" name="Shape 11"/>
          <p:cNvSpPr/>
          <p:nvPr/>
        </p:nvSpPr>
        <p:spPr>
          <a:xfrm>
            <a:off x="8010144" y="2286000"/>
            <a:ext cx="3429000" cy="3566160"/>
          </a:xfrm>
          <a:prstGeom prst="roundRect">
            <a:avLst>
              <a:gd name="adj" fmla="val 3200"/>
            </a:avLst>
          </a:prstGeom>
          <a:solidFill>
            <a:srgbClr val="163D28"/>
          </a:solidFill>
          <a:ln/>
        </p:spPr>
      </p:sp>
      <p:sp>
        <p:nvSpPr>
          <p:cNvPr id="14" name="Text 12"/>
          <p:cNvSpPr txBox="1"/>
          <p:nvPr/>
        </p:nvSpPr>
        <p:spPr>
          <a:xfrm>
            <a:off x="8238744" y="2468880"/>
            <a:ext cx="731520" cy="640080"/>
          </a:xfrm>
          <a:prstGeom prst="rect">
            <a:avLst/>
          </a:prstGeom>
          <a:noFill/>
          <a:ln/>
        </p:spPr>
        <p:txBody>
          <a:bodyPr wrap="square"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3</a:t>
            </a:r>
            <a:endParaRPr lang="en-US" sz="3000" dirty="0"/>
          </a:p>
        </p:txBody>
      </p:sp>
      <p:sp>
        <p:nvSpPr>
          <p:cNvPr id="15" name="Text 13"/>
          <p:cNvSpPr txBox="1"/>
          <p:nvPr/>
        </p:nvSpPr>
        <p:spPr>
          <a:xfrm>
            <a:off x="8238744" y="3154680"/>
            <a:ext cx="2971800" cy="54864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Two feeds, one tap</a:t>
            </a:r>
            <a:endParaRPr lang="en-US" sz="1550" dirty="0"/>
          </a:p>
        </p:txBody>
      </p:sp>
      <p:sp>
        <p:nvSpPr>
          <p:cNvPr id="16" name="Text 14"/>
          <p:cNvSpPr txBox="1"/>
          <p:nvPr/>
        </p:nvSpPr>
        <p:spPr>
          <a:xfrm>
            <a:off x="8238744" y="3703320"/>
            <a:ext cx="2971800" cy="2011680"/>
          </a:xfrm>
          <a:prstGeom prst="rect">
            <a:avLst/>
          </a:prstGeom>
          <a:noFill/>
          <a:ln/>
        </p:spPr>
        <p:txBody>
          <a:bodyPr wrap="square" rtlCol="0" anchor="ctr"/>
          <a:lstStyle/>
          <a:p>
            <a:pPr indent="0" marL="0">
              <a:lnSpc>
                <a:spcPct val="130000"/>
              </a:lnSpc>
              <a:buNone/>
            </a:pPr>
            <a:r>
              <a:rPr lang="en-US" sz="1200" dirty="0">
                <a:solidFill>
                  <a:srgbClr val="E7EFEA"/>
                </a:solidFill>
                <a:latin typeface="Calibri" pitchFamily="34" charset="0"/>
                <a:ea typeface="Calibri" pitchFamily="34" charset="-122"/>
                <a:cs typeface="Calibri" pitchFamily="34" charset="-120"/>
              </a:rPr>
              <a:t>Same data powers a weekly nutrient digest for the student and a waste dashboard for the mess.</a:t>
            </a:r>
            <a:endParaRPr lang="en-US" sz="1200" dirty="0"/>
          </a:p>
        </p:txBody>
      </p:sp>
      <p:sp>
        <p:nvSpPr>
          <p:cNvPr id="17" name="Text 15"/>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05 · METHODOLOGY</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How we built and verified it</a:t>
            </a:r>
            <a:endParaRPr lang="en-US" sz="3200" dirty="0"/>
          </a:p>
        </p:txBody>
      </p:sp>
      <p:sp>
        <p:nvSpPr>
          <p:cNvPr id="4" name="Shape 2"/>
          <p:cNvSpPr/>
          <p:nvPr/>
        </p:nvSpPr>
        <p:spPr>
          <a:xfrm>
            <a:off x="640080" y="1691640"/>
            <a:ext cx="502920" cy="502920"/>
          </a:xfrm>
          <a:prstGeom prst="ellipse">
            <a:avLst/>
          </a:prstGeom>
          <a:solidFill>
            <a:srgbClr val="D9503F"/>
          </a:solidFill>
          <a:ln/>
        </p:spPr>
      </p:sp>
      <p:sp>
        <p:nvSpPr>
          <p:cNvPr id="5" name="Text 3"/>
          <p:cNvSpPr txBox="1"/>
          <p:nvPr/>
        </p:nvSpPr>
        <p:spPr>
          <a:xfrm>
            <a:off x="640080" y="1691640"/>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371600" y="1645920"/>
            <a:ext cx="1828800" cy="457200"/>
          </a:xfrm>
          <a:prstGeom prst="rect">
            <a:avLst/>
          </a:prstGeom>
          <a:noFill/>
          <a:ln/>
        </p:spPr>
        <p:txBody>
          <a:bodyPr wrap="square" rtlCol="0" anchor="ctr"/>
          <a:lstStyle/>
          <a:p>
            <a:pPr indent="0" marL="0">
              <a:buNone/>
            </a:pPr>
            <a:r>
              <a:rPr lang="en-US" sz="1600" b="1" dirty="0">
                <a:solidFill>
                  <a:srgbClr val="163D28"/>
                </a:solidFill>
                <a:latin typeface="Calibri" pitchFamily="34" charset="0"/>
                <a:ea typeface="Calibri" pitchFamily="34" charset="-122"/>
                <a:cs typeface="Calibri" pitchFamily="34" charset="-120"/>
              </a:rPr>
              <a:t>Understand</a:t>
            </a:r>
            <a:endParaRPr lang="en-US" sz="1600" dirty="0"/>
          </a:p>
        </p:txBody>
      </p:sp>
      <p:sp>
        <p:nvSpPr>
          <p:cNvPr id="7" name="Text 5"/>
          <p:cNvSpPr txBox="1"/>
          <p:nvPr/>
        </p:nvSpPr>
        <p:spPr>
          <a:xfrm>
            <a:off x="2971800" y="1645920"/>
            <a:ext cx="8549640" cy="1005840"/>
          </a:xfrm>
          <a:prstGeom prst="rect">
            <a:avLst/>
          </a:prstGeom>
          <a:noFill/>
          <a:ln/>
        </p:spPr>
        <p:txBody>
          <a:bodyPr wrap="square" rtlCol="0" anchor="t"/>
          <a:lstStyle/>
          <a:p>
            <a:pPr indent="0" marL="0">
              <a:lnSpc>
                <a:spcPct val="125000"/>
              </a:lnSpc>
              <a:buNone/>
            </a:pPr>
            <a:r>
              <a:rPr lang="en-US" sz="1250" dirty="0">
                <a:solidFill>
                  <a:srgbClr val="1A1A1A"/>
                </a:solidFill>
                <a:latin typeface="Calibri" pitchFamily="34" charset="0"/>
                <a:ea typeface="Calibri" pitchFamily="34" charset="-122"/>
                <a:cs typeface="Calibri" pitchFamily="34" charset="-120"/>
              </a:rPr>
              <a:t>Read the official challenge brief; researched NFHS-5, ICMR-NIN RDA-2020, FSSAI Eat Right Campus, and VIT's public hostel-mess structure before writing any code.</a:t>
            </a:r>
            <a:endParaRPr lang="en-US" sz="1250" dirty="0"/>
          </a:p>
        </p:txBody>
      </p:sp>
      <p:sp>
        <p:nvSpPr>
          <p:cNvPr id="8" name="Shape 6"/>
          <p:cNvSpPr/>
          <p:nvPr/>
        </p:nvSpPr>
        <p:spPr>
          <a:xfrm>
            <a:off x="640080" y="2862072"/>
            <a:ext cx="502920" cy="502920"/>
          </a:xfrm>
          <a:prstGeom prst="ellipse">
            <a:avLst/>
          </a:prstGeom>
          <a:solidFill>
            <a:srgbClr val="D9503F"/>
          </a:solidFill>
          <a:ln/>
        </p:spPr>
      </p:sp>
      <p:sp>
        <p:nvSpPr>
          <p:cNvPr id="9" name="Text 7"/>
          <p:cNvSpPr txBox="1"/>
          <p:nvPr/>
        </p:nvSpPr>
        <p:spPr>
          <a:xfrm>
            <a:off x="640080" y="2862072"/>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371600" y="2816352"/>
            <a:ext cx="1828800" cy="457200"/>
          </a:xfrm>
          <a:prstGeom prst="rect">
            <a:avLst/>
          </a:prstGeom>
          <a:noFill/>
          <a:ln/>
        </p:spPr>
        <p:txBody>
          <a:bodyPr wrap="square" rtlCol="0" anchor="ctr"/>
          <a:lstStyle/>
          <a:p>
            <a:pPr indent="0" marL="0">
              <a:buNone/>
            </a:pPr>
            <a:r>
              <a:rPr lang="en-US" sz="1600" b="1" dirty="0">
                <a:solidFill>
                  <a:srgbClr val="163D28"/>
                </a:solidFill>
                <a:latin typeface="Calibri" pitchFamily="34" charset="0"/>
                <a:ea typeface="Calibri" pitchFamily="34" charset="-122"/>
                <a:cs typeface="Calibri" pitchFamily="34" charset="-120"/>
              </a:rPr>
              <a:t>Ideate</a:t>
            </a:r>
            <a:endParaRPr lang="en-US" sz="1600" dirty="0"/>
          </a:p>
        </p:txBody>
      </p:sp>
      <p:sp>
        <p:nvSpPr>
          <p:cNvPr id="11" name="Text 9"/>
          <p:cNvSpPr txBox="1"/>
          <p:nvPr/>
        </p:nvSpPr>
        <p:spPr>
          <a:xfrm>
            <a:off x="2971800" y="2816352"/>
            <a:ext cx="8549640" cy="1005840"/>
          </a:xfrm>
          <a:prstGeom prst="rect">
            <a:avLst/>
          </a:prstGeom>
          <a:noFill/>
          <a:ln/>
        </p:spPr>
        <p:txBody>
          <a:bodyPr wrap="square" rtlCol="0" anchor="t"/>
          <a:lstStyle/>
          <a:p>
            <a:pPr indent="0" marL="0">
              <a:lnSpc>
                <a:spcPct val="125000"/>
              </a:lnSpc>
              <a:buNone/>
            </a:pPr>
            <a:r>
              <a:rPr lang="en-US" sz="1250" dirty="0">
                <a:solidFill>
                  <a:srgbClr val="1A1A1A"/>
                </a:solidFill>
                <a:latin typeface="Calibri" pitchFamily="34" charset="0"/>
                <a:ea typeface="Calibri" pitchFamily="34" charset="-122"/>
                <a:cs typeface="Calibri" pitchFamily="34" charset="-120"/>
              </a:rPr>
              <a:t>Scoped an MVP against a living IDEA.md — every feature checked against "is this on the demo path" before being built.</a:t>
            </a:r>
            <a:endParaRPr lang="en-US" sz="1250" dirty="0"/>
          </a:p>
        </p:txBody>
      </p:sp>
      <p:sp>
        <p:nvSpPr>
          <p:cNvPr id="12" name="Shape 10"/>
          <p:cNvSpPr/>
          <p:nvPr/>
        </p:nvSpPr>
        <p:spPr>
          <a:xfrm>
            <a:off x="640080" y="4032504"/>
            <a:ext cx="502920" cy="502920"/>
          </a:xfrm>
          <a:prstGeom prst="ellipse">
            <a:avLst/>
          </a:prstGeom>
          <a:solidFill>
            <a:srgbClr val="D9503F"/>
          </a:solidFill>
          <a:ln/>
        </p:spPr>
      </p:sp>
      <p:sp>
        <p:nvSpPr>
          <p:cNvPr id="13" name="Text 11"/>
          <p:cNvSpPr txBox="1"/>
          <p:nvPr/>
        </p:nvSpPr>
        <p:spPr>
          <a:xfrm>
            <a:off x="640080" y="4032504"/>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371600" y="3986784"/>
            <a:ext cx="1828800" cy="457200"/>
          </a:xfrm>
          <a:prstGeom prst="rect">
            <a:avLst/>
          </a:prstGeom>
          <a:noFill/>
          <a:ln/>
        </p:spPr>
        <p:txBody>
          <a:bodyPr wrap="square" rtlCol="0" anchor="ctr"/>
          <a:lstStyle/>
          <a:p>
            <a:pPr indent="0" marL="0">
              <a:buNone/>
            </a:pPr>
            <a:r>
              <a:rPr lang="en-US" sz="1600" b="1" dirty="0">
                <a:solidFill>
                  <a:srgbClr val="163D28"/>
                </a:solidFill>
                <a:latin typeface="Calibri" pitchFamily="34" charset="0"/>
                <a:ea typeface="Calibri" pitchFamily="34" charset="-122"/>
                <a:cs typeface="Calibri" pitchFamily="34" charset="-120"/>
              </a:rPr>
              <a:t>Build</a:t>
            </a:r>
            <a:endParaRPr lang="en-US" sz="1600" dirty="0"/>
          </a:p>
        </p:txBody>
      </p:sp>
      <p:sp>
        <p:nvSpPr>
          <p:cNvPr id="15" name="Text 13"/>
          <p:cNvSpPr txBox="1"/>
          <p:nvPr/>
        </p:nvSpPr>
        <p:spPr>
          <a:xfrm>
            <a:off x="2971800" y="3986784"/>
            <a:ext cx="8549640" cy="1005840"/>
          </a:xfrm>
          <a:prstGeom prst="rect">
            <a:avLst/>
          </a:prstGeom>
          <a:noFill/>
          <a:ln/>
        </p:spPr>
        <p:txBody>
          <a:bodyPr wrap="square" rtlCol="0" anchor="t"/>
          <a:lstStyle/>
          <a:p>
            <a:pPr indent="0" marL="0">
              <a:lnSpc>
                <a:spcPct val="125000"/>
              </a:lnSpc>
              <a:buNone/>
            </a:pPr>
            <a:r>
              <a:rPr lang="en-US" sz="1250" dirty="0">
                <a:solidFill>
                  <a:srgbClr val="1A1A1A"/>
                </a:solidFill>
                <a:latin typeface="Calibri" pitchFamily="34" charset="0"/>
                <a:ea typeface="Calibri" pitchFamily="34" charset="-122"/>
                <a:cs typeface="Calibri" pitchFamily="34" charset="-120"/>
              </a:rPr>
              <a:t>Vanilla HTML/CSS/JS, zero build step, localStorage persistence — runs by opening one file, no setup friction for judges.</a:t>
            </a:r>
            <a:endParaRPr lang="en-US" sz="1250" dirty="0"/>
          </a:p>
        </p:txBody>
      </p:sp>
      <p:sp>
        <p:nvSpPr>
          <p:cNvPr id="16" name="Shape 14"/>
          <p:cNvSpPr/>
          <p:nvPr/>
        </p:nvSpPr>
        <p:spPr>
          <a:xfrm>
            <a:off x="640080" y="5202936"/>
            <a:ext cx="502920" cy="502920"/>
          </a:xfrm>
          <a:prstGeom prst="ellipse">
            <a:avLst/>
          </a:prstGeom>
          <a:solidFill>
            <a:srgbClr val="D9503F"/>
          </a:solidFill>
          <a:ln/>
        </p:spPr>
      </p:sp>
      <p:sp>
        <p:nvSpPr>
          <p:cNvPr id="17" name="Text 15"/>
          <p:cNvSpPr txBox="1"/>
          <p:nvPr/>
        </p:nvSpPr>
        <p:spPr>
          <a:xfrm>
            <a:off x="640080" y="5202936"/>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371600" y="5157216"/>
            <a:ext cx="1828800" cy="457200"/>
          </a:xfrm>
          <a:prstGeom prst="rect">
            <a:avLst/>
          </a:prstGeom>
          <a:noFill/>
          <a:ln/>
        </p:spPr>
        <p:txBody>
          <a:bodyPr wrap="square" rtlCol="0" anchor="ctr"/>
          <a:lstStyle/>
          <a:p>
            <a:pPr indent="0" marL="0">
              <a:buNone/>
            </a:pPr>
            <a:r>
              <a:rPr lang="en-US" sz="1600" b="1" dirty="0">
                <a:solidFill>
                  <a:srgbClr val="163D28"/>
                </a:solidFill>
                <a:latin typeface="Calibri" pitchFamily="34" charset="0"/>
                <a:ea typeface="Calibri" pitchFamily="34" charset="-122"/>
                <a:cs typeface="Calibri" pitchFamily="34" charset="-120"/>
              </a:rPr>
              <a:t>Validate</a:t>
            </a:r>
            <a:endParaRPr lang="en-US" sz="1600" dirty="0"/>
          </a:p>
        </p:txBody>
      </p:sp>
      <p:sp>
        <p:nvSpPr>
          <p:cNvPr id="19" name="Text 17"/>
          <p:cNvSpPr txBox="1"/>
          <p:nvPr/>
        </p:nvSpPr>
        <p:spPr>
          <a:xfrm>
            <a:off x="2971800" y="5157216"/>
            <a:ext cx="8549640" cy="1005840"/>
          </a:xfrm>
          <a:prstGeom prst="rect">
            <a:avLst/>
          </a:prstGeom>
          <a:noFill/>
          <a:ln/>
        </p:spPr>
        <p:txBody>
          <a:bodyPr wrap="square" rtlCol="0" anchor="t"/>
          <a:lstStyle/>
          <a:p>
            <a:pPr indent="0" marL="0">
              <a:lnSpc>
                <a:spcPct val="125000"/>
              </a:lnSpc>
              <a:buNone/>
            </a:pPr>
            <a:r>
              <a:rPr lang="en-US" sz="1250" dirty="0">
                <a:solidFill>
                  <a:srgbClr val="1A1A1A"/>
                </a:solidFill>
                <a:latin typeface="Calibri" pitchFamily="34" charset="0"/>
                <a:ea typeface="Calibri" pitchFamily="34" charset="-122"/>
                <a:cs typeface="Calibri" pitchFamily="34" charset="-120"/>
              </a:rPr>
              <a:t>Automated interaction tests (jsdom) for every feature, plus real rendered screenshots for visual QA — two real bugs were caught and fixed this way, not just eyeballed.</a:t>
            </a:r>
            <a:endParaRPr lang="en-US" sz="1250" dirty="0"/>
          </a:p>
        </p:txBody>
      </p:sp>
      <p:sp>
        <p:nvSpPr>
          <p:cNvPr id="20" name="Text 18"/>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D28"/>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F2A691"/>
                </a:solidFill>
                <a:latin typeface="Calibri" pitchFamily="34" charset="0"/>
                <a:ea typeface="Calibri" pitchFamily="34" charset="-122"/>
                <a:cs typeface="Calibri" pitchFamily="34" charset="-120"/>
              </a:rPr>
              <a:t>06 · IMPACT</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Built for a real destination, not just a demo</a:t>
            </a:r>
            <a:endParaRPr lang="en-US" sz="3000" dirty="0"/>
          </a:p>
        </p:txBody>
      </p:sp>
      <p:sp>
        <p:nvSpPr>
          <p:cNvPr id="4" name="Shape 2"/>
          <p:cNvSpPr/>
          <p:nvPr/>
        </p:nvSpPr>
        <p:spPr>
          <a:xfrm>
            <a:off x="640080" y="1965960"/>
            <a:ext cx="2578608" cy="2011680"/>
          </a:xfrm>
          <a:prstGeom prst="roundRect">
            <a:avLst>
              <a:gd name="adj" fmla="val 4545"/>
            </a:avLst>
          </a:prstGeom>
          <a:solidFill>
            <a:srgbClr val="1F5236"/>
          </a:solidFill>
          <a:ln/>
        </p:spPr>
      </p:sp>
      <p:sp>
        <p:nvSpPr>
          <p:cNvPr id="5" name="Text 3"/>
          <p:cNvSpPr txBox="1"/>
          <p:nvPr/>
        </p:nvSpPr>
        <p:spPr>
          <a:xfrm>
            <a:off x="822960" y="2148840"/>
            <a:ext cx="2212848" cy="640080"/>
          </a:xfrm>
          <a:prstGeom prst="rect">
            <a:avLst/>
          </a:prstGeom>
          <a:noFill/>
          <a:ln/>
        </p:spPr>
        <p:txBody>
          <a:bodyPr wrap="square" rtlCol="0" anchor="ctr"/>
          <a:lstStyle/>
          <a:p>
            <a:pPr indent="0" marL="0">
              <a:buNone/>
            </a:pPr>
            <a:r>
              <a:rPr lang="en-US" sz="2600" b="1" dirty="0">
                <a:solidFill>
                  <a:srgbClr val="F2A691"/>
                </a:solidFill>
                <a:latin typeface="Calibri" pitchFamily="34" charset="0"/>
                <a:ea typeface="Calibri" pitchFamily="34" charset="-122"/>
                <a:cs typeface="Calibri" pitchFamily="34" charset="-120"/>
              </a:rPr>
              <a:t>59.1%</a:t>
            </a:r>
            <a:endParaRPr lang="en-US" sz="2600" dirty="0"/>
          </a:p>
        </p:txBody>
      </p:sp>
      <p:sp>
        <p:nvSpPr>
          <p:cNvPr id="6" name="Text 4"/>
          <p:cNvSpPr txBox="1"/>
          <p:nvPr/>
        </p:nvSpPr>
        <p:spPr>
          <a:xfrm>
            <a:off x="822960" y="2788920"/>
            <a:ext cx="2212848" cy="1097280"/>
          </a:xfrm>
          <a:prstGeom prst="rect">
            <a:avLst/>
          </a:prstGeom>
          <a:noFill/>
          <a:ln/>
        </p:spPr>
        <p:txBody>
          <a:bodyPr wrap="square" rtlCol="0" anchor="ctr"/>
          <a:lstStyle/>
          <a:p>
            <a:pPr indent="0" marL="0">
              <a:lnSpc>
                <a:spcPct val="120000"/>
              </a:lnSpc>
              <a:buNone/>
            </a:pPr>
            <a:r>
              <a:rPr lang="en-US" sz="1050" dirty="0">
                <a:solidFill>
                  <a:srgbClr val="E7EFEA"/>
                </a:solidFill>
                <a:latin typeface="Calibri" pitchFamily="34" charset="0"/>
                <a:ea typeface="Calibri" pitchFamily="34" charset="-122"/>
                <a:cs typeface="Calibri" pitchFamily="34" charset="-120"/>
              </a:rPr>
              <a:t>of young Indian women (15–19y) are anaemic — NFHS-5</a:t>
            </a:r>
            <a:endParaRPr lang="en-US" sz="1050" dirty="0"/>
          </a:p>
        </p:txBody>
      </p:sp>
      <p:sp>
        <p:nvSpPr>
          <p:cNvPr id="7" name="Shape 5"/>
          <p:cNvSpPr/>
          <p:nvPr/>
        </p:nvSpPr>
        <p:spPr>
          <a:xfrm>
            <a:off x="3419856" y="1965960"/>
            <a:ext cx="2578608" cy="2011680"/>
          </a:xfrm>
          <a:prstGeom prst="roundRect">
            <a:avLst>
              <a:gd name="adj" fmla="val 4545"/>
            </a:avLst>
          </a:prstGeom>
          <a:solidFill>
            <a:srgbClr val="1F5236"/>
          </a:solidFill>
          <a:ln/>
        </p:spPr>
      </p:sp>
      <p:sp>
        <p:nvSpPr>
          <p:cNvPr id="8" name="Text 6"/>
          <p:cNvSpPr txBox="1"/>
          <p:nvPr/>
        </p:nvSpPr>
        <p:spPr>
          <a:xfrm>
            <a:off x="3602736" y="2148840"/>
            <a:ext cx="2212848" cy="640080"/>
          </a:xfrm>
          <a:prstGeom prst="rect">
            <a:avLst/>
          </a:prstGeom>
          <a:noFill/>
          <a:ln/>
        </p:spPr>
        <p:txBody>
          <a:bodyPr wrap="square" rtlCol="0" anchor="ctr"/>
          <a:lstStyle/>
          <a:p>
            <a:pPr indent="0" marL="0">
              <a:buNone/>
            </a:pPr>
            <a:r>
              <a:rPr lang="en-US" sz="2600" b="1" dirty="0">
                <a:solidFill>
                  <a:srgbClr val="F2A691"/>
                </a:solidFill>
                <a:latin typeface="Calibri" pitchFamily="34" charset="0"/>
                <a:ea typeface="Calibri" pitchFamily="34" charset="-122"/>
                <a:cs typeface="Calibri" pitchFamily="34" charset="-120"/>
              </a:rPr>
              <a:t>3–6 kg</a:t>
            </a:r>
            <a:endParaRPr lang="en-US" sz="2600" dirty="0"/>
          </a:p>
        </p:txBody>
      </p:sp>
      <p:sp>
        <p:nvSpPr>
          <p:cNvPr id="9" name="Text 7"/>
          <p:cNvSpPr txBox="1"/>
          <p:nvPr/>
        </p:nvSpPr>
        <p:spPr>
          <a:xfrm>
            <a:off x="3602736" y="2788920"/>
            <a:ext cx="2212848" cy="1097280"/>
          </a:xfrm>
          <a:prstGeom prst="rect">
            <a:avLst/>
          </a:prstGeom>
          <a:noFill/>
          <a:ln/>
        </p:spPr>
        <p:txBody>
          <a:bodyPr wrap="square" rtlCol="0" anchor="ctr"/>
          <a:lstStyle/>
          <a:p>
            <a:pPr indent="0" marL="0">
              <a:lnSpc>
                <a:spcPct val="120000"/>
              </a:lnSpc>
              <a:buNone/>
            </a:pPr>
            <a:r>
              <a:rPr lang="en-US" sz="1050" dirty="0">
                <a:solidFill>
                  <a:srgbClr val="E7EFEA"/>
                </a:solidFill>
                <a:latin typeface="Calibri" pitchFamily="34" charset="0"/>
                <a:ea typeface="Calibri" pitchFamily="34" charset="-122"/>
                <a:cs typeface="Calibri" pitchFamily="34" charset="-120"/>
              </a:rPr>
              <a:t>leftover food per meal slot recorded in hostel audits</a:t>
            </a:r>
            <a:endParaRPr lang="en-US" sz="1050" dirty="0"/>
          </a:p>
        </p:txBody>
      </p:sp>
      <p:sp>
        <p:nvSpPr>
          <p:cNvPr id="10" name="Shape 8"/>
          <p:cNvSpPr/>
          <p:nvPr/>
        </p:nvSpPr>
        <p:spPr>
          <a:xfrm>
            <a:off x="6199632" y="1965960"/>
            <a:ext cx="2578608" cy="2011680"/>
          </a:xfrm>
          <a:prstGeom prst="roundRect">
            <a:avLst>
              <a:gd name="adj" fmla="val 4545"/>
            </a:avLst>
          </a:prstGeom>
          <a:solidFill>
            <a:srgbClr val="1F5236"/>
          </a:solidFill>
          <a:ln/>
        </p:spPr>
      </p:sp>
      <p:sp>
        <p:nvSpPr>
          <p:cNvPr id="11" name="Text 9"/>
          <p:cNvSpPr txBox="1"/>
          <p:nvPr/>
        </p:nvSpPr>
        <p:spPr>
          <a:xfrm>
            <a:off x="6382512" y="2148840"/>
            <a:ext cx="2212848" cy="640080"/>
          </a:xfrm>
          <a:prstGeom prst="rect">
            <a:avLst/>
          </a:prstGeom>
          <a:noFill/>
          <a:ln/>
        </p:spPr>
        <p:txBody>
          <a:bodyPr wrap="square" rtlCol="0" anchor="ctr"/>
          <a:lstStyle/>
          <a:p>
            <a:pPr indent="0" marL="0">
              <a:buNone/>
            </a:pPr>
            <a:r>
              <a:rPr lang="en-US" sz="2600" b="1" dirty="0">
                <a:solidFill>
                  <a:srgbClr val="F2A691"/>
                </a:solidFill>
                <a:latin typeface="Calibri" pitchFamily="34" charset="0"/>
                <a:ea typeface="Calibri" pitchFamily="34" charset="-122"/>
                <a:cs typeface="Calibri" pitchFamily="34" charset="-120"/>
              </a:rPr>
              <a:t>17%</a:t>
            </a:r>
            <a:endParaRPr lang="en-US" sz="2600" dirty="0"/>
          </a:p>
        </p:txBody>
      </p:sp>
      <p:sp>
        <p:nvSpPr>
          <p:cNvPr id="12" name="Text 10"/>
          <p:cNvSpPr txBox="1"/>
          <p:nvPr/>
        </p:nvSpPr>
        <p:spPr>
          <a:xfrm>
            <a:off x="6382512" y="2788920"/>
            <a:ext cx="2212848" cy="1097280"/>
          </a:xfrm>
          <a:prstGeom prst="rect">
            <a:avLst/>
          </a:prstGeom>
          <a:noFill/>
          <a:ln/>
        </p:spPr>
        <p:txBody>
          <a:bodyPr wrap="square" rtlCol="0" anchor="ctr"/>
          <a:lstStyle/>
          <a:p>
            <a:pPr indent="0" marL="0">
              <a:lnSpc>
                <a:spcPct val="120000"/>
              </a:lnSpc>
              <a:buNone/>
            </a:pPr>
            <a:r>
              <a:rPr lang="en-US" sz="1050" dirty="0">
                <a:solidFill>
                  <a:srgbClr val="E7EFEA"/>
                </a:solidFill>
                <a:latin typeface="Calibri" pitchFamily="34" charset="0"/>
                <a:ea typeface="Calibri" pitchFamily="34" charset="-122"/>
                <a:cs typeface="Calibri" pitchFamily="34" charset="-120"/>
              </a:rPr>
              <a:t>of all food wasted at the consumer level nationally (UNEP/WRAP)</a:t>
            </a:r>
            <a:endParaRPr lang="en-US" sz="1050" dirty="0"/>
          </a:p>
        </p:txBody>
      </p:sp>
      <p:sp>
        <p:nvSpPr>
          <p:cNvPr id="13" name="Shape 11"/>
          <p:cNvSpPr/>
          <p:nvPr/>
        </p:nvSpPr>
        <p:spPr>
          <a:xfrm>
            <a:off x="8979408" y="1965960"/>
            <a:ext cx="2578608" cy="2011680"/>
          </a:xfrm>
          <a:prstGeom prst="roundRect">
            <a:avLst>
              <a:gd name="adj" fmla="val 4545"/>
            </a:avLst>
          </a:prstGeom>
          <a:solidFill>
            <a:srgbClr val="1F5236"/>
          </a:solidFill>
          <a:ln/>
        </p:spPr>
      </p:sp>
      <p:sp>
        <p:nvSpPr>
          <p:cNvPr id="14" name="Text 12"/>
          <p:cNvSpPr txBox="1"/>
          <p:nvPr/>
        </p:nvSpPr>
        <p:spPr>
          <a:xfrm>
            <a:off x="9162288" y="2148840"/>
            <a:ext cx="2212848" cy="640080"/>
          </a:xfrm>
          <a:prstGeom prst="rect">
            <a:avLst/>
          </a:prstGeom>
          <a:noFill/>
          <a:ln/>
        </p:spPr>
        <p:txBody>
          <a:bodyPr wrap="square" rtlCol="0" anchor="ctr"/>
          <a:lstStyle/>
          <a:p>
            <a:pPr indent="0" marL="0">
              <a:buNone/>
            </a:pPr>
            <a:r>
              <a:rPr lang="en-US" sz="2600" b="1" dirty="0">
                <a:solidFill>
                  <a:srgbClr val="F2A691"/>
                </a:solidFill>
                <a:latin typeface="Calibri" pitchFamily="34" charset="0"/>
                <a:ea typeface="Calibri" pitchFamily="34" charset="-122"/>
                <a:cs typeface="Calibri" pitchFamily="34" charset="-120"/>
              </a:rPr>
              <a:t>500+</a:t>
            </a:r>
            <a:endParaRPr lang="en-US" sz="2600" dirty="0"/>
          </a:p>
        </p:txBody>
      </p:sp>
      <p:sp>
        <p:nvSpPr>
          <p:cNvPr id="15" name="Text 13"/>
          <p:cNvSpPr txBox="1"/>
          <p:nvPr/>
        </p:nvSpPr>
        <p:spPr>
          <a:xfrm>
            <a:off x="9162288" y="2788920"/>
            <a:ext cx="2212848" cy="1097280"/>
          </a:xfrm>
          <a:prstGeom prst="rect">
            <a:avLst/>
          </a:prstGeom>
          <a:noFill/>
          <a:ln/>
        </p:spPr>
        <p:txBody>
          <a:bodyPr wrap="square" rtlCol="0" anchor="ctr"/>
          <a:lstStyle/>
          <a:p>
            <a:pPr indent="0" marL="0">
              <a:lnSpc>
                <a:spcPct val="120000"/>
              </a:lnSpc>
              <a:buNone/>
            </a:pPr>
            <a:r>
              <a:rPr lang="en-US" sz="1050" dirty="0">
                <a:solidFill>
                  <a:srgbClr val="E7EFEA"/>
                </a:solidFill>
                <a:latin typeface="Calibri" pitchFamily="34" charset="0"/>
                <a:ea typeface="Calibri" pitchFamily="34" charset="-122"/>
                <a:cs typeface="Calibri" pitchFamily="34" charset="-120"/>
              </a:rPr>
              <a:t>hospitals now Eat Right Campus certified — FSSAI's programme is active and growing</a:t>
            </a:r>
            <a:endParaRPr lang="en-US" sz="1050" dirty="0"/>
          </a:p>
        </p:txBody>
      </p:sp>
      <p:sp>
        <p:nvSpPr>
          <p:cNvPr id="16" name="Text 14"/>
          <p:cNvSpPr txBox="1"/>
          <p:nvPr/>
        </p:nvSpPr>
        <p:spPr>
          <a:xfrm>
            <a:off x="640080" y="4343400"/>
            <a:ext cx="10881360" cy="1280160"/>
          </a:xfrm>
          <a:prstGeom prst="rect">
            <a:avLst/>
          </a:prstGeom>
          <a:noFill/>
          <a:ln/>
        </p:spPr>
        <p:txBody>
          <a:bodyPr wrap="square" rtlCol="0" anchor="ctr"/>
          <a:lstStyle/>
          <a:p>
            <a:pPr indent="0" marL="0">
              <a:lnSpc>
                <a:spcPct val="130000"/>
              </a:lnSpc>
              <a:buNone/>
            </a:pPr>
            <a:r>
              <a:rPr lang="en-US" sz="1350" dirty="0">
                <a:solidFill>
                  <a:srgbClr val="FFFFFF"/>
                </a:solidFill>
                <a:latin typeface="Calibri" pitchFamily="34" charset="0"/>
                <a:ea typeface="Calibri" pitchFamily="34" charset="-122"/>
                <a:cs typeface="Calibri" pitchFamily="34" charset="-120"/>
              </a:rPr>
              <a:t>ThaliMetrics is designed to double as VIT's practical toolkit toward FSSAI Eat Right Campus certification — mapping directly onto its food-waste-management, healthy-diets, and local-food-promotion audit criteria — not just a hackathon-weekend demo.</a:t>
            </a:r>
            <a:endParaRPr lang="en-US" sz="1350" dirty="0"/>
          </a:p>
        </p:txBody>
      </p:sp>
      <p:sp>
        <p:nvSpPr>
          <p:cNvPr id="17" name="Text 15"/>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07 · INNOVATION &amp; USP</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What nobody else is doing</a:t>
            </a:r>
            <a:endParaRPr lang="en-US" sz="3200" dirty="0"/>
          </a:p>
        </p:txBody>
      </p:sp>
      <p:sp>
        <p:nvSpPr>
          <p:cNvPr id="4" name="Shape 2"/>
          <p:cNvSpPr/>
          <p:nvPr/>
        </p:nvSpPr>
        <p:spPr>
          <a:xfrm>
            <a:off x="640080" y="1600200"/>
            <a:ext cx="10881360" cy="868680"/>
          </a:xfrm>
          <a:prstGeom prst="roundRect">
            <a:avLst>
              <a:gd name="adj" fmla="val 10526"/>
            </a:avLst>
          </a:prstGeom>
          <a:solidFill>
            <a:srgbClr val="F3F2EE"/>
          </a:solidFill>
          <a:ln/>
        </p:spPr>
      </p:sp>
      <p:sp>
        <p:nvSpPr>
          <p:cNvPr id="5" name="Text 3"/>
          <p:cNvSpPr txBox="1"/>
          <p:nvPr/>
        </p:nvSpPr>
        <p:spPr>
          <a:xfrm>
            <a:off x="914400" y="1737360"/>
            <a:ext cx="10332720" cy="594360"/>
          </a:xfrm>
          <a:prstGeom prst="rect">
            <a:avLst/>
          </a:prstGeom>
          <a:noFill/>
          <a:ln/>
        </p:spPr>
        <p:txBody>
          <a:bodyPr wrap="square" rtlCol="0" anchor="ctr"/>
          <a:lstStyle/>
          <a:p>
            <a:pPr indent="0" marL="0">
              <a:buNone/>
            </a:pPr>
            <a:r>
              <a:rPr lang="en-US" sz="1450" b="1" dirty="0">
                <a:solidFill>
                  <a:srgbClr val="163D28"/>
                </a:solidFill>
                <a:latin typeface="Calibri" pitchFamily="34" charset="0"/>
                <a:ea typeface="Calibri" pitchFamily="34" charset="-122"/>
                <a:cs typeface="Calibri" pitchFamily="34" charset="-120"/>
              </a:rPr>
              <a:t>HealthifyMe tracks what YOU eat. </a:t>
            </a:r>
            <a:pPr indent="0" marL="0">
              <a:buNone/>
            </a:pPr>
            <a:r>
              <a:rPr lang="en-US" sz="1450" b="1" dirty="0">
                <a:solidFill>
                  <a:srgbClr val="D9503F"/>
                </a:solidFill>
                <a:latin typeface="Calibri" pitchFamily="34" charset="0"/>
                <a:ea typeface="Calibri" pitchFamily="34" charset="-122"/>
                <a:cs typeface="Calibri" pitchFamily="34" charset="-120"/>
              </a:rPr>
              <a:t>Leanpath tracks what a KITCHEN wastes. </a:t>
            </a:r>
            <a:pPr indent="0" marL="0">
              <a:buNone/>
            </a:pPr>
            <a:r>
              <a:rPr lang="en-US" sz="1450" dirty="0">
                <a:solidFill>
                  <a:srgbClr val="1A1A1A"/>
                </a:solidFill>
                <a:latin typeface="Calibri" pitchFamily="34" charset="0"/>
                <a:ea typeface="Calibri" pitchFamily="34" charset="-122"/>
                <a:cs typeface="Calibri" pitchFamily="34" charset="-120"/>
              </a:rPr>
              <a:t>Nobody connects the two for a hostel mess — that's the gap ThaliMetrics sits in.</a:t>
            </a:r>
            <a:endParaRPr lang="en-US" sz="1450" dirty="0"/>
          </a:p>
        </p:txBody>
      </p:sp>
      <p:sp>
        <p:nvSpPr>
          <p:cNvPr id="6" name="Shape 4"/>
          <p:cNvSpPr/>
          <p:nvPr/>
        </p:nvSpPr>
        <p:spPr>
          <a:xfrm>
            <a:off x="685800" y="2843784"/>
            <a:ext cx="128016" cy="128016"/>
          </a:xfrm>
          <a:prstGeom prst="ellipse">
            <a:avLst/>
          </a:prstGeom>
          <a:solidFill>
            <a:srgbClr val="D9503F"/>
          </a:solidFill>
          <a:ln/>
        </p:spPr>
      </p:sp>
      <p:sp>
        <p:nvSpPr>
          <p:cNvPr id="7" name="Text 5"/>
          <p:cNvSpPr txBox="1"/>
          <p:nvPr/>
        </p:nvSpPr>
        <p:spPr>
          <a:xfrm>
            <a:off x="960120" y="2679192"/>
            <a:ext cx="10424160" cy="5486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Session-based logging built for real refills — not a single static plate</a:t>
            </a:r>
            <a:endParaRPr lang="en-US" sz="1300" dirty="0"/>
          </a:p>
        </p:txBody>
      </p:sp>
      <p:sp>
        <p:nvSpPr>
          <p:cNvPr id="8" name="Shape 6"/>
          <p:cNvSpPr/>
          <p:nvPr/>
        </p:nvSpPr>
        <p:spPr>
          <a:xfrm>
            <a:off x="685800" y="3502152"/>
            <a:ext cx="128016" cy="128016"/>
          </a:xfrm>
          <a:prstGeom prst="ellipse">
            <a:avLst/>
          </a:prstGeom>
          <a:solidFill>
            <a:srgbClr val="D9503F"/>
          </a:solidFill>
          <a:ln/>
        </p:spPr>
      </p:sp>
      <p:sp>
        <p:nvSpPr>
          <p:cNvPr id="9" name="Text 7"/>
          <p:cNvSpPr txBox="1"/>
          <p:nvPr/>
        </p:nvSpPr>
        <p:spPr>
          <a:xfrm>
            <a:off x="960120" y="3337560"/>
            <a:ext cx="10424160" cy="5486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Waste scaled absolutely to what YOU took, never a generic 0–100% bar</a:t>
            </a:r>
            <a:endParaRPr lang="en-US" sz="1300" dirty="0"/>
          </a:p>
        </p:txBody>
      </p:sp>
      <p:sp>
        <p:nvSpPr>
          <p:cNvPr id="10" name="Shape 8"/>
          <p:cNvSpPr/>
          <p:nvPr/>
        </p:nvSpPr>
        <p:spPr>
          <a:xfrm>
            <a:off x="685800" y="4160520"/>
            <a:ext cx="128016" cy="128016"/>
          </a:xfrm>
          <a:prstGeom prst="ellipse">
            <a:avLst/>
          </a:prstGeom>
          <a:solidFill>
            <a:srgbClr val="D9503F"/>
          </a:solidFill>
          <a:ln/>
        </p:spPr>
      </p:sp>
      <p:sp>
        <p:nvSpPr>
          <p:cNvPr id="11" name="Text 9"/>
          <p:cNvSpPr txBox="1"/>
          <p:nvPr/>
        </p:nvSpPr>
        <p:spPr>
          <a:xfrm>
            <a:off x="960120" y="3995928"/>
            <a:ext cx="10424160" cy="5486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Optional "why" tag on waste (borrowed from commercial kitchen waste-tracking practice) — separates a portion-size problem from a recipe problem</a:t>
            </a:r>
            <a:endParaRPr lang="en-US" sz="1300" dirty="0"/>
          </a:p>
        </p:txBody>
      </p:sp>
      <p:sp>
        <p:nvSpPr>
          <p:cNvPr id="12" name="Shape 10"/>
          <p:cNvSpPr/>
          <p:nvPr/>
        </p:nvSpPr>
        <p:spPr>
          <a:xfrm>
            <a:off x="685800" y="4818888"/>
            <a:ext cx="128016" cy="128016"/>
          </a:xfrm>
          <a:prstGeom prst="ellipse">
            <a:avLst/>
          </a:prstGeom>
          <a:solidFill>
            <a:srgbClr val="D9503F"/>
          </a:solidFill>
          <a:ln/>
        </p:spPr>
      </p:sp>
      <p:sp>
        <p:nvSpPr>
          <p:cNvPr id="13" name="Text 11"/>
          <p:cNvSpPr txBox="1"/>
          <p:nvPr/>
        </p:nvSpPr>
        <p:spPr>
          <a:xfrm>
            <a:off x="960120" y="4654296"/>
            <a:ext cx="10424160" cy="5486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Live nutrient readout that updates as you slide, not after you submit</a:t>
            </a:r>
            <a:endParaRPr lang="en-US" sz="1300" dirty="0"/>
          </a:p>
        </p:txBody>
      </p:sp>
      <p:sp>
        <p:nvSpPr>
          <p:cNvPr id="14" name="Shape 12"/>
          <p:cNvSpPr/>
          <p:nvPr/>
        </p:nvSpPr>
        <p:spPr>
          <a:xfrm>
            <a:off x="685800" y="5477256"/>
            <a:ext cx="128016" cy="128016"/>
          </a:xfrm>
          <a:prstGeom prst="ellipse">
            <a:avLst/>
          </a:prstGeom>
          <a:solidFill>
            <a:srgbClr val="D9503F"/>
          </a:solidFill>
          <a:ln/>
        </p:spPr>
      </p:sp>
      <p:sp>
        <p:nvSpPr>
          <p:cNvPr id="15" name="Text 13"/>
          <p:cNvSpPr txBox="1"/>
          <p:nvPr/>
        </p:nvSpPr>
        <p:spPr>
          <a:xfrm>
            <a:off x="960120" y="5312664"/>
            <a:ext cx="10424160" cy="5486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Meal-level catch-up tracking — flags a protein/iron gap before your NEXT meal, not just at week's end</a:t>
            </a:r>
            <a:endParaRPr lang="en-US" sz="1300" dirty="0"/>
          </a:p>
        </p:txBody>
      </p:sp>
      <p:sp>
        <p:nvSpPr>
          <p:cNvPr id="16" name="Text 14"/>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08 · KEY FEATURES</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What's already working</a:t>
            </a:r>
            <a:endParaRPr lang="en-US" sz="3200" dirty="0"/>
          </a:p>
        </p:txBody>
      </p:sp>
      <p:sp>
        <p:nvSpPr>
          <p:cNvPr id="4" name="Shape 2"/>
          <p:cNvSpPr/>
          <p:nvPr/>
        </p:nvSpPr>
        <p:spPr>
          <a:xfrm>
            <a:off x="640080" y="1691640"/>
            <a:ext cx="3520440" cy="868680"/>
          </a:xfrm>
          <a:prstGeom prst="roundRect">
            <a:avLst>
              <a:gd name="adj" fmla="val 8421"/>
            </a:avLst>
          </a:prstGeom>
          <a:solidFill>
            <a:srgbClr val="F3F2EE"/>
          </a:solidFill>
          <a:ln/>
        </p:spPr>
      </p:sp>
      <p:sp>
        <p:nvSpPr>
          <p:cNvPr id="5" name="Text 3"/>
          <p:cNvSpPr txBox="1"/>
          <p:nvPr/>
        </p:nvSpPr>
        <p:spPr>
          <a:xfrm>
            <a:off x="804672" y="1764792"/>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Session-based meal logging</a:t>
            </a:r>
            <a:endParaRPr lang="en-US" sz="1200" dirty="0"/>
          </a:p>
        </p:txBody>
      </p:sp>
      <p:sp>
        <p:nvSpPr>
          <p:cNvPr id="6" name="Text 4"/>
          <p:cNvSpPr txBox="1"/>
          <p:nvPr/>
        </p:nvSpPr>
        <p:spPr>
          <a:xfrm>
            <a:off x="804672" y="2103120"/>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Take → refill → leave, mirrored controls</a:t>
            </a:r>
            <a:endParaRPr lang="en-US" sz="950" dirty="0"/>
          </a:p>
        </p:txBody>
      </p:sp>
      <p:sp>
        <p:nvSpPr>
          <p:cNvPr id="7" name="Shape 5"/>
          <p:cNvSpPr/>
          <p:nvPr/>
        </p:nvSpPr>
        <p:spPr>
          <a:xfrm>
            <a:off x="4297680" y="1691640"/>
            <a:ext cx="3520440" cy="868680"/>
          </a:xfrm>
          <a:prstGeom prst="roundRect">
            <a:avLst>
              <a:gd name="adj" fmla="val 8421"/>
            </a:avLst>
          </a:prstGeom>
          <a:solidFill>
            <a:srgbClr val="F3F2EE"/>
          </a:solidFill>
          <a:ln/>
        </p:spPr>
      </p:sp>
      <p:sp>
        <p:nvSpPr>
          <p:cNvPr id="8" name="Text 6"/>
          <p:cNvSpPr txBox="1"/>
          <p:nvPr/>
        </p:nvSpPr>
        <p:spPr>
          <a:xfrm>
            <a:off x="4462272" y="1764792"/>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Vessel fill-sliders</a:t>
            </a:r>
            <a:endParaRPr lang="en-US" sz="1200" dirty="0"/>
          </a:p>
        </p:txBody>
      </p:sp>
      <p:sp>
        <p:nvSpPr>
          <p:cNvPr id="9" name="Text 7"/>
          <p:cNvSpPr txBox="1"/>
          <p:nvPr/>
        </p:nvSpPr>
        <p:spPr>
          <a:xfrm>
            <a:off x="4462272" y="2103120"/>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Bowl/glass with live % readout above</a:t>
            </a:r>
            <a:endParaRPr lang="en-US" sz="950" dirty="0"/>
          </a:p>
        </p:txBody>
      </p:sp>
      <p:sp>
        <p:nvSpPr>
          <p:cNvPr id="10" name="Shape 8"/>
          <p:cNvSpPr/>
          <p:nvPr/>
        </p:nvSpPr>
        <p:spPr>
          <a:xfrm>
            <a:off x="7955280" y="1691640"/>
            <a:ext cx="3520440" cy="868680"/>
          </a:xfrm>
          <a:prstGeom prst="roundRect">
            <a:avLst>
              <a:gd name="adj" fmla="val 8421"/>
            </a:avLst>
          </a:prstGeom>
          <a:solidFill>
            <a:srgbClr val="F3F2EE"/>
          </a:solidFill>
          <a:ln/>
        </p:spPr>
      </p:sp>
      <p:sp>
        <p:nvSpPr>
          <p:cNvPr id="11" name="Text 9"/>
          <p:cNvSpPr txBox="1"/>
          <p:nvPr/>
        </p:nvSpPr>
        <p:spPr>
          <a:xfrm>
            <a:off x="8119872" y="1764792"/>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Illustrated roti control</a:t>
            </a:r>
            <a:endParaRPr lang="en-US" sz="1200" dirty="0"/>
          </a:p>
        </p:txBody>
      </p:sp>
      <p:sp>
        <p:nvSpPr>
          <p:cNvPr id="12" name="Text 10"/>
          <p:cNvSpPr txBox="1"/>
          <p:nvPr/>
        </p:nvSpPr>
        <p:spPr>
          <a:xfrm>
            <a:off x="8119872" y="2103120"/>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Real photo, 4 tappable quarters</a:t>
            </a:r>
            <a:endParaRPr lang="en-US" sz="950" dirty="0"/>
          </a:p>
        </p:txBody>
      </p:sp>
      <p:sp>
        <p:nvSpPr>
          <p:cNvPr id="13" name="Shape 11"/>
          <p:cNvSpPr/>
          <p:nvPr/>
        </p:nvSpPr>
        <p:spPr>
          <a:xfrm>
            <a:off x="640080" y="2670048"/>
            <a:ext cx="3520440" cy="868680"/>
          </a:xfrm>
          <a:prstGeom prst="roundRect">
            <a:avLst>
              <a:gd name="adj" fmla="val 8421"/>
            </a:avLst>
          </a:prstGeom>
          <a:solidFill>
            <a:srgbClr val="F3F2EE"/>
          </a:solidFill>
          <a:ln/>
        </p:spPr>
      </p:sp>
      <p:sp>
        <p:nvSpPr>
          <p:cNvPr id="14" name="Text 12"/>
          <p:cNvSpPr txBox="1"/>
          <p:nvPr/>
        </p:nvSpPr>
        <p:spPr>
          <a:xfrm>
            <a:off x="804672" y="2743200"/>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Per meal-slot menus</a:t>
            </a:r>
            <a:endParaRPr lang="en-US" sz="1200" dirty="0"/>
          </a:p>
        </p:txBody>
      </p:sp>
      <p:sp>
        <p:nvSpPr>
          <p:cNvPr id="15" name="Text 13"/>
          <p:cNvSpPr txBox="1"/>
          <p:nvPr/>
        </p:nvSpPr>
        <p:spPr>
          <a:xfrm>
            <a:off x="804672" y="3081528"/>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Breakfast/lunch/snacks/dinner, admin-editable inline</a:t>
            </a:r>
            <a:endParaRPr lang="en-US" sz="950" dirty="0"/>
          </a:p>
        </p:txBody>
      </p:sp>
      <p:sp>
        <p:nvSpPr>
          <p:cNvPr id="16" name="Shape 14"/>
          <p:cNvSpPr/>
          <p:nvPr/>
        </p:nvSpPr>
        <p:spPr>
          <a:xfrm>
            <a:off x="4297680" y="2670048"/>
            <a:ext cx="3520440" cy="868680"/>
          </a:xfrm>
          <a:prstGeom prst="roundRect">
            <a:avLst>
              <a:gd name="adj" fmla="val 8421"/>
            </a:avLst>
          </a:prstGeom>
          <a:solidFill>
            <a:srgbClr val="F3F2EE"/>
          </a:solidFill>
          <a:ln/>
        </p:spPr>
      </p:sp>
      <p:sp>
        <p:nvSpPr>
          <p:cNvPr id="17" name="Text 15"/>
          <p:cNvSpPr txBox="1"/>
          <p:nvPr/>
        </p:nvSpPr>
        <p:spPr>
          <a:xfrm>
            <a:off x="4462272" y="2743200"/>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Live nutrient readout</a:t>
            </a:r>
            <a:endParaRPr lang="en-US" sz="1200" dirty="0"/>
          </a:p>
        </p:txBody>
      </p:sp>
      <p:sp>
        <p:nvSpPr>
          <p:cNvPr id="18" name="Text 16"/>
          <p:cNvSpPr txBox="1"/>
          <p:nvPr/>
        </p:nvSpPr>
        <p:spPr>
          <a:xfrm>
            <a:off x="4462272" y="3081528"/>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Calories/protein/carbs/fat + micronutrients, updates as you slide</a:t>
            </a:r>
            <a:endParaRPr lang="en-US" sz="950" dirty="0"/>
          </a:p>
        </p:txBody>
      </p:sp>
      <p:sp>
        <p:nvSpPr>
          <p:cNvPr id="19" name="Shape 17"/>
          <p:cNvSpPr/>
          <p:nvPr/>
        </p:nvSpPr>
        <p:spPr>
          <a:xfrm>
            <a:off x="7955280" y="2670048"/>
            <a:ext cx="3520440" cy="868680"/>
          </a:xfrm>
          <a:prstGeom prst="roundRect">
            <a:avLst>
              <a:gd name="adj" fmla="val 8421"/>
            </a:avLst>
          </a:prstGeom>
          <a:solidFill>
            <a:srgbClr val="F3F2EE"/>
          </a:solidFill>
          <a:ln/>
        </p:spPr>
      </p:sp>
      <p:sp>
        <p:nvSpPr>
          <p:cNvPr id="20" name="Text 18"/>
          <p:cNvSpPr txBox="1"/>
          <p:nvPr/>
        </p:nvSpPr>
        <p:spPr>
          <a:xfrm>
            <a:off x="8119872" y="2743200"/>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Absolute-scale waste logging</a:t>
            </a:r>
            <a:endParaRPr lang="en-US" sz="1200" dirty="0"/>
          </a:p>
        </p:txBody>
      </p:sp>
      <p:sp>
        <p:nvSpPr>
          <p:cNvPr id="21" name="Text 19"/>
          <p:cNvSpPr txBox="1"/>
          <p:nvPr/>
        </p:nvSpPr>
        <p:spPr>
          <a:xfrm>
            <a:off x="8119872" y="3081528"/>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Capped exactly to what was taken — never generic</a:t>
            </a:r>
            <a:endParaRPr lang="en-US" sz="950" dirty="0"/>
          </a:p>
        </p:txBody>
      </p:sp>
      <p:sp>
        <p:nvSpPr>
          <p:cNvPr id="22" name="Shape 20"/>
          <p:cNvSpPr/>
          <p:nvPr/>
        </p:nvSpPr>
        <p:spPr>
          <a:xfrm>
            <a:off x="640080" y="3648456"/>
            <a:ext cx="3520440" cy="868680"/>
          </a:xfrm>
          <a:prstGeom prst="roundRect">
            <a:avLst>
              <a:gd name="adj" fmla="val 8421"/>
            </a:avLst>
          </a:prstGeom>
          <a:solidFill>
            <a:srgbClr val="F3F2EE"/>
          </a:solidFill>
          <a:ln/>
        </p:spPr>
      </p:sp>
      <p:sp>
        <p:nvSpPr>
          <p:cNvPr id="23" name="Text 21"/>
          <p:cNvSpPr txBox="1"/>
          <p:nvPr/>
        </p:nvSpPr>
        <p:spPr>
          <a:xfrm>
            <a:off x="804672" y="3721608"/>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Optional waste-reason tags</a:t>
            </a:r>
            <a:endParaRPr lang="en-US" sz="1200" dirty="0"/>
          </a:p>
        </p:txBody>
      </p:sp>
      <p:sp>
        <p:nvSpPr>
          <p:cNvPr id="24" name="Text 22"/>
          <p:cNvSpPr txBox="1"/>
          <p:nvPr/>
        </p:nvSpPr>
        <p:spPr>
          <a:xfrm>
            <a:off x="804672" y="4059936"/>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Too much served · Didn't like it · Not hungry · Ran out of time</a:t>
            </a:r>
            <a:endParaRPr lang="en-US" sz="950" dirty="0"/>
          </a:p>
        </p:txBody>
      </p:sp>
      <p:sp>
        <p:nvSpPr>
          <p:cNvPr id="25" name="Shape 23"/>
          <p:cNvSpPr/>
          <p:nvPr/>
        </p:nvSpPr>
        <p:spPr>
          <a:xfrm>
            <a:off x="4297680" y="3648456"/>
            <a:ext cx="3520440" cy="868680"/>
          </a:xfrm>
          <a:prstGeom prst="roundRect">
            <a:avLst>
              <a:gd name="adj" fmla="val 8421"/>
            </a:avLst>
          </a:prstGeom>
          <a:solidFill>
            <a:srgbClr val="F3F2EE"/>
          </a:solidFill>
          <a:ln/>
        </p:spPr>
      </p:sp>
      <p:sp>
        <p:nvSpPr>
          <p:cNvPr id="26" name="Text 24"/>
          <p:cNvSpPr txBox="1"/>
          <p:nvPr/>
        </p:nvSpPr>
        <p:spPr>
          <a:xfrm>
            <a:off x="4462272" y="3721608"/>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Mess dashboard</a:t>
            </a:r>
            <a:endParaRPr lang="en-US" sz="1200" dirty="0"/>
          </a:p>
        </p:txBody>
      </p:sp>
      <p:sp>
        <p:nvSpPr>
          <p:cNvPr id="27" name="Text 25"/>
          <p:cNvSpPr txBox="1"/>
          <p:nvPr/>
        </p:nvSpPr>
        <p:spPr>
          <a:xfrm>
            <a:off x="4462272" y="4059936"/>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Today/Week/Month, top-3-wasted per category, local swap suggestions</a:t>
            </a:r>
            <a:endParaRPr lang="en-US" sz="950" dirty="0"/>
          </a:p>
        </p:txBody>
      </p:sp>
      <p:sp>
        <p:nvSpPr>
          <p:cNvPr id="28" name="Shape 26"/>
          <p:cNvSpPr/>
          <p:nvPr/>
        </p:nvSpPr>
        <p:spPr>
          <a:xfrm>
            <a:off x="7955280" y="3648456"/>
            <a:ext cx="3520440" cy="868680"/>
          </a:xfrm>
          <a:prstGeom prst="roundRect">
            <a:avLst>
              <a:gd name="adj" fmla="val 8421"/>
            </a:avLst>
          </a:prstGeom>
          <a:solidFill>
            <a:srgbClr val="F3F2EE"/>
          </a:solidFill>
          <a:ln/>
        </p:spPr>
      </p:sp>
      <p:sp>
        <p:nvSpPr>
          <p:cNvPr id="29" name="Text 27"/>
          <p:cNvSpPr txBox="1"/>
          <p:nvPr/>
        </p:nvSpPr>
        <p:spPr>
          <a:xfrm>
            <a:off x="8119872" y="3721608"/>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Full nutrient digest</a:t>
            </a:r>
            <a:endParaRPr lang="en-US" sz="1200" dirty="0"/>
          </a:p>
        </p:txBody>
      </p:sp>
      <p:sp>
        <p:nvSpPr>
          <p:cNvPr id="30" name="Text 28"/>
          <p:cNvSpPr txBox="1"/>
          <p:nvPr/>
        </p:nvSpPr>
        <p:spPr>
          <a:xfrm>
            <a:off x="8119872" y="4059936"/>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11 nutrients, none skipped, gender + weight segmented</a:t>
            </a:r>
            <a:endParaRPr lang="en-US" sz="950" dirty="0"/>
          </a:p>
        </p:txBody>
      </p:sp>
      <p:sp>
        <p:nvSpPr>
          <p:cNvPr id="31" name="Shape 29"/>
          <p:cNvSpPr/>
          <p:nvPr/>
        </p:nvSpPr>
        <p:spPr>
          <a:xfrm>
            <a:off x="640080" y="4626864"/>
            <a:ext cx="3520440" cy="868680"/>
          </a:xfrm>
          <a:prstGeom prst="roundRect">
            <a:avLst>
              <a:gd name="adj" fmla="val 8421"/>
            </a:avLst>
          </a:prstGeom>
          <a:solidFill>
            <a:srgbClr val="F3F2EE"/>
          </a:solidFill>
          <a:ln/>
        </p:spPr>
      </p:sp>
      <p:sp>
        <p:nvSpPr>
          <p:cNvPr id="32" name="Text 30"/>
          <p:cNvSpPr txBox="1"/>
          <p:nvPr/>
        </p:nvSpPr>
        <p:spPr>
          <a:xfrm>
            <a:off x="804672" y="4700016"/>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Meal-level catch-up tracking</a:t>
            </a:r>
            <a:endParaRPr lang="en-US" sz="1200" dirty="0"/>
          </a:p>
        </p:txBody>
      </p:sp>
      <p:sp>
        <p:nvSpPr>
          <p:cNvPr id="33" name="Text 31"/>
          <p:cNvSpPr txBox="1"/>
          <p:nvPr/>
        </p:nvSpPr>
        <p:spPr>
          <a:xfrm>
            <a:off x="804672" y="5038344"/>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Flags a gap before your next meal</a:t>
            </a:r>
            <a:endParaRPr lang="en-US" sz="950" dirty="0"/>
          </a:p>
        </p:txBody>
      </p:sp>
      <p:sp>
        <p:nvSpPr>
          <p:cNvPr id="34" name="Shape 32"/>
          <p:cNvSpPr/>
          <p:nvPr/>
        </p:nvSpPr>
        <p:spPr>
          <a:xfrm>
            <a:off x="4297680" y="4626864"/>
            <a:ext cx="3520440" cy="868680"/>
          </a:xfrm>
          <a:prstGeom prst="roundRect">
            <a:avLst>
              <a:gd name="adj" fmla="val 8421"/>
            </a:avLst>
          </a:prstGeom>
          <a:solidFill>
            <a:srgbClr val="F3F2EE"/>
          </a:solidFill>
          <a:ln/>
        </p:spPr>
      </p:sp>
      <p:sp>
        <p:nvSpPr>
          <p:cNvPr id="35" name="Text 33"/>
          <p:cNvSpPr txBox="1"/>
          <p:nvPr/>
        </p:nvSpPr>
        <p:spPr>
          <a:xfrm>
            <a:off x="4462272" y="4700016"/>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Low-waste streak badge</a:t>
            </a:r>
            <a:endParaRPr lang="en-US" sz="1200" dirty="0"/>
          </a:p>
        </p:txBody>
      </p:sp>
      <p:sp>
        <p:nvSpPr>
          <p:cNvPr id="36" name="Text 34"/>
          <p:cNvSpPr txBox="1"/>
          <p:nvPr/>
        </p:nvSpPr>
        <p:spPr>
          <a:xfrm>
            <a:off x="4462272" y="5038344"/>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Lightweight engagement, zero extra hardware</a:t>
            </a:r>
            <a:endParaRPr lang="en-US" sz="950" dirty="0"/>
          </a:p>
        </p:txBody>
      </p:sp>
      <p:sp>
        <p:nvSpPr>
          <p:cNvPr id="37" name="Shape 35"/>
          <p:cNvSpPr/>
          <p:nvPr/>
        </p:nvSpPr>
        <p:spPr>
          <a:xfrm>
            <a:off x="7955280" y="4626864"/>
            <a:ext cx="3520440" cy="868680"/>
          </a:xfrm>
          <a:prstGeom prst="roundRect">
            <a:avLst>
              <a:gd name="adj" fmla="val 8421"/>
            </a:avLst>
          </a:prstGeom>
          <a:solidFill>
            <a:srgbClr val="F3F2EE"/>
          </a:solidFill>
          <a:ln/>
        </p:spPr>
      </p:sp>
      <p:sp>
        <p:nvSpPr>
          <p:cNvPr id="38" name="Text 36"/>
          <p:cNvSpPr txBox="1"/>
          <p:nvPr/>
        </p:nvSpPr>
        <p:spPr>
          <a:xfrm>
            <a:off x="8119872" y="4700016"/>
            <a:ext cx="3191256" cy="365760"/>
          </a:xfrm>
          <a:prstGeom prst="rect">
            <a:avLst/>
          </a:prstGeom>
          <a:noFill/>
          <a:ln/>
        </p:spPr>
        <p:txBody>
          <a:bodyPr wrap="square" rtlCol="0" anchor="ctr"/>
          <a:lstStyle/>
          <a:p>
            <a:pPr indent="0" marL="0">
              <a:buNone/>
            </a:pPr>
            <a:r>
              <a:rPr lang="en-US" sz="1200" b="1" dirty="0">
                <a:solidFill>
                  <a:srgbClr val="163D28"/>
                </a:solidFill>
                <a:latin typeface="Calibri" pitchFamily="34" charset="0"/>
                <a:ea typeface="Calibri" pitchFamily="34" charset="-122"/>
                <a:cs typeface="Calibri" pitchFamily="34" charset="-120"/>
              </a:rPr>
              <a:t>Glassmorphic, mobile-first UI</a:t>
            </a:r>
            <a:endParaRPr lang="en-US" sz="1200" dirty="0"/>
          </a:p>
        </p:txBody>
      </p:sp>
      <p:sp>
        <p:nvSpPr>
          <p:cNvPr id="39" name="Text 37"/>
          <p:cNvSpPr txBox="1"/>
          <p:nvPr/>
        </p:nvSpPr>
        <p:spPr>
          <a:xfrm>
            <a:off x="8119872" y="5038344"/>
            <a:ext cx="3191256" cy="411480"/>
          </a:xfrm>
          <a:prstGeom prst="rect">
            <a:avLst/>
          </a:prstGeom>
          <a:noFill/>
          <a:ln/>
        </p:spPr>
        <p:txBody>
          <a:bodyPr wrap="square" rtlCol="0" anchor="ctr"/>
          <a:lstStyle/>
          <a:p>
            <a:pPr indent="0" marL="0">
              <a:lnSpc>
                <a:spcPct val="115000"/>
              </a:lnSpc>
              <a:buNone/>
            </a:pPr>
            <a:r>
              <a:rPr lang="en-US" sz="950" dirty="0">
                <a:solidFill>
                  <a:srgbClr val="6B7A70"/>
                </a:solidFill>
                <a:latin typeface="Calibri" pitchFamily="34" charset="0"/>
                <a:ea typeface="Calibri" pitchFamily="34" charset="-122"/>
                <a:cs typeface="Calibri" pitchFamily="34" charset="-120"/>
              </a:rPr>
              <a:t>Bottom nav, progress rings, real brand assets</a:t>
            </a:r>
            <a:endParaRPr lang="en-US" sz="950" dirty="0"/>
          </a:p>
        </p:txBody>
      </p:sp>
      <p:sp>
        <p:nvSpPr>
          <p:cNvPr id="40" name="Text 38"/>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09 · TECH STACK</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Deliberately simple, deliberately zero-friction</a:t>
            </a:r>
            <a:endParaRPr lang="en-US" sz="3200" dirty="0"/>
          </a:p>
        </p:txBody>
      </p:sp>
      <p:sp>
        <p:nvSpPr>
          <p:cNvPr id="4" name="Shape 2"/>
          <p:cNvSpPr/>
          <p:nvPr/>
        </p:nvSpPr>
        <p:spPr>
          <a:xfrm>
            <a:off x="640080" y="1691640"/>
            <a:ext cx="5257800" cy="1417320"/>
          </a:xfrm>
          <a:prstGeom prst="roundRect">
            <a:avLst>
              <a:gd name="adj" fmla="val 6452"/>
            </a:avLst>
          </a:prstGeom>
          <a:solidFill>
            <a:srgbClr val="F3F2EE"/>
          </a:solidFill>
          <a:ln/>
        </p:spPr>
      </p:sp>
      <p:sp>
        <p:nvSpPr>
          <p:cNvPr id="5" name="Text 3"/>
          <p:cNvSpPr txBox="1"/>
          <p:nvPr/>
        </p:nvSpPr>
        <p:spPr>
          <a:xfrm>
            <a:off x="868680" y="1856232"/>
            <a:ext cx="4800600" cy="411480"/>
          </a:xfrm>
          <a:prstGeom prst="rect">
            <a:avLst/>
          </a:prstGeom>
          <a:noFill/>
          <a:ln/>
        </p:spPr>
        <p:txBody>
          <a:bodyPr wrap="square" rtlCol="0" anchor="ctr"/>
          <a:lstStyle/>
          <a:p>
            <a:pPr indent="0" marL="0">
              <a:buNone/>
            </a:pPr>
            <a:r>
              <a:rPr lang="en-US" sz="1500" b="1" dirty="0">
                <a:solidFill>
                  <a:srgbClr val="D9503F"/>
                </a:solidFill>
                <a:latin typeface="Calibri" pitchFamily="34" charset="0"/>
                <a:ea typeface="Calibri" pitchFamily="34" charset="-122"/>
                <a:cs typeface="Calibri" pitchFamily="34" charset="-120"/>
              </a:rPr>
              <a:t>Frontend</a:t>
            </a:r>
            <a:endParaRPr lang="en-US" sz="1500" dirty="0"/>
          </a:p>
        </p:txBody>
      </p:sp>
      <p:sp>
        <p:nvSpPr>
          <p:cNvPr id="6" name="Text 4"/>
          <p:cNvSpPr txBox="1"/>
          <p:nvPr/>
        </p:nvSpPr>
        <p:spPr>
          <a:xfrm>
            <a:off x="868680" y="2313432"/>
            <a:ext cx="4800600" cy="685800"/>
          </a:xfrm>
          <a:prstGeom prst="rect">
            <a:avLst/>
          </a:prstGeom>
          <a:noFill/>
          <a:ln/>
        </p:spPr>
        <p:txBody>
          <a:bodyPr wrap="square" rtlCol="0" anchor="ctr"/>
          <a:lstStyle/>
          <a:p>
            <a:pPr indent="0" marL="0">
              <a:lnSpc>
                <a:spcPct val="125000"/>
              </a:lnSpc>
              <a:buNone/>
            </a:pPr>
            <a:r>
              <a:rPr lang="en-US" sz="1200" dirty="0">
                <a:solidFill>
                  <a:srgbClr val="1A1A1A"/>
                </a:solidFill>
                <a:latin typeface="Calibri" pitchFamily="34" charset="0"/>
                <a:ea typeface="Calibri" pitchFamily="34" charset="-122"/>
                <a:cs typeface="Calibri" pitchFamily="34" charset="-120"/>
              </a:rPr>
              <a:t>HTML5, CSS3, vanilla JavaScript — no framework, no build step</a:t>
            </a:r>
            <a:endParaRPr lang="en-US" sz="1200" dirty="0"/>
          </a:p>
        </p:txBody>
      </p:sp>
      <p:sp>
        <p:nvSpPr>
          <p:cNvPr id="7" name="Shape 5"/>
          <p:cNvSpPr/>
          <p:nvPr/>
        </p:nvSpPr>
        <p:spPr>
          <a:xfrm>
            <a:off x="6263640" y="1691640"/>
            <a:ext cx="5257800" cy="1417320"/>
          </a:xfrm>
          <a:prstGeom prst="roundRect">
            <a:avLst>
              <a:gd name="adj" fmla="val 6452"/>
            </a:avLst>
          </a:prstGeom>
          <a:solidFill>
            <a:srgbClr val="F3F2EE"/>
          </a:solidFill>
          <a:ln/>
        </p:spPr>
      </p:sp>
      <p:sp>
        <p:nvSpPr>
          <p:cNvPr id="8" name="Text 6"/>
          <p:cNvSpPr txBox="1"/>
          <p:nvPr/>
        </p:nvSpPr>
        <p:spPr>
          <a:xfrm>
            <a:off x="6492240" y="1856232"/>
            <a:ext cx="4800600" cy="411480"/>
          </a:xfrm>
          <a:prstGeom prst="rect">
            <a:avLst/>
          </a:prstGeom>
          <a:noFill/>
          <a:ln/>
        </p:spPr>
        <p:txBody>
          <a:bodyPr wrap="square" rtlCol="0" anchor="ctr"/>
          <a:lstStyle/>
          <a:p>
            <a:pPr indent="0" marL="0">
              <a:buNone/>
            </a:pPr>
            <a:r>
              <a:rPr lang="en-US" sz="1500" b="1" dirty="0">
                <a:solidFill>
                  <a:srgbClr val="D9503F"/>
                </a:solidFill>
                <a:latin typeface="Calibri" pitchFamily="34" charset="0"/>
                <a:ea typeface="Calibri" pitchFamily="34" charset="-122"/>
                <a:cs typeface="Calibri" pitchFamily="34" charset="-120"/>
              </a:rPr>
              <a:t>Styling</a:t>
            </a:r>
            <a:endParaRPr lang="en-US" sz="1500" dirty="0"/>
          </a:p>
        </p:txBody>
      </p:sp>
      <p:sp>
        <p:nvSpPr>
          <p:cNvPr id="9" name="Text 7"/>
          <p:cNvSpPr txBox="1"/>
          <p:nvPr/>
        </p:nvSpPr>
        <p:spPr>
          <a:xfrm>
            <a:off x="6492240" y="2313432"/>
            <a:ext cx="4800600" cy="685800"/>
          </a:xfrm>
          <a:prstGeom prst="rect">
            <a:avLst/>
          </a:prstGeom>
          <a:noFill/>
          <a:ln/>
        </p:spPr>
        <p:txBody>
          <a:bodyPr wrap="square" rtlCol="0" anchor="ctr"/>
          <a:lstStyle/>
          <a:p>
            <a:pPr indent="0" marL="0">
              <a:lnSpc>
                <a:spcPct val="125000"/>
              </a:lnSpc>
              <a:buNone/>
            </a:pPr>
            <a:r>
              <a:rPr lang="en-US" sz="1200" dirty="0">
                <a:solidFill>
                  <a:srgbClr val="1A1A1A"/>
                </a:solidFill>
                <a:latin typeface="Calibri" pitchFamily="34" charset="0"/>
                <a:ea typeface="Calibri" pitchFamily="34" charset="-122"/>
                <a:cs typeface="Calibri" pitchFamily="34" charset="-120"/>
              </a:rPr>
              <a:t>Custom glassmorphic CSS, Manrope typeface, SVG progress rings</a:t>
            </a:r>
            <a:endParaRPr lang="en-US" sz="1200" dirty="0"/>
          </a:p>
        </p:txBody>
      </p:sp>
      <p:sp>
        <p:nvSpPr>
          <p:cNvPr id="10" name="Shape 8"/>
          <p:cNvSpPr/>
          <p:nvPr/>
        </p:nvSpPr>
        <p:spPr>
          <a:xfrm>
            <a:off x="640080" y="3291840"/>
            <a:ext cx="5257800" cy="1417320"/>
          </a:xfrm>
          <a:prstGeom prst="roundRect">
            <a:avLst>
              <a:gd name="adj" fmla="val 6452"/>
            </a:avLst>
          </a:prstGeom>
          <a:solidFill>
            <a:srgbClr val="F3F2EE"/>
          </a:solidFill>
          <a:ln/>
        </p:spPr>
      </p:sp>
      <p:sp>
        <p:nvSpPr>
          <p:cNvPr id="11" name="Text 9"/>
          <p:cNvSpPr txBox="1"/>
          <p:nvPr/>
        </p:nvSpPr>
        <p:spPr>
          <a:xfrm>
            <a:off x="868680" y="3456432"/>
            <a:ext cx="4800600" cy="411480"/>
          </a:xfrm>
          <a:prstGeom prst="rect">
            <a:avLst/>
          </a:prstGeom>
          <a:noFill/>
          <a:ln/>
        </p:spPr>
        <p:txBody>
          <a:bodyPr wrap="square" rtlCol="0" anchor="ctr"/>
          <a:lstStyle/>
          <a:p>
            <a:pPr indent="0" marL="0">
              <a:buNone/>
            </a:pPr>
            <a:r>
              <a:rPr lang="en-US" sz="1500" b="1" dirty="0">
                <a:solidFill>
                  <a:srgbClr val="D9503F"/>
                </a:solidFill>
                <a:latin typeface="Calibri" pitchFamily="34" charset="0"/>
                <a:ea typeface="Calibri" pitchFamily="34" charset="-122"/>
                <a:cs typeface="Calibri" pitchFamily="34" charset="-120"/>
              </a:rPr>
              <a:t>Data</a:t>
            </a:r>
            <a:endParaRPr lang="en-US" sz="1500" dirty="0"/>
          </a:p>
        </p:txBody>
      </p:sp>
      <p:sp>
        <p:nvSpPr>
          <p:cNvPr id="12" name="Text 10"/>
          <p:cNvSpPr txBox="1"/>
          <p:nvPr/>
        </p:nvSpPr>
        <p:spPr>
          <a:xfrm>
            <a:off x="868680" y="3913632"/>
            <a:ext cx="4800600" cy="685800"/>
          </a:xfrm>
          <a:prstGeom prst="rect">
            <a:avLst/>
          </a:prstGeom>
          <a:noFill/>
          <a:ln/>
        </p:spPr>
        <p:txBody>
          <a:bodyPr wrap="square" rtlCol="0" anchor="ctr"/>
          <a:lstStyle/>
          <a:p>
            <a:pPr indent="0" marL="0">
              <a:lnSpc>
                <a:spcPct val="125000"/>
              </a:lnSpc>
              <a:buNone/>
            </a:pPr>
            <a:r>
              <a:rPr lang="en-US" sz="1200" dirty="0">
                <a:solidFill>
                  <a:srgbClr val="1A1A1A"/>
                </a:solidFill>
                <a:latin typeface="Calibri" pitchFamily="34" charset="0"/>
                <a:ea typeface="Calibri" pitchFamily="34" charset="-122"/>
                <a:cs typeface="Calibri" pitchFamily="34" charset="-120"/>
              </a:rPr>
              <a:t>Browser localStorage — no backend required for the demo</a:t>
            </a:r>
            <a:endParaRPr lang="en-US" sz="1200" dirty="0"/>
          </a:p>
        </p:txBody>
      </p:sp>
      <p:sp>
        <p:nvSpPr>
          <p:cNvPr id="13" name="Shape 11"/>
          <p:cNvSpPr/>
          <p:nvPr/>
        </p:nvSpPr>
        <p:spPr>
          <a:xfrm>
            <a:off x="6263640" y="3291840"/>
            <a:ext cx="5257800" cy="1417320"/>
          </a:xfrm>
          <a:prstGeom prst="roundRect">
            <a:avLst>
              <a:gd name="adj" fmla="val 6452"/>
            </a:avLst>
          </a:prstGeom>
          <a:solidFill>
            <a:srgbClr val="F3F2EE"/>
          </a:solidFill>
          <a:ln/>
        </p:spPr>
      </p:sp>
      <p:sp>
        <p:nvSpPr>
          <p:cNvPr id="14" name="Text 12"/>
          <p:cNvSpPr txBox="1"/>
          <p:nvPr/>
        </p:nvSpPr>
        <p:spPr>
          <a:xfrm>
            <a:off x="6492240" y="3456432"/>
            <a:ext cx="4800600" cy="411480"/>
          </a:xfrm>
          <a:prstGeom prst="rect">
            <a:avLst/>
          </a:prstGeom>
          <a:noFill/>
          <a:ln/>
        </p:spPr>
        <p:txBody>
          <a:bodyPr wrap="square" rtlCol="0" anchor="ctr"/>
          <a:lstStyle/>
          <a:p>
            <a:pPr indent="0" marL="0">
              <a:buNone/>
            </a:pPr>
            <a:r>
              <a:rPr lang="en-US" sz="1500" b="1" dirty="0">
                <a:solidFill>
                  <a:srgbClr val="D9503F"/>
                </a:solidFill>
                <a:latin typeface="Calibri" pitchFamily="34" charset="0"/>
                <a:ea typeface="Calibri" pitchFamily="34" charset="-122"/>
                <a:cs typeface="Calibri" pitchFamily="34" charset="-120"/>
              </a:rPr>
              <a:t>Hosting</a:t>
            </a:r>
            <a:endParaRPr lang="en-US" sz="1500" dirty="0"/>
          </a:p>
        </p:txBody>
      </p:sp>
      <p:sp>
        <p:nvSpPr>
          <p:cNvPr id="15" name="Text 13"/>
          <p:cNvSpPr txBox="1"/>
          <p:nvPr/>
        </p:nvSpPr>
        <p:spPr>
          <a:xfrm>
            <a:off x="6492240" y="3913632"/>
            <a:ext cx="4800600" cy="685800"/>
          </a:xfrm>
          <a:prstGeom prst="rect">
            <a:avLst/>
          </a:prstGeom>
          <a:noFill/>
          <a:ln/>
        </p:spPr>
        <p:txBody>
          <a:bodyPr wrap="square" rtlCol="0" anchor="ctr"/>
          <a:lstStyle/>
          <a:p>
            <a:pPr indent="0" marL="0">
              <a:lnSpc>
                <a:spcPct val="125000"/>
              </a:lnSpc>
              <a:buNone/>
            </a:pPr>
            <a:r>
              <a:rPr lang="en-US" sz="1200" dirty="0">
                <a:solidFill>
                  <a:srgbClr val="1A1A1A"/>
                </a:solidFill>
                <a:latin typeface="Calibri" pitchFamily="34" charset="0"/>
                <a:ea typeface="Calibri" pitchFamily="34" charset="-122"/>
                <a:cs typeface="Calibri" pitchFamily="34" charset="-120"/>
              </a:rPr>
              <a:t>GitHub Pages — one live link, zero deploy pipeline</a:t>
            </a:r>
            <a:endParaRPr lang="en-US" sz="1200" dirty="0"/>
          </a:p>
        </p:txBody>
      </p:sp>
      <p:sp>
        <p:nvSpPr>
          <p:cNvPr id="16" name="Shape 14"/>
          <p:cNvSpPr/>
          <p:nvPr/>
        </p:nvSpPr>
        <p:spPr>
          <a:xfrm>
            <a:off x="640080" y="4892040"/>
            <a:ext cx="5257800" cy="1417320"/>
          </a:xfrm>
          <a:prstGeom prst="roundRect">
            <a:avLst>
              <a:gd name="adj" fmla="val 6452"/>
            </a:avLst>
          </a:prstGeom>
          <a:solidFill>
            <a:srgbClr val="F3F2EE"/>
          </a:solidFill>
          <a:ln/>
        </p:spPr>
      </p:sp>
      <p:sp>
        <p:nvSpPr>
          <p:cNvPr id="17" name="Text 15"/>
          <p:cNvSpPr txBox="1"/>
          <p:nvPr/>
        </p:nvSpPr>
        <p:spPr>
          <a:xfrm>
            <a:off x="868680" y="5056632"/>
            <a:ext cx="4800600" cy="411480"/>
          </a:xfrm>
          <a:prstGeom prst="rect">
            <a:avLst/>
          </a:prstGeom>
          <a:noFill/>
          <a:ln/>
        </p:spPr>
        <p:txBody>
          <a:bodyPr wrap="square" rtlCol="0" anchor="ctr"/>
          <a:lstStyle/>
          <a:p>
            <a:pPr indent="0" marL="0">
              <a:buNone/>
            </a:pPr>
            <a:r>
              <a:rPr lang="en-US" sz="1500" b="1" dirty="0">
                <a:solidFill>
                  <a:srgbClr val="D9503F"/>
                </a:solidFill>
                <a:latin typeface="Calibri" pitchFamily="34" charset="0"/>
                <a:ea typeface="Calibri" pitchFamily="34" charset="-122"/>
                <a:cs typeface="Calibri" pitchFamily="34" charset="-120"/>
              </a:rPr>
              <a:t>Testing</a:t>
            </a:r>
            <a:endParaRPr lang="en-US" sz="1500" dirty="0"/>
          </a:p>
        </p:txBody>
      </p:sp>
      <p:sp>
        <p:nvSpPr>
          <p:cNvPr id="18" name="Text 16"/>
          <p:cNvSpPr txBox="1"/>
          <p:nvPr/>
        </p:nvSpPr>
        <p:spPr>
          <a:xfrm>
            <a:off x="868680" y="5513832"/>
            <a:ext cx="4800600" cy="685800"/>
          </a:xfrm>
          <a:prstGeom prst="rect">
            <a:avLst/>
          </a:prstGeom>
          <a:noFill/>
          <a:ln/>
        </p:spPr>
        <p:txBody>
          <a:bodyPr wrap="square" rtlCol="0" anchor="ctr"/>
          <a:lstStyle/>
          <a:p>
            <a:pPr indent="0" marL="0">
              <a:lnSpc>
                <a:spcPct val="125000"/>
              </a:lnSpc>
              <a:buNone/>
            </a:pPr>
            <a:r>
              <a:rPr lang="en-US" sz="1200" dirty="0">
                <a:solidFill>
                  <a:srgbClr val="1A1A1A"/>
                </a:solidFill>
                <a:latin typeface="Calibri" pitchFamily="34" charset="0"/>
                <a:ea typeface="Calibri" pitchFamily="34" charset="-122"/>
                <a:cs typeface="Calibri" pitchFamily="34" charset="-120"/>
              </a:rPr>
              <a:t>Node.js + jsdom automated interaction tests on every feature</a:t>
            </a:r>
            <a:endParaRPr lang="en-US" sz="1200" dirty="0"/>
          </a:p>
        </p:txBody>
      </p:sp>
      <p:sp>
        <p:nvSpPr>
          <p:cNvPr id="19" name="Shape 17"/>
          <p:cNvSpPr/>
          <p:nvPr/>
        </p:nvSpPr>
        <p:spPr>
          <a:xfrm>
            <a:off x="6263640" y="4892040"/>
            <a:ext cx="5257800" cy="1417320"/>
          </a:xfrm>
          <a:prstGeom prst="roundRect">
            <a:avLst>
              <a:gd name="adj" fmla="val 6452"/>
            </a:avLst>
          </a:prstGeom>
          <a:solidFill>
            <a:srgbClr val="F3F2EE"/>
          </a:solidFill>
          <a:ln/>
        </p:spPr>
      </p:sp>
      <p:sp>
        <p:nvSpPr>
          <p:cNvPr id="20" name="Text 18"/>
          <p:cNvSpPr txBox="1"/>
          <p:nvPr/>
        </p:nvSpPr>
        <p:spPr>
          <a:xfrm>
            <a:off x="6492240" y="5056632"/>
            <a:ext cx="4800600" cy="411480"/>
          </a:xfrm>
          <a:prstGeom prst="rect">
            <a:avLst/>
          </a:prstGeom>
          <a:noFill/>
          <a:ln/>
        </p:spPr>
        <p:txBody>
          <a:bodyPr wrap="square" rtlCol="0" anchor="ctr"/>
          <a:lstStyle/>
          <a:p>
            <a:pPr indent="0" marL="0">
              <a:buNone/>
            </a:pPr>
            <a:r>
              <a:rPr lang="en-US" sz="1500" b="1" dirty="0">
                <a:solidFill>
                  <a:srgbClr val="D9503F"/>
                </a:solidFill>
                <a:latin typeface="Calibri" pitchFamily="34" charset="0"/>
                <a:ea typeface="Calibri" pitchFamily="34" charset="-122"/>
                <a:cs typeface="Calibri" pitchFamily="34" charset="-120"/>
              </a:rPr>
              <a:t>Visual QA</a:t>
            </a:r>
            <a:endParaRPr lang="en-US" sz="1500" dirty="0"/>
          </a:p>
        </p:txBody>
      </p:sp>
      <p:sp>
        <p:nvSpPr>
          <p:cNvPr id="21" name="Text 19"/>
          <p:cNvSpPr txBox="1"/>
          <p:nvPr/>
        </p:nvSpPr>
        <p:spPr>
          <a:xfrm>
            <a:off x="6492240" y="5513832"/>
            <a:ext cx="4800600" cy="685800"/>
          </a:xfrm>
          <a:prstGeom prst="rect">
            <a:avLst/>
          </a:prstGeom>
          <a:noFill/>
          <a:ln/>
        </p:spPr>
        <p:txBody>
          <a:bodyPr wrap="square" rtlCol="0" anchor="ctr"/>
          <a:lstStyle/>
          <a:p>
            <a:pPr indent="0" marL="0">
              <a:lnSpc>
                <a:spcPct val="125000"/>
              </a:lnSpc>
              <a:buNone/>
            </a:pPr>
            <a:r>
              <a:rPr lang="en-US" sz="1200" dirty="0">
                <a:solidFill>
                  <a:srgbClr val="1A1A1A"/>
                </a:solidFill>
                <a:latin typeface="Calibri" pitchFamily="34" charset="0"/>
                <a:ea typeface="Calibri" pitchFamily="34" charset="-122"/>
                <a:cs typeface="Calibri" pitchFamily="34" charset="-120"/>
              </a:rPr>
              <a:t>Headless rendering + screenshot review before shipping</a:t>
            </a:r>
            <a:endParaRPr lang="en-US" sz="1200" dirty="0"/>
          </a:p>
        </p:txBody>
      </p:sp>
      <p:sp>
        <p:nvSpPr>
          <p:cNvPr id="22" name="Text 20"/>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D9503F"/>
                </a:solidFill>
                <a:latin typeface="Calibri" pitchFamily="34" charset="0"/>
                <a:ea typeface="Calibri" pitchFamily="34" charset="-122"/>
                <a:cs typeface="Calibri" pitchFamily="34" charset="-120"/>
              </a:rPr>
              <a:t>10 · FUTURE SCOPE</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200" b="1" dirty="0">
                <a:solidFill>
                  <a:srgbClr val="1A1A1A"/>
                </a:solidFill>
                <a:latin typeface="Calibri" pitchFamily="34" charset="0"/>
                <a:ea typeface="Calibri" pitchFamily="34" charset="-122"/>
                <a:cs typeface="Calibri" pitchFamily="34" charset="-120"/>
              </a:rPr>
              <a:t>Where this goes after the hackathon</a:t>
            </a:r>
            <a:endParaRPr lang="en-US" sz="3200" dirty="0"/>
          </a:p>
        </p:txBody>
      </p:sp>
      <p:sp>
        <p:nvSpPr>
          <p:cNvPr id="4" name="Text 2"/>
          <p:cNvSpPr txBox="1"/>
          <p:nvPr/>
        </p:nvSpPr>
        <p:spPr>
          <a:xfrm>
            <a:off x="640080" y="1737360"/>
            <a:ext cx="731520" cy="548640"/>
          </a:xfrm>
          <a:prstGeom prst="rect">
            <a:avLst/>
          </a:prstGeom>
          <a:noFill/>
          <a:ln/>
        </p:spPr>
        <p:txBody>
          <a:bodyPr wrap="square" rtlCol="0" anchor="ctr"/>
          <a:lstStyle/>
          <a:p>
            <a:pPr indent="0" marL="0">
              <a:buNone/>
            </a:pPr>
            <a:r>
              <a:rPr lang="en-US" sz="1800" b="1" dirty="0">
                <a:solidFill>
                  <a:srgbClr val="D9503F"/>
                </a:solidFill>
                <a:latin typeface="Calibri" pitchFamily="34" charset="0"/>
                <a:ea typeface="Calibri" pitchFamily="34" charset="-122"/>
                <a:cs typeface="Calibri" pitchFamily="34" charset="-120"/>
              </a:rPr>
              <a:t>01</a:t>
            </a:r>
            <a:endParaRPr lang="en-US" sz="1800" dirty="0"/>
          </a:p>
        </p:txBody>
      </p:sp>
      <p:sp>
        <p:nvSpPr>
          <p:cNvPr id="5" name="Text 3"/>
          <p:cNvSpPr txBox="1"/>
          <p:nvPr/>
        </p:nvSpPr>
        <p:spPr>
          <a:xfrm>
            <a:off x="1417320" y="1755648"/>
            <a:ext cx="9966960" cy="548640"/>
          </a:xfrm>
          <a:prstGeom prst="rect">
            <a:avLst/>
          </a:prstGeom>
          <a:noFill/>
          <a:ln/>
        </p:spPr>
        <p:txBody>
          <a:bodyPr wrap="square" rtlCol="0" anchor="ctr"/>
          <a:lstStyle/>
          <a:p>
            <a:pPr indent="0" marL="0">
              <a:buNone/>
            </a:pPr>
            <a:r>
              <a:rPr lang="en-US" sz="1400" dirty="0">
                <a:solidFill>
                  <a:srgbClr val="1A1A1A"/>
                </a:solidFill>
                <a:latin typeface="Calibri" pitchFamily="34" charset="0"/>
                <a:ea typeface="Calibri" pitchFamily="34" charset="-122"/>
                <a:cs typeface="Calibri" pitchFamily="34" charset="-120"/>
              </a:rPr>
              <a:t>Real, properly licensed food photography across the full dish library</a:t>
            </a:r>
            <a:endParaRPr lang="en-US" sz="1400" dirty="0"/>
          </a:p>
        </p:txBody>
      </p:sp>
      <p:sp>
        <p:nvSpPr>
          <p:cNvPr id="6" name="Text 4"/>
          <p:cNvSpPr txBox="1"/>
          <p:nvPr/>
        </p:nvSpPr>
        <p:spPr>
          <a:xfrm>
            <a:off x="640080" y="2450592"/>
            <a:ext cx="731520" cy="548640"/>
          </a:xfrm>
          <a:prstGeom prst="rect">
            <a:avLst/>
          </a:prstGeom>
          <a:noFill/>
          <a:ln/>
        </p:spPr>
        <p:txBody>
          <a:bodyPr wrap="square" rtlCol="0" anchor="ctr"/>
          <a:lstStyle/>
          <a:p>
            <a:pPr indent="0" marL="0">
              <a:buNone/>
            </a:pPr>
            <a:r>
              <a:rPr lang="en-US" sz="1800" b="1" dirty="0">
                <a:solidFill>
                  <a:srgbClr val="D9503F"/>
                </a:solidFill>
                <a:latin typeface="Calibri" pitchFamily="34" charset="0"/>
                <a:ea typeface="Calibri" pitchFamily="34" charset="-122"/>
                <a:cs typeface="Calibri" pitchFamily="34" charset="-120"/>
              </a:rPr>
              <a:t>02</a:t>
            </a:r>
            <a:endParaRPr lang="en-US" sz="1800" dirty="0"/>
          </a:p>
        </p:txBody>
      </p:sp>
      <p:sp>
        <p:nvSpPr>
          <p:cNvPr id="7" name="Text 5"/>
          <p:cNvSpPr txBox="1"/>
          <p:nvPr/>
        </p:nvSpPr>
        <p:spPr>
          <a:xfrm>
            <a:off x="1417320" y="2468880"/>
            <a:ext cx="9966960" cy="548640"/>
          </a:xfrm>
          <a:prstGeom prst="rect">
            <a:avLst/>
          </a:prstGeom>
          <a:noFill/>
          <a:ln/>
        </p:spPr>
        <p:txBody>
          <a:bodyPr wrap="square" rtlCol="0" anchor="ctr"/>
          <a:lstStyle/>
          <a:p>
            <a:pPr indent="0" marL="0">
              <a:buNone/>
            </a:pPr>
            <a:r>
              <a:rPr lang="en-US" sz="1400" dirty="0">
                <a:solidFill>
                  <a:srgbClr val="1A1A1A"/>
                </a:solidFill>
                <a:latin typeface="Calibri" pitchFamily="34" charset="0"/>
                <a:ea typeface="Calibri" pitchFamily="34" charset="-122"/>
                <a:cs typeface="Calibri" pitchFamily="34" charset="-120"/>
              </a:rPr>
              <a:t>Apple Health / Samsung Health integration for automatic BMI-based targets</a:t>
            </a:r>
            <a:endParaRPr lang="en-US" sz="1400" dirty="0"/>
          </a:p>
        </p:txBody>
      </p:sp>
      <p:sp>
        <p:nvSpPr>
          <p:cNvPr id="8" name="Text 6"/>
          <p:cNvSpPr txBox="1"/>
          <p:nvPr/>
        </p:nvSpPr>
        <p:spPr>
          <a:xfrm>
            <a:off x="640080" y="3163824"/>
            <a:ext cx="731520" cy="548640"/>
          </a:xfrm>
          <a:prstGeom prst="rect">
            <a:avLst/>
          </a:prstGeom>
          <a:noFill/>
          <a:ln/>
        </p:spPr>
        <p:txBody>
          <a:bodyPr wrap="square" rtlCol="0" anchor="ctr"/>
          <a:lstStyle/>
          <a:p>
            <a:pPr indent="0" marL="0">
              <a:buNone/>
            </a:pPr>
            <a:r>
              <a:rPr lang="en-US" sz="1800" b="1" dirty="0">
                <a:solidFill>
                  <a:srgbClr val="D9503F"/>
                </a:solidFill>
                <a:latin typeface="Calibri" pitchFamily="34" charset="0"/>
                <a:ea typeface="Calibri" pitchFamily="34" charset="-122"/>
                <a:cs typeface="Calibri" pitchFamily="34" charset="-120"/>
              </a:rPr>
              <a:t>03</a:t>
            </a:r>
            <a:endParaRPr lang="en-US" sz="1800" dirty="0"/>
          </a:p>
        </p:txBody>
      </p:sp>
      <p:sp>
        <p:nvSpPr>
          <p:cNvPr id="9" name="Text 7"/>
          <p:cNvSpPr txBox="1"/>
          <p:nvPr/>
        </p:nvSpPr>
        <p:spPr>
          <a:xfrm>
            <a:off x="1417320" y="3182112"/>
            <a:ext cx="9966960" cy="548640"/>
          </a:xfrm>
          <a:prstGeom prst="rect">
            <a:avLst/>
          </a:prstGeom>
          <a:noFill/>
          <a:ln/>
        </p:spPr>
        <p:txBody>
          <a:bodyPr wrap="square" rtlCol="0" anchor="ctr"/>
          <a:lstStyle/>
          <a:p>
            <a:pPr indent="0" marL="0">
              <a:buNone/>
            </a:pPr>
            <a:r>
              <a:rPr lang="en-US" sz="1400" dirty="0">
                <a:solidFill>
                  <a:srgbClr val="1A1A1A"/>
                </a:solidFill>
                <a:latin typeface="Calibri" pitchFamily="34" charset="0"/>
                <a:ea typeface="Calibri" pitchFamily="34" charset="-122"/>
                <a:cs typeface="Calibri" pitchFamily="34" charset="-120"/>
              </a:rPr>
              <a:t>Basic exercise suggestions alongside dietary nudges</a:t>
            </a:r>
            <a:endParaRPr lang="en-US" sz="1400" dirty="0"/>
          </a:p>
        </p:txBody>
      </p:sp>
      <p:sp>
        <p:nvSpPr>
          <p:cNvPr id="10" name="Text 8"/>
          <p:cNvSpPr txBox="1"/>
          <p:nvPr/>
        </p:nvSpPr>
        <p:spPr>
          <a:xfrm>
            <a:off x="640080" y="3877056"/>
            <a:ext cx="731520" cy="548640"/>
          </a:xfrm>
          <a:prstGeom prst="rect">
            <a:avLst/>
          </a:prstGeom>
          <a:noFill/>
          <a:ln/>
        </p:spPr>
        <p:txBody>
          <a:bodyPr wrap="square" rtlCol="0" anchor="ctr"/>
          <a:lstStyle/>
          <a:p>
            <a:pPr indent="0" marL="0">
              <a:buNone/>
            </a:pPr>
            <a:r>
              <a:rPr lang="en-US" sz="1800" b="1" dirty="0">
                <a:solidFill>
                  <a:srgbClr val="D9503F"/>
                </a:solidFill>
                <a:latin typeface="Calibri" pitchFamily="34" charset="0"/>
                <a:ea typeface="Calibri" pitchFamily="34" charset="-122"/>
                <a:cs typeface="Calibri" pitchFamily="34" charset="-120"/>
              </a:rPr>
              <a:t>04</a:t>
            </a:r>
            <a:endParaRPr lang="en-US" sz="1800" dirty="0"/>
          </a:p>
        </p:txBody>
      </p:sp>
      <p:sp>
        <p:nvSpPr>
          <p:cNvPr id="11" name="Text 9"/>
          <p:cNvSpPr txBox="1"/>
          <p:nvPr/>
        </p:nvSpPr>
        <p:spPr>
          <a:xfrm>
            <a:off x="1417320" y="3895344"/>
            <a:ext cx="9966960" cy="548640"/>
          </a:xfrm>
          <a:prstGeom prst="rect">
            <a:avLst/>
          </a:prstGeom>
          <a:noFill/>
          <a:ln/>
        </p:spPr>
        <p:txBody>
          <a:bodyPr wrap="square" rtlCol="0" anchor="ctr"/>
          <a:lstStyle/>
          <a:p>
            <a:pPr indent="0" marL="0">
              <a:buNone/>
            </a:pPr>
            <a:r>
              <a:rPr lang="en-US" sz="1400" dirty="0">
                <a:solidFill>
                  <a:srgbClr val="1A1A1A"/>
                </a:solidFill>
                <a:latin typeface="Calibri" pitchFamily="34" charset="0"/>
                <a:ea typeface="Calibri" pitchFamily="34" charset="-122"/>
                <a:cs typeface="Calibri" pitchFamily="34" charset="-120"/>
              </a:rPr>
              <a:t>Voice-to-text menu planning support for mess staff</a:t>
            </a:r>
            <a:endParaRPr lang="en-US" sz="1400" dirty="0"/>
          </a:p>
        </p:txBody>
      </p:sp>
      <p:sp>
        <p:nvSpPr>
          <p:cNvPr id="12" name="Text 10"/>
          <p:cNvSpPr txBox="1"/>
          <p:nvPr/>
        </p:nvSpPr>
        <p:spPr>
          <a:xfrm>
            <a:off x="640080" y="4590288"/>
            <a:ext cx="731520" cy="548640"/>
          </a:xfrm>
          <a:prstGeom prst="rect">
            <a:avLst/>
          </a:prstGeom>
          <a:noFill/>
          <a:ln/>
        </p:spPr>
        <p:txBody>
          <a:bodyPr wrap="square" rtlCol="0" anchor="ctr"/>
          <a:lstStyle/>
          <a:p>
            <a:pPr indent="0" marL="0">
              <a:buNone/>
            </a:pPr>
            <a:r>
              <a:rPr lang="en-US" sz="1800" b="1" dirty="0">
                <a:solidFill>
                  <a:srgbClr val="D9503F"/>
                </a:solidFill>
                <a:latin typeface="Calibri" pitchFamily="34" charset="0"/>
                <a:ea typeface="Calibri" pitchFamily="34" charset="-122"/>
                <a:cs typeface="Calibri" pitchFamily="34" charset="-120"/>
              </a:rPr>
              <a:t>05</a:t>
            </a:r>
            <a:endParaRPr lang="en-US" sz="1800" dirty="0"/>
          </a:p>
        </p:txBody>
      </p:sp>
      <p:sp>
        <p:nvSpPr>
          <p:cNvPr id="13" name="Text 11"/>
          <p:cNvSpPr txBox="1"/>
          <p:nvPr/>
        </p:nvSpPr>
        <p:spPr>
          <a:xfrm>
            <a:off x="1417320" y="4608576"/>
            <a:ext cx="9966960" cy="548640"/>
          </a:xfrm>
          <a:prstGeom prst="rect">
            <a:avLst/>
          </a:prstGeom>
          <a:noFill/>
          <a:ln/>
        </p:spPr>
        <p:txBody>
          <a:bodyPr wrap="square" rtlCol="0" anchor="ctr"/>
          <a:lstStyle/>
          <a:p>
            <a:pPr indent="0" marL="0">
              <a:buNone/>
            </a:pPr>
            <a:r>
              <a:rPr lang="en-US" sz="1400" dirty="0">
                <a:solidFill>
                  <a:srgbClr val="1A1A1A"/>
                </a:solidFill>
                <a:latin typeface="Calibri" pitchFamily="34" charset="0"/>
                <a:ea typeface="Calibri" pitchFamily="34" charset="-122"/>
                <a:cs typeface="Calibri" pitchFamily="34" charset="-120"/>
              </a:rPr>
              <a:t>Live backend + real vendor integration, piloted in a single hostel block first</a:t>
            </a:r>
            <a:endParaRPr lang="en-US" sz="1400" dirty="0"/>
          </a:p>
        </p:txBody>
      </p:sp>
      <p:sp>
        <p:nvSpPr>
          <p:cNvPr id="14" name="Text 12"/>
          <p:cNvSpPr txBox="1"/>
          <p:nvPr/>
        </p:nvSpPr>
        <p:spPr>
          <a:xfrm>
            <a:off x="640080" y="5303520"/>
            <a:ext cx="731520" cy="548640"/>
          </a:xfrm>
          <a:prstGeom prst="rect">
            <a:avLst/>
          </a:prstGeom>
          <a:noFill/>
          <a:ln/>
        </p:spPr>
        <p:txBody>
          <a:bodyPr wrap="square" rtlCol="0" anchor="ctr"/>
          <a:lstStyle/>
          <a:p>
            <a:pPr indent="0" marL="0">
              <a:buNone/>
            </a:pPr>
            <a:r>
              <a:rPr lang="en-US" sz="1800" b="1" dirty="0">
                <a:solidFill>
                  <a:srgbClr val="D9503F"/>
                </a:solidFill>
                <a:latin typeface="Calibri" pitchFamily="34" charset="0"/>
                <a:ea typeface="Calibri" pitchFamily="34" charset="-122"/>
                <a:cs typeface="Calibri" pitchFamily="34" charset="-120"/>
              </a:rPr>
              <a:t>06</a:t>
            </a:r>
            <a:endParaRPr lang="en-US" sz="1800" dirty="0"/>
          </a:p>
        </p:txBody>
      </p:sp>
      <p:sp>
        <p:nvSpPr>
          <p:cNvPr id="15" name="Text 13"/>
          <p:cNvSpPr txBox="1"/>
          <p:nvPr/>
        </p:nvSpPr>
        <p:spPr>
          <a:xfrm>
            <a:off x="1417320" y="5321808"/>
            <a:ext cx="9966960" cy="548640"/>
          </a:xfrm>
          <a:prstGeom prst="rect">
            <a:avLst/>
          </a:prstGeom>
          <a:noFill/>
          <a:ln/>
        </p:spPr>
        <p:txBody>
          <a:bodyPr wrap="square" rtlCol="0" anchor="ctr"/>
          <a:lstStyle/>
          <a:p>
            <a:pPr indent="0" marL="0">
              <a:buNone/>
            </a:pPr>
            <a:r>
              <a:rPr lang="en-US" sz="1400" dirty="0">
                <a:solidFill>
                  <a:srgbClr val="1A1A1A"/>
                </a:solidFill>
                <a:latin typeface="Calibri" pitchFamily="34" charset="0"/>
                <a:ea typeface="Calibri" pitchFamily="34" charset="-122"/>
                <a:cs typeface="Calibri" pitchFamily="34" charset="-120"/>
              </a:rPr>
              <a:t>Formal pursuit of FSSAI Eat Right Campus certification for VIT</a:t>
            </a:r>
            <a:endParaRPr lang="en-US" sz="1400" dirty="0"/>
          </a:p>
        </p:txBody>
      </p:sp>
      <p:sp>
        <p:nvSpPr>
          <p:cNvPr id="16" name="Text 14"/>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3D28"/>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rtlCol="0" anchor="ctr"/>
          <a:lstStyle/>
          <a:p>
            <a:pPr indent="0" marL="0">
              <a:buNone/>
            </a:pPr>
            <a:r>
              <a:rPr lang="en-US" sz="1200" b="1" spc="200" kern="0" dirty="0">
                <a:solidFill>
                  <a:srgbClr val="F2A691"/>
                </a:solidFill>
                <a:latin typeface="Calibri" pitchFamily="34" charset="0"/>
                <a:ea typeface="Calibri" pitchFamily="34" charset="-122"/>
                <a:cs typeface="Calibri" pitchFamily="34" charset="-120"/>
              </a:rPr>
              <a:t>ADDITIONAL MATERIALS</a:t>
            </a:r>
            <a:endParaRPr lang="en-US" sz="1200" dirty="0"/>
          </a:p>
        </p:txBody>
      </p:sp>
      <p:sp>
        <p:nvSpPr>
          <p:cNvPr id="3" name="Text 1"/>
          <p:cNvSpPr txBox="1"/>
          <p:nvPr/>
        </p:nvSpPr>
        <p:spPr>
          <a:xfrm>
            <a:off x="640080" y="749808"/>
            <a:ext cx="10881360" cy="685800"/>
          </a:xfrm>
          <a:prstGeom prst="rect">
            <a:avLst/>
          </a:prstGeom>
          <a:noFill/>
          <a:ln/>
        </p:spPr>
        <p:txBody>
          <a:bodyPr wrap="square"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Everything behind this pitch</a:t>
            </a:r>
            <a:endParaRPr lang="en-US" sz="3000" dirty="0"/>
          </a:p>
        </p:txBody>
      </p:sp>
      <p:sp>
        <p:nvSpPr>
          <p:cNvPr id="4" name="Text 2"/>
          <p:cNvSpPr txBox="1"/>
          <p:nvPr/>
        </p:nvSpPr>
        <p:spPr>
          <a:xfrm>
            <a:off x="640080" y="1965960"/>
            <a:ext cx="2926080" cy="457200"/>
          </a:xfrm>
          <a:prstGeom prst="rect">
            <a:avLst/>
          </a:prstGeom>
          <a:noFill/>
          <a:ln/>
        </p:spPr>
        <p:txBody>
          <a:bodyPr wrap="square" rtlCol="0" anchor="ctr"/>
          <a:lstStyle/>
          <a:p>
            <a:pPr indent="0" marL="0">
              <a:buNone/>
            </a:pPr>
            <a:r>
              <a:rPr lang="en-US" sz="1350" b="1" dirty="0">
                <a:solidFill>
                  <a:srgbClr val="F2A691"/>
                </a:solidFill>
                <a:latin typeface="Calibri" pitchFamily="34" charset="0"/>
                <a:ea typeface="Calibri" pitchFamily="34" charset="-122"/>
                <a:cs typeface="Calibri" pitchFamily="34" charset="-120"/>
              </a:rPr>
              <a:t>Live demo:</a:t>
            </a:r>
            <a:endParaRPr lang="en-US" sz="1350" dirty="0"/>
          </a:p>
        </p:txBody>
      </p:sp>
      <p:sp>
        <p:nvSpPr>
          <p:cNvPr id="5" name="Text 3"/>
          <p:cNvSpPr txBox="1"/>
          <p:nvPr/>
        </p:nvSpPr>
        <p:spPr>
          <a:xfrm>
            <a:off x="3611880" y="1965960"/>
            <a:ext cx="7863840" cy="457200"/>
          </a:xfrm>
          <a:prstGeom prst="rect">
            <a:avLst/>
          </a:prstGeom>
          <a:noFill/>
          <a:ln/>
        </p:spPr>
        <p:txBody>
          <a:bodyPr wrap="square" rtlCol="0" anchor="ctr"/>
          <a:lstStyle/>
          <a:p>
            <a:pPr indent="0" marL="0">
              <a:buNone/>
            </a:pPr>
            <a:r>
              <a:rPr lang="en-US" sz="1300" dirty="0">
                <a:solidFill>
                  <a:srgbClr val="E7EFEA"/>
                </a:solidFill>
                <a:latin typeface="Calibri" pitchFamily="34" charset="0"/>
                <a:ea typeface="Calibri" pitchFamily="34" charset="-122"/>
                <a:cs typeface="Calibri" pitchFamily="34" charset="-120"/>
              </a:rPr>
              <a:t>coder1234a.github.io/ThaliMetrics/app/</a:t>
            </a:r>
            <a:endParaRPr lang="en-US" sz="1300" dirty="0"/>
          </a:p>
        </p:txBody>
      </p:sp>
      <p:sp>
        <p:nvSpPr>
          <p:cNvPr id="6" name="Text 4"/>
          <p:cNvSpPr txBox="1"/>
          <p:nvPr/>
        </p:nvSpPr>
        <p:spPr>
          <a:xfrm>
            <a:off x="640080" y="2624328"/>
            <a:ext cx="2926080" cy="457200"/>
          </a:xfrm>
          <a:prstGeom prst="rect">
            <a:avLst/>
          </a:prstGeom>
          <a:noFill/>
          <a:ln/>
        </p:spPr>
        <p:txBody>
          <a:bodyPr wrap="square" rtlCol="0" anchor="ctr"/>
          <a:lstStyle/>
          <a:p>
            <a:pPr indent="0" marL="0">
              <a:buNone/>
            </a:pPr>
            <a:r>
              <a:rPr lang="en-US" sz="1350" b="1" dirty="0">
                <a:solidFill>
                  <a:srgbClr val="F2A691"/>
                </a:solidFill>
                <a:latin typeface="Calibri" pitchFamily="34" charset="0"/>
                <a:ea typeface="Calibri" pitchFamily="34" charset="-122"/>
                <a:cs typeface="Calibri" pitchFamily="34" charset="-120"/>
              </a:rPr>
              <a:t>Source code:</a:t>
            </a:r>
            <a:endParaRPr lang="en-US" sz="1350" dirty="0"/>
          </a:p>
        </p:txBody>
      </p:sp>
      <p:sp>
        <p:nvSpPr>
          <p:cNvPr id="7" name="Text 5"/>
          <p:cNvSpPr txBox="1"/>
          <p:nvPr/>
        </p:nvSpPr>
        <p:spPr>
          <a:xfrm>
            <a:off x="3611880" y="2624328"/>
            <a:ext cx="7863840" cy="457200"/>
          </a:xfrm>
          <a:prstGeom prst="rect">
            <a:avLst/>
          </a:prstGeom>
          <a:noFill/>
          <a:ln/>
        </p:spPr>
        <p:txBody>
          <a:bodyPr wrap="square" rtlCol="0" anchor="ctr"/>
          <a:lstStyle/>
          <a:p>
            <a:pPr indent="0" marL="0">
              <a:buNone/>
            </a:pPr>
            <a:r>
              <a:rPr lang="en-US" sz="1300" dirty="0">
                <a:solidFill>
                  <a:srgbClr val="E7EFEA"/>
                </a:solidFill>
                <a:latin typeface="Calibri" pitchFamily="34" charset="0"/>
                <a:ea typeface="Calibri" pitchFamily="34" charset="-122"/>
                <a:cs typeface="Calibri" pitchFamily="34" charset="-120"/>
              </a:rPr>
              <a:t>github.com/Coder1234a/ThaliMetrics</a:t>
            </a:r>
            <a:endParaRPr lang="en-US" sz="1300" dirty="0"/>
          </a:p>
        </p:txBody>
      </p:sp>
      <p:sp>
        <p:nvSpPr>
          <p:cNvPr id="8" name="Text 6"/>
          <p:cNvSpPr txBox="1"/>
          <p:nvPr/>
        </p:nvSpPr>
        <p:spPr>
          <a:xfrm>
            <a:off x="640080" y="3282696"/>
            <a:ext cx="2926080" cy="457200"/>
          </a:xfrm>
          <a:prstGeom prst="rect">
            <a:avLst/>
          </a:prstGeom>
          <a:noFill/>
          <a:ln/>
        </p:spPr>
        <p:txBody>
          <a:bodyPr wrap="square" rtlCol="0" anchor="ctr"/>
          <a:lstStyle/>
          <a:p>
            <a:pPr indent="0" marL="0">
              <a:buNone/>
            </a:pPr>
            <a:r>
              <a:rPr lang="en-US" sz="1350" b="1" dirty="0">
                <a:solidFill>
                  <a:srgbClr val="F2A691"/>
                </a:solidFill>
                <a:latin typeface="Calibri" pitchFamily="34" charset="0"/>
                <a:ea typeface="Calibri" pitchFamily="34" charset="-122"/>
                <a:cs typeface="Calibri" pitchFamily="34" charset="-120"/>
              </a:rPr>
              <a:t>Project brief (PDF):</a:t>
            </a:r>
            <a:endParaRPr lang="en-US" sz="1350" dirty="0"/>
          </a:p>
        </p:txBody>
      </p:sp>
      <p:sp>
        <p:nvSpPr>
          <p:cNvPr id="9" name="Text 7"/>
          <p:cNvSpPr txBox="1"/>
          <p:nvPr/>
        </p:nvSpPr>
        <p:spPr>
          <a:xfrm>
            <a:off x="3611880" y="3282696"/>
            <a:ext cx="7863840" cy="457200"/>
          </a:xfrm>
          <a:prstGeom prst="rect">
            <a:avLst/>
          </a:prstGeom>
          <a:noFill/>
          <a:ln/>
        </p:spPr>
        <p:txBody>
          <a:bodyPr wrap="square" rtlCol="0" anchor="ctr"/>
          <a:lstStyle/>
          <a:p>
            <a:pPr indent="0" marL="0">
              <a:buNone/>
            </a:pPr>
            <a:r>
              <a:rPr lang="en-US" sz="1300" dirty="0">
                <a:solidFill>
                  <a:srgbClr val="E7EFEA"/>
                </a:solidFill>
                <a:latin typeface="Calibri" pitchFamily="34" charset="0"/>
                <a:ea typeface="Calibri" pitchFamily="34" charset="-122"/>
                <a:cs typeface="Calibri" pitchFamily="34" charset="-120"/>
              </a:rPr>
              <a:t>docs/ThaliMetrics_Brief.pdf</a:t>
            </a:r>
            <a:endParaRPr lang="en-US" sz="1300" dirty="0"/>
          </a:p>
        </p:txBody>
      </p:sp>
      <p:sp>
        <p:nvSpPr>
          <p:cNvPr id="10" name="Text 8"/>
          <p:cNvSpPr txBox="1"/>
          <p:nvPr/>
        </p:nvSpPr>
        <p:spPr>
          <a:xfrm>
            <a:off x="640080" y="3941064"/>
            <a:ext cx="2926080" cy="457200"/>
          </a:xfrm>
          <a:prstGeom prst="rect">
            <a:avLst/>
          </a:prstGeom>
          <a:noFill/>
          <a:ln/>
        </p:spPr>
        <p:txBody>
          <a:bodyPr wrap="square" rtlCol="0" anchor="ctr"/>
          <a:lstStyle/>
          <a:p>
            <a:pPr indent="0" marL="0">
              <a:buNone/>
            </a:pPr>
            <a:r>
              <a:rPr lang="en-US" sz="1350" b="1" dirty="0">
                <a:solidFill>
                  <a:srgbClr val="F2A691"/>
                </a:solidFill>
                <a:latin typeface="Calibri" pitchFamily="34" charset="0"/>
                <a:ea typeface="Calibri" pitchFamily="34" charset="-122"/>
                <a:cs typeface="Calibri" pitchFamily="34" charset="-120"/>
              </a:rPr>
              <a:t>Research reference (PDF):</a:t>
            </a:r>
            <a:endParaRPr lang="en-US" sz="1350" dirty="0"/>
          </a:p>
        </p:txBody>
      </p:sp>
      <p:sp>
        <p:nvSpPr>
          <p:cNvPr id="11" name="Text 9"/>
          <p:cNvSpPr txBox="1"/>
          <p:nvPr/>
        </p:nvSpPr>
        <p:spPr>
          <a:xfrm>
            <a:off x="3611880" y="3941064"/>
            <a:ext cx="7863840" cy="457200"/>
          </a:xfrm>
          <a:prstGeom prst="rect">
            <a:avLst/>
          </a:prstGeom>
          <a:noFill/>
          <a:ln/>
        </p:spPr>
        <p:txBody>
          <a:bodyPr wrap="square" rtlCol="0" anchor="ctr"/>
          <a:lstStyle/>
          <a:p>
            <a:pPr indent="0" marL="0">
              <a:buNone/>
            </a:pPr>
            <a:r>
              <a:rPr lang="en-US" sz="1300" dirty="0">
                <a:solidFill>
                  <a:srgbClr val="E7EFEA"/>
                </a:solidFill>
                <a:latin typeface="Calibri" pitchFamily="34" charset="0"/>
                <a:ea typeface="Calibri" pitchFamily="34" charset="-122"/>
                <a:cs typeface="Calibri" pitchFamily="34" charset="-120"/>
              </a:rPr>
              <a:t>docs/RESEARCH_REFERENCE.pdf — FSSAI + ICMR-NIN sourcing</a:t>
            </a:r>
            <a:endParaRPr lang="en-US" sz="1300" dirty="0"/>
          </a:p>
        </p:txBody>
      </p:sp>
      <p:sp>
        <p:nvSpPr>
          <p:cNvPr id="12" name="Text 10"/>
          <p:cNvSpPr txBox="1"/>
          <p:nvPr/>
        </p:nvSpPr>
        <p:spPr>
          <a:xfrm>
            <a:off x="640080" y="4599432"/>
            <a:ext cx="2926080" cy="457200"/>
          </a:xfrm>
          <a:prstGeom prst="rect">
            <a:avLst/>
          </a:prstGeom>
          <a:noFill/>
          <a:ln/>
        </p:spPr>
        <p:txBody>
          <a:bodyPr wrap="square" rtlCol="0" anchor="ctr"/>
          <a:lstStyle/>
          <a:p>
            <a:pPr indent="0" marL="0">
              <a:buNone/>
            </a:pPr>
            <a:r>
              <a:rPr lang="en-US" sz="1350" b="1" dirty="0">
                <a:solidFill>
                  <a:srgbClr val="F2A691"/>
                </a:solidFill>
                <a:latin typeface="Calibri" pitchFamily="34" charset="0"/>
                <a:ea typeface="Calibri" pitchFamily="34" charset="-122"/>
                <a:cs typeface="Calibri" pitchFamily="34" charset="-120"/>
              </a:rPr>
              <a:t>Competitive analysis:</a:t>
            </a:r>
            <a:endParaRPr lang="en-US" sz="1350" dirty="0"/>
          </a:p>
        </p:txBody>
      </p:sp>
      <p:sp>
        <p:nvSpPr>
          <p:cNvPr id="13" name="Text 11"/>
          <p:cNvSpPr txBox="1"/>
          <p:nvPr/>
        </p:nvSpPr>
        <p:spPr>
          <a:xfrm>
            <a:off x="3611880" y="4599432"/>
            <a:ext cx="7863840" cy="457200"/>
          </a:xfrm>
          <a:prstGeom prst="rect">
            <a:avLst/>
          </a:prstGeom>
          <a:noFill/>
          <a:ln/>
        </p:spPr>
        <p:txBody>
          <a:bodyPr wrap="square" rtlCol="0" anchor="ctr"/>
          <a:lstStyle/>
          <a:p>
            <a:pPr indent="0" marL="0">
              <a:buNone/>
            </a:pPr>
            <a:r>
              <a:rPr lang="en-US" sz="1300" dirty="0">
                <a:solidFill>
                  <a:srgbClr val="E7EFEA"/>
                </a:solidFill>
                <a:latin typeface="Calibri" pitchFamily="34" charset="0"/>
                <a:ea typeface="Calibri" pitchFamily="34" charset="-122"/>
                <a:cs typeface="Calibri" pitchFamily="34" charset="-120"/>
              </a:rPr>
              <a:t>docs/COMPETITIVE_ANALYSIS.md — HealthifyMe, Leanpath, Winnow</a:t>
            </a:r>
            <a:endParaRPr lang="en-US" sz="1300" dirty="0"/>
          </a:p>
        </p:txBody>
      </p:sp>
      <p:sp>
        <p:nvSpPr>
          <p:cNvPr id="14" name="Text 12"/>
          <p:cNvSpPr txBox="1"/>
          <p:nvPr/>
        </p:nvSpPr>
        <p:spPr>
          <a:xfrm>
            <a:off x="640080" y="5257800"/>
            <a:ext cx="2926080" cy="457200"/>
          </a:xfrm>
          <a:prstGeom prst="rect">
            <a:avLst/>
          </a:prstGeom>
          <a:noFill/>
          <a:ln/>
        </p:spPr>
        <p:txBody>
          <a:bodyPr wrap="square" rtlCol="0" anchor="ctr"/>
          <a:lstStyle/>
          <a:p>
            <a:pPr indent="0" marL="0">
              <a:buNone/>
            </a:pPr>
            <a:r>
              <a:rPr lang="en-US" sz="1350" b="1" dirty="0">
                <a:solidFill>
                  <a:srgbClr val="F2A691"/>
                </a:solidFill>
                <a:latin typeface="Calibri" pitchFamily="34" charset="0"/>
                <a:ea typeface="Calibri" pitchFamily="34" charset="-122"/>
                <a:cs typeface="Calibri" pitchFamily="34" charset="-120"/>
              </a:rPr>
              <a:t>Decision log:</a:t>
            </a:r>
            <a:endParaRPr lang="en-US" sz="1350" dirty="0"/>
          </a:p>
        </p:txBody>
      </p:sp>
      <p:sp>
        <p:nvSpPr>
          <p:cNvPr id="15" name="Text 13"/>
          <p:cNvSpPr txBox="1"/>
          <p:nvPr/>
        </p:nvSpPr>
        <p:spPr>
          <a:xfrm>
            <a:off x="3611880" y="5257800"/>
            <a:ext cx="7863840" cy="457200"/>
          </a:xfrm>
          <a:prstGeom prst="rect">
            <a:avLst/>
          </a:prstGeom>
          <a:noFill/>
          <a:ln/>
        </p:spPr>
        <p:txBody>
          <a:bodyPr wrap="square" rtlCol="0" anchor="ctr"/>
          <a:lstStyle/>
          <a:p>
            <a:pPr indent="0" marL="0">
              <a:buNone/>
            </a:pPr>
            <a:r>
              <a:rPr lang="en-US" sz="1300" dirty="0">
                <a:solidFill>
                  <a:srgbClr val="E7EFEA"/>
                </a:solidFill>
                <a:latin typeface="Calibri" pitchFamily="34" charset="0"/>
                <a:ea typeface="Calibri" pitchFamily="34" charset="-122"/>
                <a:cs typeface="Calibri" pitchFamily="34" charset="-120"/>
              </a:rPr>
              <a:t>DECISIONS.md — every design call, and why</a:t>
            </a:r>
            <a:endParaRPr lang="en-US" sz="1300" dirty="0"/>
          </a:p>
        </p:txBody>
      </p:sp>
      <p:sp>
        <p:nvSpPr>
          <p:cNvPr id="16" name="Text 14"/>
          <p:cNvSpPr/>
          <p:nvPr/>
        </p:nvSpPr>
        <p:spPr>
          <a:xfrm>
            <a:off x="11475720" y="6446520"/>
            <a:ext cx="457200" cy="274320"/>
          </a:xfrm>
          <a:prstGeom prst="rect">
            <a:avLst/>
          </a:prstGeom>
          <a:noFill/>
          <a:ln/>
        </p:spPr>
        <p:txBody>
          <a:bodyPr wrap="square"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2026-09-04T08:28:39Z</dcterms:created>
  <dcterms:modified xsi:type="dcterms:W3CDTF">2026-09-04T08:28:39Z</dcterms:modified>
</cp:coreProperties>
</file>