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3D28"/>
        </a:solidFill>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163D28"/>
          </a:solidFill>
          <a:ln/>
        </p:spPr>
      </p:sp>
      <p:sp>
        <p:nvSpPr>
          <p:cNvPr id="3" name="Text 1"/>
          <p:cNvSpPr txBox="1"/>
          <p:nvPr/>
        </p:nvSpPr>
        <p:spPr>
          <a:xfrm>
            <a:off x="822960" y="822960"/>
            <a:ext cx="9144000" cy="365760"/>
          </a:xfrm>
          <a:prstGeom prst="rect">
            <a:avLst/>
          </a:prstGeom>
          <a:noFill/>
          <a:ln/>
        </p:spPr>
        <p:txBody>
          <a:bodyPr wrap="square" rtlCol="0" anchor="ctr"/>
          <a:lstStyle/>
          <a:p>
            <a:pPr indent="0" marL="0">
              <a:buNone/>
            </a:pPr>
            <a:r>
              <a:rPr lang="en-US" sz="1400" b="1" spc="200" kern="0" dirty="0">
                <a:solidFill>
                  <a:srgbClr val="CFE3D5"/>
                </a:solidFill>
                <a:latin typeface="Calibri" pitchFamily="34" charset="0"/>
                <a:ea typeface="Calibri" pitchFamily="34" charset="-122"/>
                <a:cs typeface="Calibri" pitchFamily="34" charset="-120"/>
              </a:rPr>
              <a:t>NUTRIHACK · NUTRITION WEEK 2026 · VIT VELLORE</a:t>
            </a:r>
            <a:endParaRPr lang="en-US" sz="1400" dirty="0"/>
          </a:p>
        </p:txBody>
      </p:sp>
      <p:sp>
        <p:nvSpPr>
          <p:cNvPr id="4" name="Shape 2"/>
          <p:cNvSpPr/>
          <p:nvPr/>
        </p:nvSpPr>
        <p:spPr>
          <a:xfrm>
            <a:off x="822960" y="2148840"/>
            <a:ext cx="5577840" cy="1463040"/>
          </a:xfrm>
          <a:prstGeom prst="roundRect">
            <a:avLst>
              <a:gd name="adj" fmla="val 7500"/>
            </a:avLst>
          </a:prstGeom>
          <a:solidFill>
            <a:srgbClr val="FFFFFF"/>
          </a:solidFill>
          <a:ln/>
        </p:spPr>
      </p:sp>
      <p:pic>
        <p:nvPicPr>
          <p:cNvPr id="5" name="Image 0" descr="assets/wordmark.png">    </p:cNvPr>
          <p:cNvPicPr>
            <a:picLocks noChangeAspect="1"/>
          </p:cNvPicPr>
          <p:nvPr/>
        </p:nvPicPr>
        <p:blipFill>
          <a:blip r:embed="rId1"/>
          <a:stretch>
            <a:fillRect/>
          </a:stretch>
        </p:blipFill>
        <p:spPr>
          <a:xfrm>
            <a:off x="1188720" y="2450592"/>
            <a:ext cx="4846320" cy="859536"/>
          </a:xfrm>
          <a:prstGeom prst="rect">
            <a:avLst/>
          </a:prstGeom>
        </p:spPr>
      </p:pic>
      <p:sp>
        <p:nvSpPr>
          <p:cNvPr id="6" name="Text 3"/>
          <p:cNvSpPr txBox="1"/>
          <p:nvPr/>
        </p:nvSpPr>
        <p:spPr>
          <a:xfrm>
            <a:off x="822960" y="3977640"/>
            <a:ext cx="8229600" cy="1371600"/>
          </a:xfrm>
          <a:prstGeom prst="rect">
            <a:avLst/>
          </a:prstGeom>
          <a:noFill/>
          <a:ln/>
        </p:spPr>
        <p:txBody>
          <a:bodyPr wrap="square" rtlCol="0" anchor="ctr"/>
          <a:lstStyle/>
          <a:p>
            <a:pPr indent="0" marL="0">
              <a:lnSpc>
                <a:spcPct val="120000"/>
              </a:lnSpc>
              <a:buNone/>
            </a:pPr>
            <a:r>
              <a:rPr lang="en-US" sz="2400" i="1" dirty="0">
                <a:solidFill>
                  <a:srgbClr val="CFE3D5"/>
                </a:solidFill>
                <a:latin typeface="Calibri" pitchFamily="34" charset="0"/>
                <a:ea typeface="Calibri" pitchFamily="34" charset="-122"/>
                <a:cs typeface="Calibri" pitchFamily="34" charset="-120"/>
              </a:rPr>
              <a:t>Smarter plates. </a:t>
            </a:r>
            <a:endParaRPr lang="en-US" sz="2400" dirty="0"/>
          </a:p>
          <a:p>
            <a:pPr indent="0" marL="0">
              <a:lnSpc>
                <a:spcPct val="120000"/>
              </a:lnSpc>
              <a:buNone/>
            </a:pPr>
            <a:r>
              <a:rPr lang="en-US" sz="2400" i="1" dirty="0">
                <a:solidFill>
                  <a:srgbClr val="CFE3D5"/>
                </a:solidFill>
                <a:latin typeface="Calibri" pitchFamily="34" charset="0"/>
                <a:ea typeface="Calibri" pitchFamily="34" charset="-122"/>
                <a:cs typeface="Calibri" pitchFamily="34" charset="-120"/>
              </a:rPr>
              <a:t>Healthier students. </a:t>
            </a:r>
            <a:endParaRPr lang="en-US" sz="2400" dirty="0"/>
          </a:p>
          <a:p>
            <a:pPr indent="0" marL="0">
              <a:lnSpc>
                <a:spcPct val="120000"/>
              </a:lnSpc>
              <a:buNone/>
            </a:pPr>
            <a:r>
              <a:rPr lang="en-US" sz="2400" i="1" dirty="0">
                <a:solidFill>
                  <a:srgbClr val="CFE3D5"/>
                </a:solidFill>
                <a:latin typeface="Calibri" pitchFamily="34" charset="0"/>
                <a:ea typeface="Calibri" pitchFamily="34" charset="-122"/>
                <a:cs typeface="Calibri" pitchFamily="34" charset="-120"/>
              </a:rPr>
              <a:t>Less wastage.</a:t>
            </a:r>
            <a:endParaRPr lang="en-US" sz="2400" dirty="0"/>
          </a:p>
        </p:txBody>
      </p:sp>
      <p:sp>
        <p:nvSpPr>
          <p:cNvPr id="7" name="Text 4"/>
          <p:cNvSpPr txBox="1"/>
          <p:nvPr/>
        </p:nvSpPr>
        <p:spPr>
          <a:xfrm>
            <a:off x="822960" y="5760720"/>
            <a:ext cx="8778240" cy="731520"/>
          </a:xfrm>
          <a:prstGeom prst="rect">
            <a:avLst/>
          </a:prstGeom>
          <a:noFill/>
          <a:ln/>
        </p:spPr>
        <p:txBody>
          <a:bodyPr wrap="square" rtlCol="0" anchor="ctr"/>
          <a:lstStyle/>
          <a:p>
            <a:pPr indent="0" marL="0">
              <a:lnSpc>
                <a:spcPct val="130000"/>
              </a:lnSpc>
              <a:buNone/>
            </a:pPr>
            <a:r>
              <a:rPr lang="en-US" sz="1450" dirty="0">
                <a:solidFill>
                  <a:srgbClr val="E7EFEA"/>
                </a:solidFill>
                <a:latin typeface="Calibri" pitchFamily="34" charset="0"/>
                <a:ea typeface="Calibri" pitchFamily="34" charset="-122"/>
                <a:cs typeface="Calibri" pitchFamily="34" charset="-120"/>
              </a:rPr>
              <a:t>A tap-and-log platform that gives hostel students a real nutrition picture</a:t>
            </a:r>
            <a:endParaRPr lang="en-US" sz="1450" dirty="0"/>
          </a:p>
          <a:p>
            <a:pPr indent="0" marL="0">
              <a:lnSpc>
                <a:spcPct val="130000"/>
              </a:lnSpc>
              <a:buNone/>
            </a:pPr>
            <a:r>
              <a:rPr lang="en-US" sz="1450" dirty="0">
                <a:solidFill>
                  <a:srgbClr val="E7EFEA"/>
                </a:solidFill>
                <a:latin typeface="Calibri" pitchFamily="34" charset="0"/>
                <a:ea typeface="Calibri" pitchFamily="34" charset="-122"/>
                <a:cs typeface="Calibri" pitchFamily="34" charset="-120"/>
              </a:rPr>
              <a:t>and gives mess kitchens a real waste picture — from the same five-second tap.</a:t>
            </a:r>
            <a:endParaRPr lang="en-US" sz="14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38912"/>
            <a:ext cx="8229600" cy="365760"/>
          </a:xfrm>
          <a:prstGeom prst="rect">
            <a:avLst/>
          </a:prstGeom>
          <a:noFill/>
          <a:ln/>
        </p:spPr>
        <p:txBody>
          <a:bodyPr wrap="square" rtlCol="0" anchor="ctr"/>
          <a:lstStyle/>
          <a:p>
            <a:pPr indent="0" marL="0">
              <a:buNone/>
            </a:pPr>
            <a:r>
              <a:rPr lang="en-US" sz="1400" b="1" spc="200" kern="0" dirty="0">
                <a:solidFill>
                  <a:srgbClr val="D9503F"/>
                </a:solidFill>
                <a:latin typeface="Calibri" pitchFamily="34" charset="0"/>
                <a:ea typeface="Calibri" pitchFamily="34" charset="-122"/>
                <a:cs typeface="Calibri" pitchFamily="34" charset="-120"/>
              </a:rPr>
              <a:t>02 · TEAM DETAILS</a:t>
            </a:r>
            <a:endParaRPr lang="en-US" sz="1400" dirty="0"/>
          </a:p>
        </p:txBody>
      </p:sp>
      <p:sp>
        <p:nvSpPr>
          <p:cNvPr id="3" name="Text 1"/>
          <p:cNvSpPr txBox="1"/>
          <p:nvPr/>
        </p:nvSpPr>
        <p:spPr>
          <a:xfrm>
            <a:off x="640080" y="786384"/>
            <a:ext cx="10881360" cy="777240"/>
          </a:xfrm>
          <a:prstGeom prst="rect">
            <a:avLst/>
          </a:prstGeom>
          <a:noFill/>
          <a:ln/>
        </p:spPr>
        <p:txBody>
          <a:bodyPr wrap="square" rtlCol="0" anchor="ctr"/>
          <a:lstStyle/>
          <a:p>
            <a:pPr indent="0" marL="0">
              <a:buNone/>
            </a:pPr>
            <a:r>
              <a:rPr lang="en-US" sz="3600" b="1" dirty="0">
                <a:solidFill>
                  <a:srgbClr val="1A1A1A"/>
                </a:solidFill>
                <a:latin typeface="Calibri" pitchFamily="34" charset="0"/>
                <a:ea typeface="Calibri" pitchFamily="34" charset="-122"/>
                <a:cs typeface="Calibri" pitchFamily="34" charset="-120"/>
              </a:rPr>
              <a:t>Team [Your Team Name]</a:t>
            </a:r>
            <a:endParaRPr lang="en-US" sz="3600" dirty="0"/>
          </a:p>
        </p:txBody>
      </p:sp>
      <p:sp>
        <p:nvSpPr>
          <p:cNvPr id="4" name="Shape 2"/>
          <p:cNvSpPr/>
          <p:nvPr/>
        </p:nvSpPr>
        <p:spPr>
          <a:xfrm>
            <a:off x="640080" y="1783080"/>
            <a:ext cx="10881360" cy="4160520"/>
          </a:xfrm>
          <a:prstGeom prst="roundRect">
            <a:avLst>
              <a:gd name="adj" fmla="val 2637"/>
            </a:avLst>
          </a:prstGeom>
          <a:solidFill>
            <a:srgbClr val="F3F2EE"/>
          </a:solidFill>
          <a:ln/>
        </p:spPr>
      </p:sp>
      <p:sp>
        <p:nvSpPr>
          <p:cNvPr id="5" name="Text 3"/>
          <p:cNvSpPr txBox="1"/>
          <p:nvPr/>
        </p:nvSpPr>
        <p:spPr>
          <a:xfrm>
            <a:off x="1005840" y="2057400"/>
            <a:ext cx="5486400" cy="365760"/>
          </a:xfrm>
          <a:prstGeom prst="rect">
            <a:avLst/>
          </a:prstGeom>
          <a:noFill/>
          <a:ln/>
        </p:spPr>
        <p:txBody>
          <a:bodyPr wrap="square" rtlCol="0" anchor="ctr"/>
          <a:lstStyle/>
          <a:p>
            <a:pPr indent="0" marL="0">
              <a:buNone/>
            </a:pPr>
            <a:r>
              <a:rPr lang="en-US" sz="1450" b="1" dirty="0">
                <a:solidFill>
                  <a:srgbClr val="5C6B62"/>
                </a:solidFill>
                <a:latin typeface="Calibri" pitchFamily="34" charset="0"/>
                <a:ea typeface="Calibri" pitchFamily="34" charset="-122"/>
                <a:cs typeface="Calibri" pitchFamily="34" charset="-120"/>
              </a:rPr>
              <a:t>Fill in before submitting:</a:t>
            </a:r>
            <a:endParaRPr lang="en-US" sz="1450" dirty="0"/>
          </a:p>
        </p:txBody>
      </p:sp>
      <p:sp>
        <p:nvSpPr>
          <p:cNvPr id="6" name="Text 4"/>
          <p:cNvSpPr txBox="1"/>
          <p:nvPr/>
        </p:nvSpPr>
        <p:spPr>
          <a:xfrm>
            <a:off x="1005840" y="2560320"/>
            <a:ext cx="9966960" cy="438912"/>
          </a:xfrm>
          <a:prstGeom prst="rect">
            <a:avLst/>
          </a:prstGeom>
          <a:noFill/>
          <a:ln/>
        </p:spPr>
        <p:txBody>
          <a:bodyPr wrap="square" rtlCol="0" anchor="ctr"/>
          <a:lstStyle/>
          <a:p>
            <a:pPr indent="0" marL="0">
              <a:buNone/>
            </a:pPr>
            <a:r>
              <a:rPr lang="en-US" sz="1700" b="1" dirty="0">
                <a:solidFill>
                  <a:srgbClr val="1A1A1A"/>
                </a:solidFill>
                <a:latin typeface="Calibri" pitchFamily="34" charset="0"/>
                <a:ea typeface="Calibri" pitchFamily="34" charset="-122"/>
                <a:cs typeface="Calibri" pitchFamily="34" charset="-120"/>
              </a:rPr>
              <a:t>Team name:  </a:t>
            </a:r>
            <a:pPr indent="0" marL="0">
              <a:buNone/>
            </a:pPr>
            <a:r>
              <a:rPr lang="en-US" sz="1700" i="1" dirty="0">
                <a:solidFill>
                  <a:srgbClr val="5C6B62"/>
                </a:solidFill>
                <a:latin typeface="Calibri" pitchFamily="34" charset="0"/>
                <a:ea typeface="Calibri" pitchFamily="34" charset="-122"/>
                <a:cs typeface="Calibri" pitchFamily="34" charset="-120"/>
              </a:rPr>
              <a:t>[ fill in ]</a:t>
            </a:r>
            <a:endParaRPr lang="en-US" sz="1700" dirty="0"/>
          </a:p>
        </p:txBody>
      </p:sp>
      <p:sp>
        <p:nvSpPr>
          <p:cNvPr id="7" name="Text 5"/>
          <p:cNvSpPr txBox="1"/>
          <p:nvPr/>
        </p:nvSpPr>
        <p:spPr>
          <a:xfrm>
            <a:off x="1005840" y="3063240"/>
            <a:ext cx="9966960" cy="438912"/>
          </a:xfrm>
          <a:prstGeom prst="rect">
            <a:avLst/>
          </a:prstGeom>
          <a:noFill/>
          <a:ln/>
        </p:spPr>
        <p:txBody>
          <a:bodyPr wrap="square" rtlCol="0" anchor="ctr"/>
          <a:lstStyle/>
          <a:p>
            <a:pPr indent="0" marL="0">
              <a:buNone/>
            </a:pPr>
            <a:r>
              <a:rPr lang="en-US" sz="1700" b="1" dirty="0">
                <a:solidFill>
                  <a:srgbClr val="1A1A1A"/>
                </a:solidFill>
                <a:latin typeface="Calibri" pitchFamily="34" charset="0"/>
                <a:ea typeface="Calibri" pitchFamily="34" charset="-122"/>
                <a:cs typeface="Calibri" pitchFamily="34" charset="-120"/>
              </a:rPr>
              <a:t>Team member 1 — role:  </a:t>
            </a:r>
            <a:pPr indent="0" marL="0">
              <a:buNone/>
            </a:pPr>
            <a:r>
              <a:rPr lang="en-US" sz="1700" i="1" dirty="0">
                <a:solidFill>
                  <a:srgbClr val="5C6B62"/>
                </a:solidFill>
                <a:latin typeface="Calibri" pitchFamily="34" charset="0"/>
                <a:ea typeface="Calibri" pitchFamily="34" charset="-122"/>
                <a:cs typeface="Calibri" pitchFamily="34" charset="-120"/>
              </a:rPr>
              <a:t>[ fill in ]</a:t>
            </a:r>
            <a:endParaRPr lang="en-US" sz="1700" dirty="0"/>
          </a:p>
        </p:txBody>
      </p:sp>
      <p:sp>
        <p:nvSpPr>
          <p:cNvPr id="8" name="Text 6"/>
          <p:cNvSpPr txBox="1"/>
          <p:nvPr/>
        </p:nvSpPr>
        <p:spPr>
          <a:xfrm>
            <a:off x="1005840" y="3566160"/>
            <a:ext cx="9966960" cy="438912"/>
          </a:xfrm>
          <a:prstGeom prst="rect">
            <a:avLst/>
          </a:prstGeom>
          <a:noFill/>
          <a:ln/>
        </p:spPr>
        <p:txBody>
          <a:bodyPr wrap="square" rtlCol="0" anchor="ctr"/>
          <a:lstStyle/>
          <a:p>
            <a:pPr indent="0" marL="0">
              <a:buNone/>
            </a:pPr>
            <a:r>
              <a:rPr lang="en-US" sz="1700" b="1" dirty="0">
                <a:solidFill>
                  <a:srgbClr val="1A1A1A"/>
                </a:solidFill>
                <a:latin typeface="Calibri" pitchFamily="34" charset="0"/>
                <a:ea typeface="Calibri" pitchFamily="34" charset="-122"/>
                <a:cs typeface="Calibri" pitchFamily="34" charset="-120"/>
              </a:rPr>
              <a:t>Team member 2 — role:  </a:t>
            </a:r>
            <a:pPr indent="0" marL="0">
              <a:buNone/>
            </a:pPr>
            <a:r>
              <a:rPr lang="en-US" sz="1700" i="1" dirty="0">
                <a:solidFill>
                  <a:srgbClr val="5C6B62"/>
                </a:solidFill>
                <a:latin typeface="Calibri" pitchFamily="34" charset="0"/>
                <a:ea typeface="Calibri" pitchFamily="34" charset="-122"/>
                <a:cs typeface="Calibri" pitchFamily="34" charset="-120"/>
              </a:rPr>
              <a:t>[ fill in ]</a:t>
            </a:r>
            <a:endParaRPr lang="en-US" sz="1700" dirty="0"/>
          </a:p>
        </p:txBody>
      </p:sp>
      <p:sp>
        <p:nvSpPr>
          <p:cNvPr id="9" name="Text 7"/>
          <p:cNvSpPr txBox="1"/>
          <p:nvPr/>
        </p:nvSpPr>
        <p:spPr>
          <a:xfrm>
            <a:off x="1005840" y="4069080"/>
            <a:ext cx="9966960" cy="438912"/>
          </a:xfrm>
          <a:prstGeom prst="rect">
            <a:avLst/>
          </a:prstGeom>
          <a:noFill/>
          <a:ln/>
        </p:spPr>
        <p:txBody>
          <a:bodyPr wrap="square" rtlCol="0" anchor="ctr"/>
          <a:lstStyle/>
          <a:p>
            <a:pPr indent="0" marL="0">
              <a:buNone/>
            </a:pPr>
            <a:r>
              <a:rPr lang="en-US" sz="1700" b="1" dirty="0">
                <a:solidFill>
                  <a:srgbClr val="1A1A1A"/>
                </a:solidFill>
                <a:latin typeface="Calibri" pitchFamily="34" charset="0"/>
                <a:ea typeface="Calibri" pitchFamily="34" charset="-122"/>
                <a:cs typeface="Calibri" pitchFamily="34" charset="-120"/>
              </a:rPr>
              <a:t>Team member 3 — role:  </a:t>
            </a:r>
            <a:pPr indent="0" marL="0">
              <a:buNone/>
            </a:pPr>
            <a:r>
              <a:rPr lang="en-US" sz="1700" i="1" dirty="0">
                <a:solidFill>
                  <a:srgbClr val="5C6B62"/>
                </a:solidFill>
                <a:latin typeface="Calibri" pitchFamily="34" charset="0"/>
                <a:ea typeface="Calibri" pitchFamily="34" charset="-122"/>
                <a:cs typeface="Calibri" pitchFamily="34" charset="-120"/>
              </a:rPr>
              <a:t>[ fill in ]</a:t>
            </a:r>
            <a:endParaRPr lang="en-US" sz="1700" dirty="0"/>
          </a:p>
        </p:txBody>
      </p:sp>
      <p:sp>
        <p:nvSpPr>
          <p:cNvPr id="10" name="Text 8"/>
          <p:cNvSpPr txBox="1"/>
          <p:nvPr/>
        </p:nvSpPr>
        <p:spPr>
          <a:xfrm>
            <a:off x="1005840" y="4572000"/>
            <a:ext cx="9966960" cy="438912"/>
          </a:xfrm>
          <a:prstGeom prst="rect">
            <a:avLst/>
          </a:prstGeom>
          <a:noFill/>
          <a:ln/>
        </p:spPr>
        <p:txBody>
          <a:bodyPr wrap="square" rtlCol="0" anchor="ctr"/>
          <a:lstStyle/>
          <a:p>
            <a:pPr indent="0" marL="0">
              <a:buNone/>
            </a:pPr>
            <a:r>
              <a:rPr lang="en-US" sz="1700" b="1" dirty="0">
                <a:solidFill>
                  <a:srgbClr val="1A1A1A"/>
                </a:solidFill>
                <a:latin typeface="Calibri" pitchFamily="34" charset="0"/>
                <a:ea typeface="Calibri" pitchFamily="34" charset="-122"/>
                <a:cs typeface="Calibri" pitchFamily="34" charset="-120"/>
              </a:rPr>
              <a:t>Registration number(s):  </a:t>
            </a:r>
            <a:pPr indent="0" marL="0">
              <a:buNone/>
            </a:pPr>
            <a:r>
              <a:rPr lang="en-US" sz="1700" i="1" dirty="0">
                <a:solidFill>
                  <a:srgbClr val="5C6B62"/>
                </a:solidFill>
                <a:latin typeface="Calibri" pitchFamily="34" charset="0"/>
                <a:ea typeface="Calibri" pitchFamily="34" charset="-122"/>
                <a:cs typeface="Calibri" pitchFamily="34" charset="-120"/>
              </a:rPr>
              <a:t>[ fill in ]</a:t>
            </a:r>
            <a:endParaRPr lang="en-US" sz="1700" dirty="0"/>
          </a:p>
        </p:txBody>
      </p:sp>
      <p:sp>
        <p:nvSpPr>
          <p:cNvPr id="11" name="Text 9"/>
          <p:cNvSpPr txBox="1"/>
          <p:nvPr/>
        </p:nvSpPr>
        <p:spPr>
          <a:xfrm>
            <a:off x="1005840" y="5074920"/>
            <a:ext cx="9966960" cy="438912"/>
          </a:xfrm>
          <a:prstGeom prst="rect">
            <a:avLst/>
          </a:prstGeom>
          <a:noFill/>
          <a:ln/>
        </p:spPr>
        <p:txBody>
          <a:bodyPr wrap="square" rtlCol="0" anchor="ctr"/>
          <a:lstStyle/>
          <a:p>
            <a:pPr indent="0" marL="0">
              <a:buNone/>
            </a:pPr>
            <a:r>
              <a:rPr lang="en-US" sz="1700" b="1" dirty="0">
                <a:solidFill>
                  <a:srgbClr val="1A1A1A"/>
                </a:solidFill>
                <a:latin typeface="Calibri" pitchFamily="34" charset="0"/>
                <a:ea typeface="Calibri" pitchFamily="34" charset="-122"/>
                <a:cs typeface="Calibri" pitchFamily="34" charset="-120"/>
              </a:rPr>
              <a:t>Contact email:  </a:t>
            </a:r>
            <a:pPr indent="0" marL="0">
              <a:buNone/>
            </a:pPr>
            <a:r>
              <a:rPr lang="en-US" sz="1700" i="1" dirty="0">
                <a:solidFill>
                  <a:srgbClr val="5C6B62"/>
                </a:solidFill>
                <a:latin typeface="Calibri" pitchFamily="34" charset="0"/>
                <a:ea typeface="Calibri" pitchFamily="34" charset="-122"/>
                <a:cs typeface="Calibri" pitchFamily="34" charset="-120"/>
              </a:rPr>
              <a:t>[ fill in ]</a:t>
            </a:r>
            <a:endParaRPr lang="en-US" sz="1700" dirty="0"/>
          </a:p>
        </p:txBody>
      </p:sp>
      <p:sp>
        <p:nvSpPr>
          <p:cNvPr id="12" name="Text 10"/>
          <p:cNvSpPr/>
          <p:nvPr/>
        </p:nvSpPr>
        <p:spPr>
          <a:xfrm>
            <a:off x="11475720" y="6446520"/>
            <a:ext cx="457200" cy="274320"/>
          </a:xfrm>
          <a:prstGeom prst="rect">
            <a:avLst/>
          </a:prstGeom>
          <a:noFill/>
          <a:ln/>
        </p:spPr>
        <p:txBody>
          <a:bodyPr wrap="square" rtlCol="0" anchor="ctr"/>
          <a:lstStyle/>
          <a:p>
            <a:pPr algn="r" indent="0" marL="0">
              <a:buNone/>
            </a:pPr>
            <a:r>
              <a:rPr lang="en-US" sz="1100" dirty="0">
                <a:solidFill>
                  <a:srgbClr val="5C6B62"/>
                </a:solidFill>
                <a:latin typeface="Calibri" pitchFamily="34" charset="0"/>
                <a:ea typeface="Calibri" pitchFamily="34" charset="-122"/>
                <a:cs typeface="Calibri" pitchFamily="34" charset="-120"/>
              </a:rPr>
              <a:t>2</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38912"/>
            <a:ext cx="8229600" cy="365760"/>
          </a:xfrm>
          <a:prstGeom prst="rect">
            <a:avLst/>
          </a:prstGeom>
          <a:noFill/>
          <a:ln/>
        </p:spPr>
        <p:txBody>
          <a:bodyPr wrap="square" rtlCol="0" anchor="ctr"/>
          <a:lstStyle/>
          <a:p>
            <a:pPr indent="0" marL="0">
              <a:buNone/>
            </a:pPr>
            <a:r>
              <a:rPr lang="en-US" sz="1400" b="1" spc="200" kern="0" dirty="0">
                <a:solidFill>
                  <a:srgbClr val="D9503F"/>
                </a:solidFill>
                <a:latin typeface="Calibri" pitchFamily="34" charset="0"/>
                <a:ea typeface="Calibri" pitchFamily="34" charset="-122"/>
                <a:cs typeface="Calibri" pitchFamily="34" charset="-120"/>
              </a:rPr>
              <a:t>03 · THE PROBLEM</a:t>
            </a:r>
            <a:endParaRPr lang="en-US" sz="1400" dirty="0"/>
          </a:p>
        </p:txBody>
      </p:sp>
      <p:sp>
        <p:nvSpPr>
          <p:cNvPr id="3" name="Text 1"/>
          <p:cNvSpPr txBox="1"/>
          <p:nvPr/>
        </p:nvSpPr>
        <p:spPr>
          <a:xfrm>
            <a:off x="640080" y="786384"/>
            <a:ext cx="10881360" cy="777240"/>
          </a:xfrm>
          <a:prstGeom prst="rect">
            <a:avLst/>
          </a:prstGeom>
          <a:noFill/>
          <a:ln/>
        </p:spPr>
        <p:txBody>
          <a:bodyPr wrap="square" rtlCol="0" anchor="ctr"/>
          <a:lstStyle/>
          <a:p>
            <a:pPr indent="0" marL="0">
              <a:buNone/>
            </a:pPr>
            <a:r>
              <a:rPr lang="en-US" sz="3600" b="1" dirty="0">
                <a:solidFill>
                  <a:srgbClr val="1A1A1A"/>
                </a:solidFill>
                <a:latin typeface="Calibri" pitchFamily="34" charset="0"/>
                <a:ea typeface="Calibri" pitchFamily="34" charset="-122"/>
                <a:cs typeface="Calibri" pitchFamily="34" charset="-120"/>
              </a:rPr>
              <a:t>Two invisible problems, one broken loop</a:t>
            </a:r>
            <a:endParaRPr lang="en-US" sz="3600" dirty="0"/>
          </a:p>
        </p:txBody>
      </p:sp>
      <p:sp>
        <p:nvSpPr>
          <p:cNvPr id="4" name="Text 2"/>
          <p:cNvSpPr txBox="1"/>
          <p:nvPr/>
        </p:nvSpPr>
        <p:spPr>
          <a:xfrm>
            <a:off x="640080" y="1627632"/>
            <a:ext cx="10881360" cy="457200"/>
          </a:xfrm>
          <a:prstGeom prst="rect">
            <a:avLst/>
          </a:prstGeom>
          <a:noFill/>
          <a:ln/>
        </p:spPr>
        <p:txBody>
          <a:bodyPr wrap="square" rtlCol="0" anchor="ctr"/>
          <a:lstStyle/>
          <a:p>
            <a:pPr indent="0" marL="0">
              <a:buNone/>
            </a:pPr>
            <a:r>
              <a:rPr lang="en-US" sz="1700" b="1" dirty="0">
                <a:solidFill>
                  <a:srgbClr val="163D28"/>
                </a:solidFill>
                <a:latin typeface="Calibri" pitchFamily="34" charset="0"/>
                <a:ea typeface="Calibri" pitchFamily="34" charset="-122"/>
                <a:cs typeface="Calibri" pitchFamily="34" charset="-120"/>
              </a:rPr>
              <a:t>Students don't know what they're missing. </a:t>
            </a:r>
            <a:pPr indent="0" marL="0">
              <a:buNone/>
            </a:pPr>
            <a:r>
              <a:rPr lang="en-US" sz="1700" b="1" dirty="0">
                <a:solidFill>
                  <a:srgbClr val="D9503F"/>
                </a:solidFill>
                <a:latin typeface="Calibri" pitchFamily="34" charset="0"/>
                <a:ea typeface="Calibri" pitchFamily="34" charset="-122"/>
                <a:cs typeface="Calibri" pitchFamily="34" charset="-120"/>
              </a:rPr>
              <a:t>Messes don't know what they're wasting.</a:t>
            </a:r>
            <a:endParaRPr lang="en-US" sz="1700" dirty="0"/>
          </a:p>
        </p:txBody>
      </p:sp>
      <p:sp>
        <p:nvSpPr>
          <p:cNvPr id="5" name="Text 3"/>
          <p:cNvSpPr txBox="1"/>
          <p:nvPr/>
        </p:nvSpPr>
        <p:spPr>
          <a:xfrm>
            <a:off x="640080" y="2148840"/>
            <a:ext cx="10881360" cy="914400"/>
          </a:xfrm>
          <a:prstGeom prst="rect">
            <a:avLst/>
          </a:prstGeom>
          <a:noFill/>
          <a:ln/>
        </p:spPr>
        <p:txBody>
          <a:bodyPr wrap="square" rtlCol="0" anchor="ctr"/>
          <a:lstStyle/>
          <a:p>
            <a:pPr indent="0" marL="0">
              <a:lnSpc>
                <a:spcPct val="130000"/>
              </a:lnSpc>
              <a:buNone/>
            </a:pPr>
            <a:r>
              <a:rPr lang="en-US" sz="1500" dirty="0">
                <a:solidFill>
                  <a:srgbClr val="1A1A1A"/>
                </a:solidFill>
                <a:latin typeface="Calibri" pitchFamily="34" charset="0"/>
                <a:ea typeface="Calibri" pitchFamily="34" charset="-122"/>
                <a:cs typeface="Calibri" pitchFamily="34" charset="-120"/>
              </a:rPr>
              <a:t>The mess knows how much food was prepared and served — not which dish a student actually took and left. Students, in turn, have no simple way to know whether their regular mess diet meets their nutritional needs. The data connecting these two sides of the same loop is largely invisible.</a:t>
            </a:r>
            <a:endParaRPr lang="en-US" sz="1500" dirty="0"/>
          </a:p>
        </p:txBody>
      </p:sp>
      <p:sp>
        <p:nvSpPr>
          <p:cNvPr id="6" name="Shape 4"/>
          <p:cNvSpPr/>
          <p:nvPr/>
        </p:nvSpPr>
        <p:spPr>
          <a:xfrm>
            <a:off x="822960" y="3429000"/>
            <a:ext cx="1874520" cy="777240"/>
          </a:xfrm>
          <a:prstGeom prst="roundRect">
            <a:avLst>
              <a:gd name="adj" fmla="val 11765"/>
            </a:avLst>
          </a:prstGeom>
          <a:solidFill>
            <a:srgbClr val="163D28"/>
          </a:solidFill>
          <a:ln/>
        </p:spPr>
      </p:sp>
      <p:sp>
        <p:nvSpPr>
          <p:cNvPr id="7" name="Text 5"/>
          <p:cNvSpPr txBox="1"/>
          <p:nvPr/>
        </p:nvSpPr>
        <p:spPr>
          <a:xfrm>
            <a:off x="822960" y="3429000"/>
            <a:ext cx="1874520" cy="77724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Mess</a:t>
            </a:r>
            <a:endParaRPr lang="en-US" sz="1600" dirty="0"/>
          </a:p>
        </p:txBody>
      </p:sp>
      <p:sp>
        <p:nvSpPr>
          <p:cNvPr id="8" name="Text 6"/>
          <p:cNvSpPr txBox="1"/>
          <p:nvPr/>
        </p:nvSpPr>
        <p:spPr>
          <a:xfrm>
            <a:off x="2697480" y="3429000"/>
            <a:ext cx="594360" cy="777240"/>
          </a:xfrm>
          <a:prstGeom prst="rect">
            <a:avLst/>
          </a:prstGeom>
          <a:noFill/>
          <a:ln/>
        </p:spPr>
        <p:txBody>
          <a:bodyPr wrap="square" rtlCol="0" anchor="ctr"/>
          <a:lstStyle/>
          <a:p>
            <a:pPr algn="ctr" indent="0" marL="0">
              <a:buNone/>
            </a:pPr>
            <a:r>
              <a:rPr lang="en-US" sz="2200" b="1" dirty="0">
                <a:solidFill>
                  <a:srgbClr val="5C6B62"/>
                </a:solidFill>
                <a:latin typeface="Calibri" pitchFamily="34" charset="0"/>
                <a:ea typeface="Calibri" pitchFamily="34" charset="-122"/>
                <a:cs typeface="Calibri" pitchFamily="34" charset="-120"/>
              </a:rPr>
              <a:t>→</a:t>
            </a:r>
            <a:endParaRPr lang="en-US" sz="2200" dirty="0"/>
          </a:p>
        </p:txBody>
      </p:sp>
      <p:sp>
        <p:nvSpPr>
          <p:cNvPr id="9" name="Shape 7"/>
          <p:cNvSpPr/>
          <p:nvPr/>
        </p:nvSpPr>
        <p:spPr>
          <a:xfrm>
            <a:off x="3291840" y="3429000"/>
            <a:ext cx="1874520" cy="777240"/>
          </a:xfrm>
          <a:prstGeom prst="roundRect">
            <a:avLst>
              <a:gd name="adj" fmla="val 11765"/>
            </a:avLst>
          </a:prstGeom>
          <a:solidFill>
            <a:srgbClr val="D9503F"/>
          </a:solidFill>
          <a:ln/>
        </p:spPr>
      </p:sp>
      <p:sp>
        <p:nvSpPr>
          <p:cNvPr id="10" name="Text 8"/>
          <p:cNvSpPr txBox="1"/>
          <p:nvPr/>
        </p:nvSpPr>
        <p:spPr>
          <a:xfrm>
            <a:off x="3291840" y="3429000"/>
            <a:ext cx="1874520" cy="77724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Food</a:t>
            </a:r>
            <a:endParaRPr lang="en-US" sz="1600" dirty="0"/>
          </a:p>
        </p:txBody>
      </p:sp>
      <p:sp>
        <p:nvSpPr>
          <p:cNvPr id="11" name="Text 9"/>
          <p:cNvSpPr txBox="1"/>
          <p:nvPr/>
        </p:nvSpPr>
        <p:spPr>
          <a:xfrm>
            <a:off x="5166360" y="3429000"/>
            <a:ext cx="594360" cy="777240"/>
          </a:xfrm>
          <a:prstGeom prst="rect">
            <a:avLst/>
          </a:prstGeom>
          <a:noFill/>
          <a:ln/>
        </p:spPr>
        <p:txBody>
          <a:bodyPr wrap="square" rtlCol="0" anchor="ctr"/>
          <a:lstStyle/>
          <a:p>
            <a:pPr algn="ctr" indent="0" marL="0">
              <a:buNone/>
            </a:pPr>
            <a:r>
              <a:rPr lang="en-US" sz="2200" b="1" dirty="0">
                <a:solidFill>
                  <a:srgbClr val="5C6B62"/>
                </a:solidFill>
                <a:latin typeface="Calibri" pitchFamily="34" charset="0"/>
                <a:ea typeface="Calibri" pitchFamily="34" charset="-122"/>
                <a:cs typeface="Calibri" pitchFamily="34" charset="-120"/>
              </a:rPr>
              <a:t>→</a:t>
            </a:r>
            <a:endParaRPr lang="en-US" sz="2200" dirty="0"/>
          </a:p>
        </p:txBody>
      </p:sp>
      <p:sp>
        <p:nvSpPr>
          <p:cNvPr id="12" name="Shape 10"/>
          <p:cNvSpPr/>
          <p:nvPr/>
        </p:nvSpPr>
        <p:spPr>
          <a:xfrm>
            <a:off x="5760720" y="3429000"/>
            <a:ext cx="1874520" cy="777240"/>
          </a:xfrm>
          <a:prstGeom prst="roundRect">
            <a:avLst>
              <a:gd name="adj" fmla="val 11765"/>
            </a:avLst>
          </a:prstGeom>
          <a:solidFill>
            <a:srgbClr val="163D28"/>
          </a:solidFill>
          <a:ln/>
        </p:spPr>
      </p:sp>
      <p:sp>
        <p:nvSpPr>
          <p:cNvPr id="13" name="Text 11"/>
          <p:cNvSpPr txBox="1"/>
          <p:nvPr/>
        </p:nvSpPr>
        <p:spPr>
          <a:xfrm>
            <a:off x="5760720" y="3429000"/>
            <a:ext cx="1874520" cy="77724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Student</a:t>
            </a:r>
            <a:endParaRPr lang="en-US" sz="1600" dirty="0"/>
          </a:p>
        </p:txBody>
      </p:sp>
      <p:sp>
        <p:nvSpPr>
          <p:cNvPr id="14" name="Text 12"/>
          <p:cNvSpPr txBox="1"/>
          <p:nvPr/>
        </p:nvSpPr>
        <p:spPr>
          <a:xfrm>
            <a:off x="7635240" y="3429000"/>
            <a:ext cx="594360" cy="777240"/>
          </a:xfrm>
          <a:prstGeom prst="rect">
            <a:avLst/>
          </a:prstGeom>
          <a:noFill/>
          <a:ln/>
        </p:spPr>
        <p:txBody>
          <a:bodyPr wrap="square" rtlCol="0" anchor="ctr"/>
          <a:lstStyle/>
          <a:p>
            <a:pPr algn="ctr" indent="0" marL="0">
              <a:buNone/>
            </a:pPr>
            <a:r>
              <a:rPr lang="en-US" sz="2200" b="1" dirty="0">
                <a:solidFill>
                  <a:srgbClr val="5C6B62"/>
                </a:solidFill>
                <a:latin typeface="Calibri" pitchFamily="34" charset="0"/>
                <a:ea typeface="Calibri" pitchFamily="34" charset="-122"/>
                <a:cs typeface="Calibri" pitchFamily="34" charset="-120"/>
              </a:rPr>
              <a:t>→</a:t>
            </a:r>
            <a:endParaRPr lang="en-US" sz="2200" dirty="0"/>
          </a:p>
        </p:txBody>
      </p:sp>
      <p:sp>
        <p:nvSpPr>
          <p:cNvPr id="15" name="Shape 13"/>
          <p:cNvSpPr/>
          <p:nvPr/>
        </p:nvSpPr>
        <p:spPr>
          <a:xfrm>
            <a:off x="8229600" y="3429000"/>
            <a:ext cx="1874520" cy="777240"/>
          </a:xfrm>
          <a:prstGeom prst="roundRect">
            <a:avLst>
              <a:gd name="adj" fmla="val 11765"/>
            </a:avLst>
          </a:prstGeom>
          <a:solidFill>
            <a:srgbClr val="D9503F"/>
          </a:solidFill>
          <a:ln/>
        </p:spPr>
      </p:sp>
      <p:sp>
        <p:nvSpPr>
          <p:cNvPr id="16" name="Text 14"/>
          <p:cNvSpPr txBox="1"/>
          <p:nvPr/>
        </p:nvSpPr>
        <p:spPr>
          <a:xfrm>
            <a:off x="8229600" y="3429000"/>
            <a:ext cx="1874520" cy="77724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Waste</a:t>
            </a:r>
            <a:endParaRPr lang="en-US" sz="1600" dirty="0"/>
          </a:p>
        </p:txBody>
      </p:sp>
      <p:sp>
        <p:nvSpPr>
          <p:cNvPr id="17" name="Text 15"/>
          <p:cNvSpPr txBox="1"/>
          <p:nvPr/>
        </p:nvSpPr>
        <p:spPr>
          <a:xfrm>
            <a:off x="822960" y="4434840"/>
            <a:ext cx="9144000" cy="365760"/>
          </a:xfrm>
          <a:prstGeom prst="rect">
            <a:avLst/>
          </a:prstGeom>
          <a:noFill/>
          <a:ln/>
        </p:spPr>
        <p:txBody>
          <a:bodyPr wrap="square" rtlCol="0" anchor="ctr"/>
          <a:lstStyle/>
          <a:p>
            <a:pPr indent="0" marL="0">
              <a:buNone/>
            </a:pPr>
            <a:r>
              <a:rPr lang="en-US" sz="1300" i="1" dirty="0">
                <a:solidFill>
                  <a:srgbClr val="5C6B62"/>
                </a:solidFill>
                <a:latin typeface="Calibri" pitchFamily="34" charset="0"/>
                <a:ea typeface="Calibri" pitchFamily="34" charset="-122"/>
                <a:cs typeface="Calibri" pitchFamily="34" charset="-120"/>
              </a:rPr>
              <a:t>...but the data from that loop is largely invisible today.</a:t>
            </a:r>
            <a:endParaRPr lang="en-US" sz="1300" dirty="0"/>
          </a:p>
        </p:txBody>
      </p:sp>
      <p:sp>
        <p:nvSpPr>
          <p:cNvPr id="18" name="Shape 16"/>
          <p:cNvSpPr/>
          <p:nvPr/>
        </p:nvSpPr>
        <p:spPr>
          <a:xfrm>
            <a:off x="640080" y="4782312"/>
            <a:ext cx="109728" cy="109728"/>
          </a:xfrm>
          <a:prstGeom prst="ellipse">
            <a:avLst/>
          </a:prstGeom>
          <a:solidFill>
            <a:srgbClr val="D9503F"/>
          </a:solidFill>
          <a:ln/>
        </p:spPr>
      </p:sp>
      <p:sp>
        <p:nvSpPr>
          <p:cNvPr id="19" name="Text 17"/>
          <p:cNvSpPr txBox="1"/>
          <p:nvPr/>
        </p:nvSpPr>
        <p:spPr>
          <a:xfrm>
            <a:off x="896112" y="4636008"/>
            <a:ext cx="5029200" cy="502920"/>
          </a:xfrm>
          <a:prstGeom prst="rect">
            <a:avLst/>
          </a:prstGeom>
          <a:noFill/>
          <a:ln/>
        </p:spPr>
        <p:txBody>
          <a:bodyPr wrap="square" rtlCol="0" anchor="ctr"/>
          <a:lstStyle/>
          <a:p>
            <a:pPr indent="0" marL="0">
              <a:buNone/>
            </a:pPr>
            <a:r>
              <a:rPr lang="en-US" sz="1150" dirty="0">
                <a:solidFill>
                  <a:srgbClr val="1A1A1A"/>
                </a:solidFill>
                <a:latin typeface="Calibri" pitchFamily="34" charset="0"/>
                <a:ea typeface="Calibri" pitchFamily="34" charset="-122"/>
                <a:cs typeface="Calibri" pitchFamily="34" charset="-120"/>
              </a:rPr>
              <a:t>59.1% of young Indian women (15–19y) are anaemic — NFHS-5</a:t>
            </a:r>
            <a:endParaRPr lang="en-US" sz="1150" dirty="0"/>
          </a:p>
        </p:txBody>
      </p:sp>
      <p:sp>
        <p:nvSpPr>
          <p:cNvPr id="20" name="Shape 18"/>
          <p:cNvSpPr/>
          <p:nvPr/>
        </p:nvSpPr>
        <p:spPr>
          <a:xfrm>
            <a:off x="6080760" y="4782312"/>
            <a:ext cx="109728" cy="109728"/>
          </a:xfrm>
          <a:prstGeom prst="ellipse">
            <a:avLst/>
          </a:prstGeom>
          <a:solidFill>
            <a:srgbClr val="D9503F"/>
          </a:solidFill>
          <a:ln/>
        </p:spPr>
      </p:sp>
      <p:sp>
        <p:nvSpPr>
          <p:cNvPr id="21" name="Text 19"/>
          <p:cNvSpPr txBox="1"/>
          <p:nvPr/>
        </p:nvSpPr>
        <p:spPr>
          <a:xfrm>
            <a:off x="6336792" y="4636008"/>
            <a:ext cx="5029200" cy="502920"/>
          </a:xfrm>
          <a:prstGeom prst="rect">
            <a:avLst/>
          </a:prstGeom>
          <a:noFill/>
          <a:ln/>
        </p:spPr>
        <p:txBody>
          <a:bodyPr wrap="square" rtlCol="0" anchor="ctr"/>
          <a:lstStyle/>
          <a:p>
            <a:pPr indent="0" marL="0">
              <a:buNone/>
            </a:pPr>
            <a:r>
              <a:rPr lang="en-US" sz="1150" dirty="0">
                <a:solidFill>
                  <a:srgbClr val="1A1A1A"/>
                </a:solidFill>
                <a:latin typeface="Calibri" pitchFamily="34" charset="0"/>
                <a:ea typeface="Calibri" pitchFamily="34" charset="-122"/>
                <a:cs typeface="Calibri" pitchFamily="34" charset="-120"/>
              </a:rPr>
              <a:t>Protein RDA is 0.83 g/kg/day (ICMR-NIN) — many students don't reliably clear it</a:t>
            </a:r>
            <a:endParaRPr lang="en-US" sz="1150" dirty="0"/>
          </a:p>
        </p:txBody>
      </p:sp>
      <p:sp>
        <p:nvSpPr>
          <p:cNvPr id="22" name="Shape 20"/>
          <p:cNvSpPr/>
          <p:nvPr/>
        </p:nvSpPr>
        <p:spPr>
          <a:xfrm>
            <a:off x="640080" y="5349240"/>
            <a:ext cx="109728" cy="109728"/>
          </a:xfrm>
          <a:prstGeom prst="ellipse">
            <a:avLst/>
          </a:prstGeom>
          <a:solidFill>
            <a:srgbClr val="D9503F"/>
          </a:solidFill>
          <a:ln/>
        </p:spPr>
      </p:sp>
      <p:sp>
        <p:nvSpPr>
          <p:cNvPr id="23" name="Text 21"/>
          <p:cNvSpPr txBox="1"/>
          <p:nvPr/>
        </p:nvSpPr>
        <p:spPr>
          <a:xfrm>
            <a:off x="896112" y="5202936"/>
            <a:ext cx="5029200" cy="502920"/>
          </a:xfrm>
          <a:prstGeom prst="rect">
            <a:avLst/>
          </a:prstGeom>
          <a:noFill/>
          <a:ln/>
        </p:spPr>
        <p:txBody>
          <a:bodyPr wrap="square" rtlCol="0" anchor="ctr"/>
          <a:lstStyle/>
          <a:p>
            <a:pPr indent="0" marL="0">
              <a:buNone/>
            </a:pPr>
            <a:r>
              <a:rPr lang="en-US" sz="1150" dirty="0">
                <a:solidFill>
                  <a:srgbClr val="1A1A1A"/>
                </a:solidFill>
                <a:latin typeface="Calibri" pitchFamily="34" charset="0"/>
                <a:ea typeface="Calibri" pitchFamily="34" charset="-122"/>
                <a:cs typeface="Calibri" pitchFamily="34" charset="-120"/>
              </a:rPr>
              <a:t>3–6 kg of leftover food recorded per meal slot in hostel mess audits</a:t>
            </a:r>
            <a:endParaRPr lang="en-US" sz="1150" dirty="0"/>
          </a:p>
        </p:txBody>
      </p:sp>
      <p:sp>
        <p:nvSpPr>
          <p:cNvPr id="24" name="Shape 22"/>
          <p:cNvSpPr/>
          <p:nvPr/>
        </p:nvSpPr>
        <p:spPr>
          <a:xfrm>
            <a:off x="6080760" y="5349240"/>
            <a:ext cx="109728" cy="109728"/>
          </a:xfrm>
          <a:prstGeom prst="ellipse">
            <a:avLst/>
          </a:prstGeom>
          <a:solidFill>
            <a:srgbClr val="D9503F"/>
          </a:solidFill>
          <a:ln/>
        </p:spPr>
      </p:sp>
      <p:sp>
        <p:nvSpPr>
          <p:cNvPr id="25" name="Text 23"/>
          <p:cNvSpPr txBox="1"/>
          <p:nvPr/>
        </p:nvSpPr>
        <p:spPr>
          <a:xfrm>
            <a:off x="6336792" y="5202936"/>
            <a:ext cx="5029200" cy="502920"/>
          </a:xfrm>
          <a:prstGeom prst="rect">
            <a:avLst/>
          </a:prstGeom>
          <a:noFill/>
          <a:ln/>
        </p:spPr>
        <p:txBody>
          <a:bodyPr wrap="square" rtlCol="0" anchor="ctr"/>
          <a:lstStyle/>
          <a:p>
            <a:pPr indent="0" marL="0">
              <a:buNone/>
            </a:pPr>
            <a:r>
              <a:rPr lang="en-US" sz="1150" dirty="0">
                <a:solidFill>
                  <a:srgbClr val="1A1A1A"/>
                </a:solidFill>
                <a:latin typeface="Calibri" pitchFamily="34" charset="0"/>
                <a:ea typeface="Calibri" pitchFamily="34" charset="-122"/>
                <a:cs typeface="Calibri" pitchFamily="34" charset="-120"/>
              </a:rPr>
              <a:t>19% of food available to consumers is wasted globally — UNEP Food Waste Index 2024</a:t>
            </a:r>
            <a:endParaRPr lang="en-US" sz="1150" dirty="0"/>
          </a:p>
        </p:txBody>
      </p:sp>
      <p:sp>
        <p:nvSpPr>
          <p:cNvPr id="26" name="Text 24"/>
          <p:cNvSpPr/>
          <p:nvPr/>
        </p:nvSpPr>
        <p:spPr>
          <a:xfrm>
            <a:off x="11475720" y="6446520"/>
            <a:ext cx="457200" cy="274320"/>
          </a:xfrm>
          <a:prstGeom prst="rect">
            <a:avLst/>
          </a:prstGeom>
          <a:noFill/>
          <a:ln/>
        </p:spPr>
        <p:txBody>
          <a:bodyPr wrap="square" rtlCol="0" anchor="ctr"/>
          <a:lstStyle/>
          <a:p>
            <a:pPr algn="r" indent="0" marL="0">
              <a:buNone/>
            </a:pPr>
            <a:r>
              <a:rPr lang="en-US" sz="1100" dirty="0">
                <a:solidFill>
                  <a:srgbClr val="5C6B62"/>
                </a:solidFill>
                <a:latin typeface="Calibri" pitchFamily="34" charset="0"/>
                <a:ea typeface="Calibri" pitchFamily="34" charset="-122"/>
                <a:cs typeface="Calibri" pitchFamily="34" charset="-120"/>
              </a:rPr>
              <a:t>3</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38912"/>
            <a:ext cx="8229600" cy="365760"/>
          </a:xfrm>
          <a:prstGeom prst="rect">
            <a:avLst/>
          </a:prstGeom>
          <a:noFill/>
          <a:ln/>
        </p:spPr>
        <p:txBody>
          <a:bodyPr wrap="square" rtlCol="0" anchor="ctr"/>
          <a:lstStyle/>
          <a:p>
            <a:pPr indent="0" marL="0">
              <a:buNone/>
            </a:pPr>
            <a:r>
              <a:rPr lang="en-US" sz="1400" b="1" spc="200" kern="0" dirty="0">
                <a:solidFill>
                  <a:srgbClr val="D9503F"/>
                </a:solidFill>
                <a:latin typeface="Calibri" pitchFamily="34" charset="0"/>
                <a:ea typeface="Calibri" pitchFamily="34" charset="-122"/>
                <a:cs typeface="Calibri" pitchFamily="34" charset="-120"/>
              </a:rPr>
              <a:t>04 · PROPOSED SOLUTION</a:t>
            </a:r>
            <a:endParaRPr lang="en-US" sz="1400" dirty="0"/>
          </a:p>
        </p:txBody>
      </p:sp>
      <p:sp>
        <p:nvSpPr>
          <p:cNvPr id="3" name="Text 1"/>
          <p:cNvSpPr txBox="1"/>
          <p:nvPr/>
        </p:nvSpPr>
        <p:spPr>
          <a:xfrm>
            <a:off x="640080" y="786384"/>
            <a:ext cx="10881360" cy="777240"/>
          </a:xfrm>
          <a:prstGeom prst="rect">
            <a:avLst/>
          </a:prstGeom>
          <a:noFill/>
          <a:ln/>
        </p:spPr>
        <p:txBody>
          <a:bodyPr wrap="square" rtlCol="0" anchor="ctr"/>
          <a:lstStyle/>
          <a:p>
            <a:pPr indent="0" marL="0">
              <a:buNone/>
            </a:pPr>
            <a:r>
              <a:rPr lang="en-US" sz="3600" b="1" dirty="0">
                <a:solidFill>
                  <a:srgbClr val="1A1A1A"/>
                </a:solidFill>
                <a:latin typeface="Calibri" pitchFamily="34" charset="0"/>
                <a:ea typeface="Calibri" pitchFamily="34" charset="-122"/>
                <a:cs typeface="Calibri" pitchFamily="34" charset="-120"/>
              </a:rPr>
              <a:t>Take. Track. Leave. Learn.</a:t>
            </a:r>
            <a:endParaRPr lang="en-US" sz="3600" dirty="0"/>
          </a:p>
        </p:txBody>
      </p:sp>
      <p:sp>
        <p:nvSpPr>
          <p:cNvPr id="4" name="Text 2"/>
          <p:cNvSpPr txBox="1"/>
          <p:nvPr/>
        </p:nvSpPr>
        <p:spPr>
          <a:xfrm>
            <a:off x="640080" y="1627632"/>
            <a:ext cx="10881360" cy="457200"/>
          </a:xfrm>
          <a:prstGeom prst="rect">
            <a:avLst/>
          </a:prstGeom>
          <a:noFill/>
          <a:ln/>
        </p:spPr>
        <p:txBody>
          <a:bodyPr wrap="square" rtlCol="0" anchor="ctr"/>
          <a:lstStyle/>
          <a:p>
            <a:pPr indent="0" marL="0">
              <a:buNone/>
            </a:pPr>
            <a:r>
              <a:rPr lang="en-US" sz="1550" dirty="0">
                <a:solidFill>
                  <a:srgbClr val="1A1A1A"/>
                </a:solidFill>
                <a:latin typeface="Calibri" pitchFamily="34" charset="0"/>
                <a:ea typeface="Calibri" pitchFamily="34" charset="-122"/>
                <a:cs typeface="Calibri" pitchFamily="34" charset="-120"/>
              </a:rPr>
              <a:t>ThaliMetrics is a tap-and-log app built around two realistic sessions per meal — not a single static plate.</a:t>
            </a:r>
            <a:endParaRPr lang="en-US" sz="1550" dirty="0"/>
          </a:p>
        </p:txBody>
      </p:sp>
      <p:sp>
        <p:nvSpPr>
          <p:cNvPr id="5" name="Shape 3"/>
          <p:cNvSpPr/>
          <p:nvPr/>
        </p:nvSpPr>
        <p:spPr>
          <a:xfrm>
            <a:off x="640080" y="2377440"/>
            <a:ext cx="2514600" cy="3566160"/>
          </a:xfrm>
          <a:prstGeom prst="roundRect">
            <a:avLst>
              <a:gd name="adj" fmla="val 4364"/>
            </a:avLst>
          </a:prstGeom>
          <a:solidFill>
            <a:srgbClr val="F3F2EE"/>
          </a:solidFill>
          <a:ln/>
        </p:spPr>
      </p:sp>
      <p:sp>
        <p:nvSpPr>
          <p:cNvPr id="6" name="Text 4"/>
          <p:cNvSpPr txBox="1"/>
          <p:nvPr/>
        </p:nvSpPr>
        <p:spPr>
          <a:xfrm>
            <a:off x="841248" y="2578608"/>
            <a:ext cx="2112264" cy="640080"/>
          </a:xfrm>
          <a:prstGeom prst="rect">
            <a:avLst/>
          </a:prstGeom>
          <a:noFill/>
          <a:ln/>
        </p:spPr>
        <p:txBody>
          <a:bodyPr wrap="square" rtlCol="0" anchor="ctr"/>
          <a:lstStyle/>
          <a:p>
            <a:pPr indent="0" marL="0">
              <a:buNone/>
            </a:pPr>
            <a:r>
              <a:rPr lang="en-US" sz="3000" dirty="0">
                <a:solidFill>
                  <a:srgbClr val="000000"/>
                </a:solidFill>
                <a:latin typeface="Calibri" pitchFamily="34" charset="0"/>
                <a:ea typeface="Calibri" pitchFamily="34" charset="-122"/>
                <a:cs typeface="Calibri" pitchFamily="34" charset="-120"/>
              </a:rPr>
              <a:t>🍛</a:t>
            </a:r>
            <a:endParaRPr lang="en-US" sz="3000" dirty="0"/>
          </a:p>
        </p:txBody>
      </p:sp>
      <p:sp>
        <p:nvSpPr>
          <p:cNvPr id="7" name="Text 5"/>
          <p:cNvSpPr txBox="1"/>
          <p:nvPr/>
        </p:nvSpPr>
        <p:spPr>
          <a:xfrm>
            <a:off x="841248" y="3246120"/>
            <a:ext cx="2112264" cy="457200"/>
          </a:xfrm>
          <a:prstGeom prst="rect">
            <a:avLst/>
          </a:prstGeom>
          <a:noFill/>
          <a:ln/>
        </p:spPr>
        <p:txBody>
          <a:bodyPr wrap="square" rtlCol="0" anchor="ctr"/>
          <a:lstStyle/>
          <a:p>
            <a:pPr indent="0" marL="0">
              <a:buNone/>
            </a:pPr>
            <a:r>
              <a:rPr lang="en-US" sz="1600" b="1" dirty="0">
                <a:solidFill>
                  <a:srgbClr val="163D28"/>
                </a:solidFill>
                <a:latin typeface="Calibri" pitchFamily="34" charset="0"/>
                <a:ea typeface="Calibri" pitchFamily="34" charset="-122"/>
                <a:cs typeface="Calibri" pitchFamily="34" charset="-120"/>
              </a:rPr>
              <a:t>Take Food</a:t>
            </a:r>
            <a:endParaRPr lang="en-US" sz="1600" dirty="0"/>
          </a:p>
        </p:txBody>
      </p:sp>
      <p:sp>
        <p:nvSpPr>
          <p:cNvPr id="8" name="Text 6"/>
          <p:cNvSpPr txBox="1"/>
          <p:nvPr/>
        </p:nvSpPr>
        <p:spPr>
          <a:xfrm>
            <a:off x="841248" y="3703320"/>
            <a:ext cx="2112264" cy="2103120"/>
          </a:xfrm>
          <a:prstGeom prst="rect">
            <a:avLst/>
          </a:prstGeom>
          <a:noFill/>
          <a:ln/>
        </p:spPr>
        <p:txBody>
          <a:bodyPr wrap="square" rtlCol="0" anchor="ctr"/>
          <a:lstStyle/>
          <a:p>
            <a:pPr indent="0" marL="0">
              <a:lnSpc>
                <a:spcPct val="130000"/>
              </a:lnSpc>
              <a:buNone/>
            </a:pPr>
            <a:r>
              <a:rPr lang="en-US" sz="1200" dirty="0">
                <a:solidFill>
                  <a:srgbClr val="1A1A1A"/>
                </a:solidFill>
                <a:latin typeface="Calibri" pitchFamily="34" charset="0"/>
                <a:ea typeface="Calibri" pitchFamily="34" charset="-122"/>
                <a:cs typeface="Calibri" pitchFamily="34" charset="-120"/>
              </a:rPr>
              <a:t>Tap servings as you take them — bowl/glass fill-slider, roti quarter-tap.</a:t>
            </a:r>
            <a:endParaRPr lang="en-US" sz="1200" dirty="0"/>
          </a:p>
        </p:txBody>
      </p:sp>
      <p:sp>
        <p:nvSpPr>
          <p:cNvPr id="9" name="Shape 7"/>
          <p:cNvSpPr/>
          <p:nvPr/>
        </p:nvSpPr>
        <p:spPr>
          <a:xfrm>
            <a:off x="3374136" y="2377440"/>
            <a:ext cx="2514600" cy="3566160"/>
          </a:xfrm>
          <a:prstGeom prst="roundRect">
            <a:avLst>
              <a:gd name="adj" fmla="val 4364"/>
            </a:avLst>
          </a:prstGeom>
          <a:solidFill>
            <a:srgbClr val="F3F2EE"/>
          </a:solidFill>
          <a:ln/>
        </p:spPr>
      </p:sp>
      <p:sp>
        <p:nvSpPr>
          <p:cNvPr id="10" name="Text 8"/>
          <p:cNvSpPr txBox="1"/>
          <p:nvPr/>
        </p:nvSpPr>
        <p:spPr>
          <a:xfrm>
            <a:off x="3575304" y="2578608"/>
            <a:ext cx="2112264" cy="640080"/>
          </a:xfrm>
          <a:prstGeom prst="rect">
            <a:avLst/>
          </a:prstGeom>
          <a:noFill/>
          <a:ln/>
        </p:spPr>
        <p:txBody>
          <a:bodyPr wrap="square" rtlCol="0" anchor="ctr"/>
          <a:lstStyle/>
          <a:p>
            <a:pPr indent="0" marL="0">
              <a:buNone/>
            </a:pPr>
            <a:r>
              <a:rPr lang="en-US" sz="3000" dirty="0">
                <a:solidFill>
                  <a:srgbClr val="000000"/>
                </a:solidFill>
                <a:latin typeface="Calibri" pitchFamily="34" charset="0"/>
                <a:ea typeface="Calibri" pitchFamily="34" charset="-122"/>
                <a:cs typeface="Calibri" pitchFamily="34" charset="-120"/>
              </a:rPr>
              <a:t>➕</a:t>
            </a:r>
            <a:endParaRPr lang="en-US" sz="3000" dirty="0"/>
          </a:p>
        </p:txBody>
      </p:sp>
      <p:sp>
        <p:nvSpPr>
          <p:cNvPr id="11" name="Text 9"/>
          <p:cNvSpPr txBox="1"/>
          <p:nvPr/>
        </p:nvSpPr>
        <p:spPr>
          <a:xfrm>
            <a:off x="3575304" y="3246120"/>
            <a:ext cx="2112264" cy="457200"/>
          </a:xfrm>
          <a:prstGeom prst="rect">
            <a:avLst/>
          </a:prstGeom>
          <a:noFill/>
          <a:ln/>
        </p:spPr>
        <p:txBody>
          <a:bodyPr wrap="square" rtlCol="0" anchor="ctr"/>
          <a:lstStyle/>
          <a:p>
            <a:pPr indent="0" marL="0">
              <a:buNone/>
            </a:pPr>
            <a:r>
              <a:rPr lang="en-US" sz="1600" b="1" dirty="0">
                <a:solidFill>
                  <a:srgbClr val="163D28"/>
                </a:solidFill>
                <a:latin typeface="Calibri" pitchFamily="34" charset="0"/>
                <a:ea typeface="Calibri" pitchFamily="34" charset="-122"/>
                <a:cs typeface="Calibri" pitchFamily="34" charset="-120"/>
              </a:rPr>
              <a:t>Refill</a:t>
            </a:r>
            <a:endParaRPr lang="en-US" sz="1600" dirty="0"/>
          </a:p>
        </p:txBody>
      </p:sp>
      <p:sp>
        <p:nvSpPr>
          <p:cNvPr id="12" name="Text 10"/>
          <p:cNvSpPr txBox="1"/>
          <p:nvPr/>
        </p:nvSpPr>
        <p:spPr>
          <a:xfrm>
            <a:off x="3575304" y="3703320"/>
            <a:ext cx="2112264" cy="2103120"/>
          </a:xfrm>
          <a:prstGeom prst="rect">
            <a:avLst/>
          </a:prstGeom>
          <a:noFill/>
          <a:ln/>
        </p:spPr>
        <p:txBody>
          <a:bodyPr wrap="square" rtlCol="0" anchor="ctr"/>
          <a:lstStyle/>
          <a:p>
            <a:pPr indent="0" marL="0">
              <a:lnSpc>
                <a:spcPct val="130000"/>
              </a:lnSpc>
              <a:buNone/>
            </a:pPr>
            <a:r>
              <a:rPr lang="en-US" sz="1200" dirty="0">
                <a:solidFill>
                  <a:srgbClr val="1A1A1A"/>
                </a:solidFill>
                <a:latin typeface="Calibri" pitchFamily="34" charset="0"/>
                <a:ea typeface="Calibri" pitchFamily="34" charset="-122"/>
                <a:cs typeface="Calibri" pitchFamily="34" charset="-120"/>
              </a:rPr>
              <a:t>Log seconds naturally. Every refill adds to the same meal.</a:t>
            </a:r>
            <a:endParaRPr lang="en-US" sz="1200" dirty="0"/>
          </a:p>
        </p:txBody>
      </p:sp>
      <p:sp>
        <p:nvSpPr>
          <p:cNvPr id="13" name="Shape 11"/>
          <p:cNvSpPr/>
          <p:nvPr/>
        </p:nvSpPr>
        <p:spPr>
          <a:xfrm>
            <a:off x="6108192" y="2377440"/>
            <a:ext cx="2514600" cy="3566160"/>
          </a:xfrm>
          <a:prstGeom prst="roundRect">
            <a:avLst>
              <a:gd name="adj" fmla="val 4364"/>
            </a:avLst>
          </a:prstGeom>
          <a:solidFill>
            <a:srgbClr val="F3F2EE"/>
          </a:solidFill>
          <a:ln/>
        </p:spPr>
      </p:sp>
      <p:sp>
        <p:nvSpPr>
          <p:cNvPr id="14" name="Text 12"/>
          <p:cNvSpPr txBox="1"/>
          <p:nvPr/>
        </p:nvSpPr>
        <p:spPr>
          <a:xfrm>
            <a:off x="6309360" y="2578608"/>
            <a:ext cx="2112264" cy="640080"/>
          </a:xfrm>
          <a:prstGeom prst="rect">
            <a:avLst/>
          </a:prstGeom>
          <a:noFill/>
          <a:ln/>
        </p:spPr>
        <p:txBody>
          <a:bodyPr wrap="square" rtlCol="0" anchor="ctr"/>
          <a:lstStyle/>
          <a:p>
            <a:pPr indent="0" marL="0">
              <a:buNone/>
            </a:pPr>
            <a:r>
              <a:rPr lang="en-US" sz="3000" dirty="0">
                <a:solidFill>
                  <a:srgbClr val="000000"/>
                </a:solidFill>
                <a:latin typeface="Calibri" pitchFamily="34" charset="0"/>
                <a:ea typeface="Calibri" pitchFamily="34" charset="-122"/>
                <a:cs typeface="Calibri" pitchFamily="34" charset="-120"/>
              </a:rPr>
              <a:t>♻️</a:t>
            </a:r>
            <a:endParaRPr lang="en-US" sz="3000" dirty="0"/>
          </a:p>
        </p:txBody>
      </p:sp>
      <p:sp>
        <p:nvSpPr>
          <p:cNvPr id="15" name="Text 13"/>
          <p:cNvSpPr txBox="1"/>
          <p:nvPr/>
        </p:nvSpPr>
        <p:spPr>
          <a:xfrm>
            <a:off x="6309360" y="3246120"/>
            <a:ext cx="2112264" cy="457200"/>
          </a:xfrm>
          <a:prstGeom prst="rect">
            <a:avLst/>
          </a:prstGeom>
          <a:noFill/>
          <a:ln/>
        </p:spPr>
        <p:txBody>
          <a:bodyPr wrap="square" rtlCol="0" anchor="ctr"/>
          <a:lstStyle/>
          <a:p>
            <a:pPr indent="0" marL="0">
              <a:buNone/>
            </a:pPr>
            <a:r>
              <a:rPr lang="en-US" sz="1600" b="1" dirty="0">
                <a:solidFill>
                  <a:srgbClr val="163D28"/>
                </a:solidFill>
                <a:latin typeface="Calibri" pitchFamily="34" charset="0"/>
                <a:ea typeface="Calibri" pitchFamily="34" charset="-122"/>
                <a:cs typeface="Calibri" pitchFamily="34" charset="-120"/>
              </a:rPr>
              <a:t>Log Waste</a:t>
            </a:r>
            <a:endParaRPr lang="en-US" sz="1600" dirty="0"/>
          </a:p>
        </p:txBody>
      </p:sp>
      <p:sp>
        <p:nvSpPr>
          <p:cNvPr id="16" name="Text 14"/>
          <p:cNvSpPr txBox="1"/>
          <p:nvPr/>
        </p:nvSpPr>
        <p:spPr>
          <a:xfrm>
            <a:off x="6309360" y="3703320"/>
            <a:ext cx="2112264" cy="2103120"/>
          </a:xfrm>
          <a:prstGeom prst="rect">
            <a:avLst/>
          </a:prstGeom>
          <a:noFill/>
          <a:ln/>
        </p:spPr>
        <p:txBody>
          <a:bodyPr wrap="square" rtlCol="0" anchor="ctr"/>
          <a:lstStyle/>
          <a:p>
            <a:pPr indent="0" marL="0">
              <a:lnSpc>
                <a:spcPct val="130000"/>
              </a:lnSpc>
              <a:buNone/>
            </a:pPr>
            <a:r>
              <a:rPr lang="en-US" sz="1200" dirty="0">
                <a:solidFill>
                  <a:srgbClr val="1A1A1A"/>
                </a:solidFill>
                <a:latin typeface="Calibri" pitchFamily="34" charset="0"/>
                <a:ea typeface="Calibri" pitchFamily="34" charset="-122"/>
                <a:cs typeface="Calibri" pitchFamily="34" charset="-120"/>
              </a:rPr>
              <a:t>Record exactly what remains — scaled to what YOU took, never a generic bar.</a:t>
            </a:r>
            <a:endParaRPr lang="en-US" sz="1200" dirty="0"/>
          </a:p>
        </p:txBody>
      </p:sp>
      <p:sp>
        <p:nvSpPr>
          <p:cNvPr id="17" name="Shape 15"/>
          <p:cNvSpPr/>
          <p:nvPr/>
        </p:nvSpPr>
        <p:spPr>
          <a:xfrm>
            <a:off x="8842248" y="2377440"/>
            <a:ext cx="2514600" cy="3566160"/>
          </a:xfrm>
          <a:prstGeom prst="roundRect">
            <a:avLst>
              <a:gd name="adj" fmla="val 4364"/>
            </a:avLst>
          </a:prstGeom>
          <a:solidFill>
            <a:srgbClr val="163D28"/>
          </a:solidFill>
          <a:ln/>
        </p:spPr>
      </p:sp>
      <p:sp>
        <p:nvSpPr>
          <p:cNvPr id="18" name="Text 16"/>
          <p:cNvSpPr txBox="1"/>
          <p:nvPr/>
        </p:nvSpPr>
        <p:spPr>
          <a:xfrm>
            <a:off x="9043416" y="2578608"/>
            <a:ext cx="2112264" cy="640080"/>
          </a:xfrm>
          <a:prstGeom prst="rect">
            <a:avLst/>
          </a:prstGeom>
          <a:noFill/>
          <a:ln/>
        </p:spPr>
        <p:txBody>
          <a:bodyPr wrap="square" rtlCol="0" anchor="ctr"/>
          <a:lstStyle/>
          <a:p>
            <a:pPr indent="0" marL="0">
              <a:buNone/>
            </a:pPr>
            <a:r>
              <a:rPr lang="en-US" sz="3000" dirty="0">
                <a:solidFill>
                  <a:srgbClr val="000000"/>
                </a:solidFill>
                <a:latin typeface="Calibri" pitchFamily="34" charset="0"/>
                <a:ea typeface="Calibri" pitchFamily="34" charset="-122"/>
                <a:cs typeface="Calibri" pitchFamily="34" charset="-120"/>
              </a:rPr>
              <a:t>📊</a:t>
            </a:r>
            <a:endParaRPr lang="en-US" sz="3000" dirty="0"/>
          </a:p>
        </p:txBody>
      </p:sp>
      <p:sp>
        <p:nvSpPr>
          <p:cNvPr id="19" name="Text 17"/>
          <p:cNvSpPr txBox="1"/>
          <p:nvPr/>
        </p:nvSpPr>
        <p:spPr>
          <a:xfrm>
            <a:off x="9043416" y="3246120"/>
            <a:ext cx="2112264" cy="457200"/>
          </a:xfrm>
          <a:prstGeom prst="rect">
            <a:avLst/>
          </a:prstGeom>
          <a:noFill/>
          <a:ln/>
        </p:spPr>
        <p:txBody>
          <a:bodyPr wrap="square"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Understand</a:t>
            </a:r>
            <a:endParaRPr lang="en-US" sz="1600" dirty="0"/>
          </a:p>
        </p:txBody>
      </p:sp>
      <p:sp>
        <p:nvSpPr>
          <p:cNvPr id="20" name="Text 18"/>
          <p:cNvSpPr txBox="1"/>
          <p:nvPr/>
        </p:nvSpPr>
        <p:spPr>
          <a:xfrm>
            <a:off x="9043416" y="3703320"/>
            <a:ext cx="2112264" cy="2103120"/>
          </a:xfrm>
          <a:prstGeom prst="rect">
            <a:avLst/>
          </a:prstGeom>
          <a:noFill/>
          <a:ln/>
        </p:spPr>
        <p:txBody>
          <a:bodyPr wrap="square" rtlCol="0" anchor="ctr"/>
          <a:lstStyle/>
          <a:p>
            <a:pPr indent="0" marL="0">
              <a:lnSpc>
                <a:spcPct val="130000"/>
              </a:lnSpc>
              <a:buNone/>
            </a:pPr>
            <a:r>
              <a:rPr lang="en-US" sz="1200" dirty="0">
                <a:solidFill>
                  <a:srgbClr val="E7EFEA"/>
                </a:solidFill>
                <a:latin typeface="Calibri" pitchFamily="34" charset="0"/>
                <a:ea typeface="Calibri" pitchFamily="34" charset="-122"/>
                <a:cs typeface="Calibri" pitchFamily="34" charset="-120"/>
              </a:rPr>
              <a:t>Get a weekly nutrient digest and a mess-side waste dashboard, from the same data.</a:t>
            </a:r>
            <a:endParaRPr lang="en-US" sz="1200" dirty="0"/>
          </a:p>
        </p:txBody>
      </p:sp>
      <p:sp>
        <p:nvSpPr>
          <p:cNvPr id="21" name="Text 19"/>
          <p:cNvSpPr/>
          <p:nvPr/>
        </p:nvSpPr>
        <p:spPr>
          <a:xfrm>
            <a:off x="11475720" y="6446520"/>
            <a:ext cx="457200" cy="274320"/>
          </a:xfrm>
          <a:prstGeom prst="rect">
            <a:avLst/>
          </a:prstGeom>
          <a:noFill/>
          <a:ln/>
        </p:spPr>
        <p:txBody>
          <a:bodyPr wrap="square" rtlCol="0" anchor="ctr"/>
          <a:lstStyle/>
          <a:p>
            <a:pPr algn="r" indent="0" marL="0">
              <a:buNone/>
            </a:pPr>
            <a:r>
              <a:rPr lang="en-US" sz="1100" dirty="0">
                <a:solidFill>
                  <a:srgbClr val="5C6B62"/>
                </a:solidFill>
                <a:latin typeface="Calibri" pitchFamily="34" charset="0"/>
                <a:ea typeface="Calibri" pitchFamily="34" charset="-122"/>
                <a:cs typeface="Calibri" pitchFamily="34" charset="-120"/>
              </a:rPr>
              <a:t>4</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63D28"/>
        </a:solidFill>
      </p:bgPr>
    </p:bg>
    <p:spTree>
      <p:nvGrpSpPr>
        <p:cNvPr id="1" name=""/>
        <p:cNvGrpSpPr/>
        <p:nvPr/>
      </p:nvGrpSpPr>
      <p:grpSpPr>
        <a:xfrm>
          <a:off x="0" y="0"/>
          <a:ext cx="0" cy="0"/>
          <a:chOff x="0" y="0"/>
          <a:chExt cx="0" cy="0"/>
        </a:xfrm>
      </p:grpSpPr>
      <p:sp>
        <p:nvSpPr>
          <p:cNvPr id="2" name="Text 0"/>
          <p:cNvSpPr txBox="1"/>
          <p:nvPr/>
        </p:nvSpPr>
        <p:spPr>
          <a:xfrm>
            <a:off x="640080" y="438912"/>
            <a:ext cx="8229600" cy="365760"/>
          </a:xfrm>
          <a:prstGeom prst="rect">
            <a:avLst/>
          </a:prstGeom>
          <a:noFill/>
          <a:ln/>
        </p:spPr>
        <p:txBody>
          <a:bodyPr wrap="square" rtlCol="0" anchor="ctr"/>
          <a:lstStyle/>
          <a:p>
            <a:pPr indent="0" marL="0">
              <a:buNone/>
            </a:pPr>
            <a:r>
              <a:rPr lang="en-US" sz="1400" b="1" spc="200" kern="0" dirty="0">
                <a:solidFill>
                  <a:srgbClr val="F2A691"/>
                </a:solidFill>
                <a:latin typeface="Calibri" pitchFamily="34" charset="0"/>
                <a:ea typeface="Calibri" pitchFamily="34" charset="-122"/>
                <a:cs typeface="Calibri" pitchFamily="34" charset="-120"/>
              </a:rPr>
              <a:t>04 · PROPOSED SOLUTION — THE INSIGHT</a:t>
            </a:r>
            <a:endParaRPr lang="en-US" sz="1400" dirty="0"/>
          </a:p>
        </p:txBody>
      </p:sp>
      <p:sp>
        <p:nvSpPr>
          <p:cNvPr id="3" name="Text 1"/>
          <p:cNvSpPr txBox="1"/>
          <p:nvPr/>
        </p:nvSpPr>
        <p:spPr>
          <a:xfrm>
            <a:off x="640080" y="786384"/>
            <a:ext cx="10881360" cy="777240"/>
          </a:xfrm>
          <a:prstGeom prst="rect">
            <a:avLst/>
          </a:prstGeom>
          <a:noFill/>
          <a:ln/>
        </p:spPr>
        <p:txBody>
          <a:bodyPr wrap="square" rtlCol="0" anchor="ctr"/>
          <a:lstStyle/>
          <a:p>
            <a:pPr indent="0" marL="0">
              <a:buNone/>
            </a:pPr>
            <a:r>
              <a:rPr lang="en-US" sz="3600" b="1" dirty="0">
                <a:solidFill>
                  <a:srgbClr val="FFFFFF"/>
                </a:solidFill>
                <a:latin typeface="Calibri" pitchFamily="34" charset="0"/>
                <a:ea typeface="Calibri" pitchFamily="34" charset="-122"/>
                <a:cs typeface="Calibri" pitchFamily="34" charset="-120"/>
              </a:rPr>
              <a:t>A plate isn't a single event.</a:t>
            </a:r>
            <a:endParaRPr lang="en-US" sz="3600" dirty="0"/>
          </a:p>
        </p:txBody>
      </p:sp>
      <p:sp>
        <p:nvSpPr>
          <p:cNvPr id="4" name="Text 2"/>
          <p:cNvSpPr txBox="1"/>
          <p:nvPr/>
        </p:nvSpPr>
        <p:spPr>
          <a:xfrm>
            <a:off x="640080" y="1645920"/>
            <a:ext cx="10881360" cy="457200"/>
          </a:xfrm>
          <a:prstGeom prst="rect">
            <a:avLst/>
          </a:prstGeom>
          <a:noFill/>
          <a:ln/>
        </p:spPr>
        <p:txBody>
          <a:bodyPr wrap="square" rtlCol="0" anchor="ctr"/>
          <a:lstStyle/>
          <a:p>
            <a:pPr indent="0" marL="0">
              <a:buNone/>
            </a:pPr>
            <a:r>
              <a:rPr lang="en-US" sz="1550" dirty="0">
                <a:solidFill>
                  <a:srgbClr val="CFE3D5"/>
                </a:solidFill>
                <a:latin typeface="Calibri" pitchFamily="34" charset="0"/>
                <a:ea typeface="Calibri" pitchFamily="34" charset="-122"/>
                <a:cs typeface="Calibri" pitchFamily="34" charset="-120"/>
              </a:rPr>
              <a:t>A student might: take 1 bowl → eat → take another ½ bowl → eat → leave ¼ bowl.</a:t>
            </a:r>
            <a:endParaRPr lang="en-US" sz="1550" dirty="0"/>
          </a:p>
        </p:txBody>
      </p:sp>
      <p:sp>
        <p:nvSpPr>
          <p:cNvPr id="5" name="Shape 3"/>
          <p:cNvSpPr/>
          <p:nvPr/>
        </p:nvSpPr>
        <p:spPr>
          <a:xfrm>
            <a:off x="640080" y="2286000"/>
            <a:ext cx="5120640" cy="1828800"/>
          </a:xfrm>
          <a:prstGeom prst="roundRect">
            <a:avLst>
              <a:gd name="adj" fmla="val 5000"/>
            </a:avLst>
          </a:prstGeom>
          <a:solidFill>
            <a:srgbClr val="1F5236"/>
          </a:solidFill>
          <a:ln/>
        </p:spPr>
      </p:sp>
      <p:sp>
        <p:nvSpPr>
          <p:cNvPr id="6" name="Text 4"/>
          <p:cNvSpPr txBox="1"/>
          <p:nvPr/>
        </p:nvSpPr>
        <p:spPr>
          <a:xfrm>
            <a:off x="914400" y="2487168"/>
            <a:ext cx="4572000" cy="365760"/>
          </a:xfrm>
          <a:prstGeom prst="rect">
            <a:avLst/>
          </a:prstGeom>
          <a:noFill/>
          <a:ln/>
        </p:spPr>
        <p:txBody>
          <a:bodyPr wrap="square" rtlCol="0" anchor="ctr"/>
          <a:lstStyle/>
          <a:p>
            <a:pPr indent="0" marL="0">
              <a:buNone/>
            </a:pPr>
            <a:r>
              <a:rPr lang="en-US" sz="1300" b="1" dirty="0">
                <a:solidFill>
                  <a:srgbClr val="F2A691"/>
                </a:solidFill>
                <a:latin typeface="Calibri" pitchFamily="34" charset="0"/>
                <a:ea typeface="Calibri" pitchFamily="34" charset="-122"/>
                <a:cs typeface="Calibri" pitchFamily="34" charset="-120"/>
              </a:rPr>
              <a:t>Traditional systems see:</a:t>
            </a:r>
            <a:endParaRPr lang="en-US" sz="1300" dirty="0"/>
          </a:p>
        </p:txBody>
      </p:sp>
      <p:sp>
        <p:nvSpPr>
          <p:cNvPr id="7" name="Text 5"/>
          <p:cNvSpPr txBox="1"/>
          <p:nvPr/>
        </p:nvSpPr>
        <p:spPr>
          <a:xfrm>
            <a:off x="914400" y="2971800"/>
            <a:ext cx="4572000" cy="822960"/>
          </a:xfrm>
          <a:prstGeom prst="rect">
            <a:avLst/>
          </a:prstGeom>
          <a:noFill/>
          <a:ln/>
        </p:spPr>
        <p:txBody>
          <a:bodyPr wrap="square" rtlCol="0" anchor="ctr"/>
          <a:lstStyle/>
          <a:p>
            <a:pPr indent="0" marL="0">
              <a:buNone/>
            </a:pPr>
            <a:r>
              <a:rPr lang="en-US" sz="2200" i="1" dirty="0">
                <a:solidFill>
                  <a:srgbClr val="FFFFFF"/>
                </a:solidFill>
                <a:latin typeface="Calibri" pitchFamily="34" charset="0"/>
                <a:ea typeface="Calibri" pitchFamily="34" charset="-122"/>
                <a:cs typeface="Calibri" pitchFamily="34" charset="-120"/>
              </a:rPr>
              <a:t>"Student ate lunch."</a:t>
            </a:r>
            <a:endParaRPr lang="en-US" sz="2200" dirty="0"/>
          </a:p>
        </p:txBody>
      </p:sp>
      <p:sp>
        <p:nvSpPr>
          <p:cNvPr id="8" name="Shape 6"/>
          <p:cNvSpPr/>
          <p:nvPr/>
        </p:nvSpPr>
        <p:spPr>
          <a:xfrm>
            <a:off x="6035040" y="2286000"/>
            <a:ext cx="5486400" cy="3383280"/>
          </a:xfrm>
          <a:prstGeom prst="roundRect">
            <a:avLst>
              <a:gd name="adj" fmla="val 2703"/>
            </a:avLst>
          </a:prstGeom>
          <a:solidFill>
            <a:srgbClr val="FFFFFF"/>
          </a:solidFill>
          <a:ln/>
        </p:spPr>
      </p:sp>
      <p:sp>
        <p:nvSpPr>
          <p:cNvPr id="9" name="Text 7"/>
          <p:cNvSpPr txBox="1"/>
          <p:nvPr/>
        </p:nvSpPr>
        <p:spPr>
          <a:xfrm>
            <a:off x="6309360" y="2487168"/>
            <a:ext cx="4572000" cy="365760"/>
          </a:xfrm>
          <a:prstGeom prst="rect">
            <a:avLst/>
          </a:prstGeom>
          <a:noFill/>
          <a:ln/>
        </p:spPr>
        <p:txBody>
          <a:bodyPr wrap="square" rtlCol="0" anchor="ctr"/>
          <a:lstStyle/>
          <a:p>
            <a:pPr indent="0" marL="0">
              <a:buNone/>
            </a:pPr>
            <a:r>
              <a:rPr lang="en-US" sz="1300" b="1" dirty="0">
                <a:solidFill>
                  <a:srgbClr val="D9503F"/>
                </a:solidFill>
                <a:latin typeface="Calibri" pitchFamily="34" charset="0"/>
                <a:ea typeface="Calibri" pitchFamily="34" charset="-122"/>
                <a:cs typeface="Calibri" pitchFamily="34" charset="-120"/>
              </a:rPr>
              <a:t>ThaliMetrics sees:</a:t>
            </a:r>
            <a:endParaRPr lang="en-US" sz="1300" dirty="0"/>
          </a:p>
        </p:txBody>
      </p:sp>
      <p:sp>
        <p:nvSpPr>
          <p:cNvPr id="10" name="Text 8"/>
          <p:cNvSpPr txBox="1"/>
          <p:nvPr/>
        </p:nvSpPr>
        <p:spPr>
          <a:xfrm>
            <a:off x="6309360" y="2971800"/>
            <a:ext cx="2103120" cy="457200"/>
          </a:xfrm>
          <a:prstGeom prst="rect">
            <a:avLst/>
          </a:prstGeom>
          <a:noFill/>
          <a:ln/>
        </p:spPr>
        <p:txBody>
          <a:bodyPr wrap="square" rtlCol="0" anchor="ctr"/>
          <a:lstStyle/>
          <a:p>
            <a:pPr indent="0" marL="0">
              <a:buNone/>
            </a:pPr>
            <a:r>
              <a:rPr lang="en-US" sz="1700" b="1" dirty="0">
                <a:solidFill>
                  <a:srgbClr val="1A1A1A"/>
                </a:solidFill>
                <a:latin typeface="Calibri" pitchFamily="34" charset="0"/>
                <a:ea typeface="Calibri" pitchFamily="34" charset="-122"/>
                <a:cs typeface="Calibri" pitchFamily="34" charset="-120"/>
              </a:rPr>
              <a:t>Taken:</a:t>
            </a:r>
            <a:endParaRPr lang="en-US" sz="1700" dirty="0"/>
          </a:p>
        </p:txBody>
      </p:sp>
      <p:sp>
        <p:nvSpPr>
          <p:cNvPr id="11" name="Text 9"/>
          <p:cNvSpPr txBox="1"/>
          <p:nvPr/>
        </p:nvSpPr>
        <p:spPr>
          <a:xfrm>
            <a:off x="8412480" y="2971800"/>
            <a:ext cx="2834640" cy="457200"/>
          </a:xfrm>
          <a:prstGeom prst="rect">
            <a:avLst/>
          </a:prstGeom>
          <a:noFill/>
          <a:ln/>
        </p:spPr>
        <p:txBody>
          <a:bodyPr wrap="square" rtlCol="0" anchor="ctr"/>
          <a:lstStyle/>
          <a:p>
            <a:pPr indent="0" marL="0">
              <a:buNone/>
            </a:pPr>
            <a:r>
              <a:rPr lang="en-US" sz="1700" dirty="0">
                <a:solidFill>
                  <a:srgbClr val="5C6B62"/>
                </a:solidFill>
                <a:latin typeface="Calibri" pitchFamily="34" charset="0"/>
                <a:ea typeface="Calibri" pitchFamily="34" charset="-122"/>
                <a:cs typeface="Calibri" pitchFamily="34" charset="-120"/>
              </a:rPr>
              <a:t>1½ bowls</a:t>
            </a:r>
            <a:endParaRPr lang="en-US" sz="1700" dirty="0"/>
          </a:p>
        </p:txBody>
      </p:sp>
      <p:sp>
        <p:nvSpPr>
          <p:cNvPr id="12" name="Text 10"/>
          <p:cNvSpPr txBox="1"/>
          <p:nvPr/>
        </p:nvSpPr>
        <p:spPr>
          <a:xfrm>
            <a:off x="6309360" y="3593592"/>
            <a:ext cx="2103120" cy="457200"/>
          </a:xfrm>
          <a:prstGeom prst="rect">
            <a:avLst/>
          </a:prstGeom>
          <a:noFill/>
          <a:ln/>
        </p:spPr>
        <p:txBody>
          <a:bodyPr wrap="square" rtlCol="0" anchor="ctr"/>
          <a:lstStyle/>
          <a:p>
            <a:pPr indent="0" marL="0">
              <a:buNone/>
            </a:pPr>
            <a:r>
              <a:rPr lang="en-US" sz="1700" b="1" dirty="0">
                <a:solidFill>
                  <a:srgbClr val="1A1A1A"/>
                </a:solidFill>
                <a:latin typeface="Calibri" pitchFamily="34" charset="0"/>
                <a:ea typeface="Calibri" pitchFamily="34" charset="-122"/>
                <a:cs typeface="Calibri" pitchFamily="34" charset="-120"/>
              </a:rPr>
              <a:t>Refilled:</a:t>
            </a:r>
            <a:endParaRPr lang="en-US" sz="1700" dirty="0"/>
          </a:p>
        </p:txBody>
      </p:sp>
      <p:sp>
        <p:nvSpPr>
          <p:cNvPr id="13" name="Text 11"/>
          <p:cNvSpPr txBox="1"/>
          <p:nvPr/>
        </p:nvSpPr>
        <p:spPr>
          <a:xfrm>
            <a:off x="8412480" y="3593592"/>
            <a:ext cx="2834640" cy="457200"/>
          </a:xfrm>
          <a:prstGeom prst="rect">
            <a:avLst/>
          </a:prstGeom>
          <a:noFill/>
          <a:ln/>
        </p:spPr>
        <p:txBody>
          <a:bodyPr wrap="square" rtlCol="0" anchor="ctr"/>
          <a:lstStyle/>
          <a:p>
            <a:pPr indent="0" marL="0">
              <a:buNone/>
            </a:pPr>
            <a:r>
              <a:rPr lang="en-US" sz="1700" dirty="0">
                <a:solidFill>
                  <a:srgbClr val="5C6B62"/>
                </a:solidFill>
                <a:latin typeface="Calibri" pitchFamily="34" charset="0"/>
                <a:ea typeface="Calibri" pitchFamily="34" charset="-122"/>
                <a:cs typeface="Calibri" pitchFamily="34" charset="-120"/>
              </a:rPr>
              <a:t>+½ bowl</a:t>
            </a:r>
            <a:endParaRPr lang="en-US" sz="1700" dirty="0"/>
          </a:p>
        </p:txBody>
      </p:sp>
      <p:sp>
        <p:nvSpPr>
          <p:cNvPr id="14" name="Text 12"/>
          <p:cNvSpPr txBox="1"/>
          <p:nvPr/>
        </p:nvSpPr>
        <p:spPr>
          <a:xfrm>
            <a:off x="6309360" y="4215384"/>
            <a:ext cx="2103120" cy="457200"/>
          </a:xfrm>
          <a:prstGeom prst="rect">
            <a:avLst/>
          </a:prstGeom>
          <a:noFill/>
          <a:ln/>
        </p:spPr>
        <p:txBody>
          <a:bodyPr wrap="square" rtlCol="0" anchor="ctr"/>
          <a:lstStyle/>
          <a:p>
            <a:pPr indent="0" marL="0">
              <a:buNone/>
            </a:pPr>
            <a:r>
              <a:rPr lang="en-US" sz="1700" b="1" dirty="0">
                <a:solidFill>
                  <a:srgbClr val="1A1A1A"/>
                </a:solidFill>
                <a:latin typeface="Calibri" pitchFamily="34" charset="0"/>
                <a:ea typeface="Calibri" pitchFamily="34" charset="-122"/>
                <a:cs typeface="Calibri" pitchFamily="34" charset="-120"/>
              </a:rPr>
              <a:t>Left:</a:t>
            </a:r>
            <a:endParaRPr lang="en-US" sz="1700" dirty="0"/>
          </a:p>
        </p:txBody>
      </p:sp>
      <p:sp>
        <p:nvSpPr>
          <p:cNvPr id="15" name="Text 13"/>
          <p:cNvSpPr txBox="1"/>
          <p:nvPr/>
        </p:nvSpPr>
        <p:spPr>
          <a:xfrm>
            <a:off x="8412480" y="4215384"/>
            <a:ext cx="2834640" cy="457200"/>
          </a:xfrm>
          <a:prstGeom prst="rect">
            <a:avLst/>
          </a:prstGeom>
          <a:noFill/>
          <a:ln/>
        </p:spPr>
        <p:txBody>
          <a:bodyPr wrap="square" rtlCol="0" anchor="ctr"/>
          <a:lstStyle/>
          <a:p>
            <a:pPr indent="0" marL="0">
              <a:buNone/>
            </a:pPr>
            <a:r>
              <a:rPr lang="en-US" sz="1700" dirty="0">
                <a:solidFill>
                  <a:srgbClr val="5C6B62"/>
                </a:solidFill>
                <a:latin typeface="Calibri" pitchFamily="34" charset="0"/>
                <a:ea typeface="Calibri" pitchFamily="34" charset="-122"/>
                <a:cs typeface="Calibri" pitchFamily="34" charset="-120"/>
              </a:rPr>
              <a:t>¼ bowl</a:t>
            </a:r>
            <a:endParaRPr lang="en-US" sz="1700" dirty="0"/>
          </a:p>
        </p:txBody>
      </p:sp>
      <p:sp>
        <p:nvSpPr>
          <p:cNvPr id="16" name="Text 14"/>
          <p:cNvSpPr txBox="1"/>
          <p:nvPr/>
        </p:nvSpPr>
        <p:spPr>
          <a:xfrm>
            <a:off x="6309360" y="4837176"/>
            <a:ext cx="2103120" cy="457200"/>
          </a:xfrm>
          <a:prstGeom prst="rect">
            <a:avLst/>
          </a:prstGeom>
          <a:noFill/>
          <a:ln/>
        </p:spPr>
        <p:txBody>
          <a:bodyPr wrap="square" rtlCol="0" anchor="ctr"/>
          <a:lstStyle/>
          <a:p>
            <a:pPr indent="0" marL="0">
              <a:buNone/>
            </a:pPr>
            <a:r>
              <a:rPr lang="en-US" sz="1700" b="1" dirty="0">
                <a:solidFill>
                  <a:srgbClr val="1A1A1A"/>
                </a:solidFill>
                <a:latin typeface="Calibri" pitchFamily="34" charset="0"/>
                <a:ea typeface="Calibri" pitchFamily="34" charset="-122"/>
                <a:cs typeface="Calibri" pitchFamily="34" charset="-120"/>
              </a:rPr>
              <a:t>Consumed:</a:t>
            </a:r>
            <a:endParaRPr lang="en-US" sz="1700" dirty="0"/>
          </a:p>
        </p:txBody>
      </p:sp>
      <p:sp>
        <p:nvSpPr>
          <p:cNvPr id="17" name="Text 15"/>
          <p:cNvSpPr txBox="1"/>
          <p:nvPr/>
        </p:nvSpPr>
        <p:spPr>
          <a:xfrm>
            <a:off x="8412480" y="4837176"/>
            <a:ext cx="2834640" cy="457200"/>
          </a:xfrm>
          <a:prstGeom prst="rect">
            <a:avLst/>
          </a:prstGeom>
          <a:noFill/>
          <a:ln/>
        </p:spPr>
        <p:txBody>
          <a:bodyPr wrap="square" rtlCol="0" anchor="ctr"/>
          <a:lstStyle/>
          <a:p>
            <a:pPr indent="0" marL="0">
              <a:buNone/>
            </a:pPr>
            <a:r>
              <a:rPr lang="en-US" sz="1700" b="1" dirty="0">
                <a:solidFill>
                  <a:srgbClr val="163D28"/>
                </a:solidFill>
                <a:latin typeface="Calibri" pitchFamily="34" charset="0"/>
                <a:ea typeface="Calibri" pitchFamily="34" charset="-122"/>
                <a:cs typeface="Calibri" pitchFamily="34" charset="-120"/>
              </a:rPr>
              <a:t>1¼ bowls</a:t>
            </a:r>
            <a:endParaRPr lang="en-US" sz="1700" dirty="0"/>
          </a:p>
        </p:txBody>
      </p:sp>
      <p:sp>
        <p:nvSpPr>
          <p:cNvPr id="18" name="Text 16"/>
          <p:cNvSpPr txBox="1"/>
          <p:nvPr/>
        </p:nvSpPr>
        <p:spPr>
          <a:xfrm>
            <a:off x="640080" y="5989320"/>
            <a:ext cx="10881360" cy="457200"/>
          </a:xfrm>
          <a:prstGeom prst="rect">
            <a:avLst/>
          </a:prstGeom>
          <a:noFill/>
          <a:ln/>
        </p:spPr>
        <p:txBody>
          <a:bodyPr wrap="square" rtlCol="0" anchor="ctr"/>
          <a:lstStyle/>
          <a:p>
            <a:pPr indent="0" marL="0">
              <a:buNone/>
            </a:pPr>
            <a:r>
              <a:rPr lang="en-US" sz="1700" b="1" i="1" dirty="0">
                <a:solidFill>
                  <a:srgbClr val="F2A691"/>
                </a:solidFill>
                <a:latin typeface="Calibri" pitchFamily="34" charset="0"/>
                <a:ea typeface="Calibri" pitchFamily="34" charset="-122"/>
                <a:cs typeface="Calibri" pitchFamily="34" charset="-120"/>
              </a:rPr>
              <a:t>That distinction is our innovation.</a:t>
            </a:r>
            <a:endParaRPr lang="en-US" sz="1700" dirty="0"/>
          </a:p>
        </p:txBody>
      </p:sp>
      <p:sp>
        <p:nvSpPr>
          <p:cNvPr id="19" name="Text 17"/>
          <p:cNvSpPr/>
          <p:nvPr/>
        </p:nvSpPr>
        <p:spPr>
          <a:xfrm>
            <a:off x="11475720" y="6446520"/>
            <a:ext cx="457200" cy="274320"/>
          </a:xfrm>
          <a:prstGeom prst="rect">
            <a:avLst/>
          </a:prstGeom>
          <a:noFill/>
          <a:ln/>
        </p:spPr>
        <p:txBody>
          <a:bodyPr wrap="square" rtlCol="0" anchor="ctr"/>
          <a:lstStyle/>
          <a:p>
            <a:pPr algn="r" indent="0" marL="0">
              <a:buNone/>
            </a:pPr>
            <a:r>
              <a:rPr lang="en-US" sz="1100" dirty="0">
                <a:solidFill>
                  <a:srgbClr val="5C6B62"/>
                </a:solidFill>
                <a:latin typeface="Calibri" pitchFamily="34" charset="0"/>
                <a:ea typeface="Calibri" pitchFamily="34" charset="-122"/>
                <a:cs typeface="Calibri" pitchFamily="34" charset="-120"/>
              </a:rPr>
              <a:t>5</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38912"/>
            <a:ext cx="8229600" cy="365760"/>
          </a:xfrm>
          <a:prstGeom prst="rect">
            <a:avLst/>
          </a:prstGeom>
          <a:noFill/>
          <a:ln/>
        </p:spPr>
        <p:txBody>
          <a:bodyPr wrap="square" rtlCol="0" anchor="ctr"/>
          <a:lstStyle/>
          <a:p>
            <a:pPr indent="0" marL="0">
              <a:buNone/>
            </a:pPr>
            <a:r>
              <a:rPr lang="en-US" sz="1400" b="1" spc="200" kern="0" dirty="0">
                <a:solidFill>
                  <a:srgbClr val="D9503F"/>
                </a:solidFill>
                <a:latin typeface="Calibri" pitchFamily="34" charset="0"/>
                <a:ea typeface="Calibri" pitchFamily="34" charset="-122"/>
                <a:cs typeface="Calibri" pitchFamily="34" charset="-120"/>
              </a:rPr>
              <a:t>05 · METHODOLOGY</a:t>
            </a:r>
            <a:endParaRPr lang="en-US" sz="1400" dirty="0"/>
          </a:p>
        </p:txBody>
      </p:sp>
      <p:sp>
        <p:nvSpPr>
          <p:cNvPr id="3" name="Text 1"/>
          <p:cNvSpPr txBox="1"/>
          <p:nvPr/>
        </p:nvSpPr>
        <p:spPr>
          <a:xfrm>
            <a:off x="640080" y="786384"/>
            <a:ext cx="10881360" cy="777240"/>
          </a:xfrm>
          <a:prstGeom prst="rect">
            <a:avLst/>
          </a:prstGeom>
          <a:noFill/>
          <a:ln/>
        </p:spPr>
        <p:txBody>
          <a:bodyPr wrap="square" rtlCol="0" anchor="ctr"/>
          <a:lstStyle/>
          <a:p>
            <a:pPr indent="0" marL="0">
              <a:buNone/>
            </a:pPr>
            <a:r>
              <a:rPr lang="en-US" sz="3600" b="1" dirty="0">
                <a:solidFill>
                  <a:srgbClr val="1A1A1A"/>
                </a:solidFill>
                <a:latin typeface="Calibri" pitchFamily="34" charset="0"/>
                <a:ea typeface="Calibri" pitchFamily="34" charset="-122"/>
                <a:cs typeface="Calibri" pitchFamily="34" charset="-120"/>
              </a:rPr>
              <a:t>How we built and verified it</a:t>
            </a:r>
            <a:endParaRPr lang="en-US" sz="3600" dirty="0"/>
          </a:p>
        </p:txBody>
      </p:sp>
      <p:sp>
        <p:nvSpPr>
          <p:cNvPr id="4" name="Shape 2"/>
          <p:cNvSpPr/>
          <p:nvPr/>
        </p:nvSpPr>
        <p:spPr>
          <a:xfrm>
            <a:off x="640080" y="1783080"/>
            <a:ext cx="530352" cy="530352"/>
          </a:xfrm>
          <a:prstGeom prst="ellipse">
            <a:avLst/>
          </a:prstGeom>
          <a:solidFill>
            <a:srgbClr val="D9503F"/>
          </a:solidFill>
          <a:ln/>
        </p:spPr>
      </p:sp>
      <p:sp>
        <p:nvSpPr>
          <p:cNvPr id="5" name="Text 3"/>
          <p:cNvSpPr txBox="1"/>
          <p:nvPr/>
        </p:nvSpPr>
        <p:spPr>
          <a:xfrm>
            <a:off x="640080" y="1783080"/>
            <a:ext cx="530352" cy="530352"/>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6" name="Text 4"/>
          <p:cNvSpPr txBox="1"/>
          <p:nvPr/>
        </p:nvSpPr>
        <p:spPr>
          <a:xfrm>
            <a:off x="1399032" y="1737360"/>
            <a:ext cx="2011680" cy="457200"/>
          </a:xfrm>
          <a:prstGeom prst="rect">
            <a:avLst/>
          </a:prstGeom>
          <a:noFill/>
          <a:ln/>
        </p:spPr>
        <p:txBody>
          <a:bodyPr wrap="square" rtlCol="0" anchor="ctr"/>
          <a:lstStyle/>
          <a:p>
            <a:pPr indent="0" marL="0">
              <a:buNone/>
            </a:pPr>
            <a:r>
              <a:rPr lang="en-US" sz="1800" b="1" dirty="0">
                <a:solidFill>
                  <a:srgbClr val="163D28"/>
                </a:solidFill>
                <a:latin typeface="Calibri" pitchFamily="34" charset="0"/>
                <a:ea typeface="Calibri" pitchFamily="34" charset="-122"/>
                <a:cs typeface="Calibri" pitchFamily="34" charset="-120"/>
              </a:rPr>
              <a:t>Understand</a:t>
            </a:r>
            <a:endParaRPr lang="en-US" sz="1800" dirty="0"/>
          </a:p>
        </p:txBody>
      </p:sp>
      <p:sp>
        <p:nvSpPr>
          <p:cNvPr id="7" name="Text 5"/>
          <p:cNvSpPr txBox="1"/>
          <p:nvPr/>
        </p:nvSpPr>
        <p:spPr>
          <a:xfrm>
            <a:off x="3017520" y="1737360"/>
            <a:ext cx="8503920" cy="1005840"/>
          </a:xfrm>
          <a:prstGeom prst="rect">
            <a:avLst/>
          </a:prstGeom>
          <a:noFill/>
          <a:ln/>
        </p:spPr>
        <p:txBody>
          <a:bodyPr wrap="square" rtlCol="0" anchor="t"/>
          <a:lstStyle/>
          <a:p>
            <a:pPr indent="0" marL="0">
              <a:lnSpc>
                <a:spcPct val="128000"/>
              </a:lnSpc>
              <a:buNone/>
            </a:pPr>
            <a:r>
              <a:rPr lang="en-US" sz="1350" dirty="0">
                <a:solidFill>
                  <a:srgbClr val="1A1A1A"/>
                </a:solidFill>
                <a:latin typeface="Calibri" pitchFamily="34" charset="0"/>
                <a:ea typeface="Calibri" pitchFamily="34" charset="-122"/>
                <a:cs typeface="Calibri" pitchFamily="34" charset="-120"/>
              </a:rPr>
              <a:t>Read the official challenge brief; researched NFHS-5, ICMR-NIN RDA-2020, FSSAI Eat Right Campus, and VIT's public hostel-mess structure before writing any code.</a:t>
            </a:r>
            <a:endParaRPr lang="en-US" sz="1350" dirty="0"/>
          </a:p>
        </p:txBody>
      </p:sp>
      <p:sp>
        <p:nvSpPr>
          <p:cNvPr id="8" name="Shape 6"/>
          <p:cNvSpPr/>
          <p:nvPr/>
        </p:nvSpPr>
        <p:spPr>
          <a:xfrm>
            <a:off x="640080" y="2953512"/>
            <a:ext cx="530352" cy="530352"/>
          </a:xfrm>
          <a:prstGeom prst="ellipse">
            <a:avLst/>
          </a:prstGeom>
          <a:solidFill>
            <a:srgbClr val="D9503F"/>
          </a:solidFill>
          <a:ln/>
        </p:spPr>
      </p:sp>
      <p:sp>
        <p:nvSpPr>
          <p:cNvPr id="9" name="Text 7"/>
          <p:cNvSpPr txBox="1"/>
          <p:nvPr/>
        </p:nvSpPr>
        <p:spPr>
          <a:xfrm>
            <a:off x="640080" y="2953512"/>
            <a:ext cx="530352" cy="530352"/>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0" name="Text 8"/>
          <p:cNvSpPr txBox="1"/>
          <p:nvPr/>
        </p:nvSpPr>
        <p:spPr>
          <a:xfrm>
            <a:off x="1399032" y="2907792"/>
            <a:ext cx="2011680" cy="457200"/>
          </a:xfrm>
          <a:prstGeom prst="rect">
            <a:avLst/>
          </a:prstGeom>
          <a:noFill/>
          <a:ln/>
        </p:spPr>
        <p:txBody>
          <a:bodyPr wrap="square" rtlCol="0" anchor="ctr"/>
          <a:lstStyle/>
          <a:p>
            <a:pPr indent="0" marL="0">
              <a:buNone/>
            </a:pPr>
            <a:r>
              <a:rPr lang="en-US" sz="1800" b="1" dirty="0">
                <a:solidFill>
                  <a:srgbClr val="163D28"/>
                </a:solidFill>
                <a:latin typeface="Calibri" pitchFamily="34" charset="0"/>
                <a:ea typeface="Calibri" pitchFamily="34" charset="-122"/>
                <a:cs typeface="Calibri" pitchFamily="34" charset="-120"/>
              </a:rPr>
              <a:t>Ideate</a:t>
            </a:r>
            <a:endParaRPr lang="en-US" sz="1800" dirty="0"/>
          </a:p>
        </p:txBody>
      </p:sp>
      <p:sp>
        <p:nvSpPr>
          <p:cNvPr id="11" name="Text 9"/>
          <p:cNvSpPr txBox="1"/>
          <p:nvPr/>
        </p:nvSpPr>
        <p:spPr>
          <a:xfrm>
            <a:off x="3017520" y="2907792"/>
            <a:ext cx="8503920" cy="1005840"/>
          </a:xfrm>
          <a:prstGeom prst="rect">
            <a:avLst/>
          </a:prstGeom>
          <a:noFill/>
          <a:ln/>
        </p:spPr>
        <p:txBody>
          <a:bodyPr wrap="square" rtlCol="0" anchor="t"/>
          <a:lstStyle/>
          <a:p>
            <a:pPr indent="0" marL="0">
              <a:lnSpc>
                <a:spcPct val="128000"/>
              </a:lnSpc>
              <a:buNone/>
            </a:pPr>
            <a:r>
              <a:rPr lang="en-US" sz="1350" dirty="0">
                <a:solidFill>
                  <a:srgbClr val="1A1A1A"/>
                </a:solidFill>
                <a:latin typeface="Calibri" pitchFamily="34" charset="0"/>
                <a:ea typeface="Calibri" pitchFamily="34" charset="-122"/>
                <a:cs typeface="Calibri" pitchFamily="34" charset="-120"/>
              </a:rPr>
              <a:t>Scoped an MVP against a living IDEA.md — every feature checked against "is this on the demo path" before being built.</a:t>
            </a:r>
            <a:endParaRPr lang="en-US" sz="1350" dirty="0"/>
          </a:p>
        </p:txBody>
      </p:sp>
      <p:sp>
        <p:nvSpPr>
          <p:cNvPr id="12" name="Shape 10"/>
          <p:cNvSpPr/>
          <p:nvPr/>
        </p:nvSpPr>
        <p:spPr>
          <a:xfrm>
            <a:off x="640080" y="4123944"/>
            <a:ext cx="530352" cy="530352"/>
          </a:xfrm>
          <a:prstGeom prst="ellipse">
            <a:avLst/>
          </a:prstGeom>
          <a:solidFill>
            <a:srgbClr val="D9503F"/>
          </a:solidFill>
          <a:ln/>
        </p:spPr>
      </p:sp>
      <p:sp>
        <p:nvSpPr>
          <p:cNvPr id="13" name="Text 11"/>
          <p:cNvSpPr txBox="1"/>
          <p:nvPr/>
        </p:nvSpPr>
        <p:spPr>
          <a:xfrm>
            <a:off x="640080" y="4123944"/>
            <a:ext cx="530352" cy="530352"/>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14" name="Text 12"/>
          <p:cNvSpPr txBox="1"/>
          <p:nvPr/>
        </p:nvSpPr>
        <p:spPr>
          <a:xfrm>
            <a:off x="1399032" y="4078224"/>
            <a:ext cx="2011680" cy="457200"/>
          </a:xfrm>
          <a:prstGeom prst="rect">
            <a:avLst/>
          </a:prstGeom>
          <a:noFill/>
          <a:ln/>
        </p:spPr>
        <p:txBody>
          <a:bodyPr wrap="square" rtlCol="0" anchor="ctr"/>
          <a:lstStyle/>
          <a:p>
            <a:pPr indent="0" marL="0">
              <a:buNone/>
            </a:pPr>
            <a:r>
              <a:rPr lang="en-US" sz="1800" b="1" dirty="0">
                <a:solidFill>
                  <a:srgbClr val="163D28"/>
                </a:solidFill>
                <a:latin typeface="Calibri" pitchFamily="34" charset="0"/>
                <a:ea typeface="Calibri" pitchFamily="34" charset="-122"/>
                <a:cs typeface="Calibri" pitchFamily="34" charset="-120"/>
              </a:rPr>
              <a:t>Build</a:t>
            </a:r>
            <a:endParaRPr lang="en-US" sz="1800" dirty="0"/>
          </a:p>
        </p:txBody>
      </p:sp>
      <p:sp>
        <p:nvSpPr>
          <p:cNvPr id="15" name="Text 13"/>
          <p:cNvSpPr txBox="1"/>
          <p:nvPr/>
        </p:nvSpPr>
        <p:spPr>
          <a:xfrm>
            <a:off x="3017520" y="4078224"/>
            <a:ext cx="8503920" cy="1005840"/>
          </a:xfrm>
          <a:prstGeom prst="rect">
            <a:avLst/>
          </a:prstGeom>
          <a:noFill/>
          <a:ln/>
        </p:spPr>
        <p:txBody>
          <a:bodyPr wrap="square" rtlCol="0" anchor="t"/>
          <a:lstStyle/>
          <a:p>
            <a:pPr indent="0" marL="0">
              <a:lnSpc>
                <a:spcPct val="128000"/>
              </a:lnSpc>
              <a:buNone/>
            </a:pPr>
            <a:r>
              <a:rPr lang="en-US" sz="1350" dirty="0">
                <a:solidFill>
                  <a:srgbClr val="1A1A1A"/>
                </a:solidFill>
                <a:latin typeface="Calibri" pitchFamily="34" charset="0"/>
                <a:ea typeface="Calibri" pitchFamily="34" charset="-122"/>
                <a:cs typeface="Calibri" pitchFamily="34" charset="-120"/>
              </a:rPr>
              <a:t>Vanilla HTML/CSS/JS, zero build step, localStorage persistence — runs by opening one file, no setup friction for judges.</a:t>
            </a:r>
            <a:endParaRPr lang="en-US" sz="1350" dirty="0"/>
          </a:p>
        </p:txBody>
      </p:sp>
      <p:sp>
        <p:nvSpPr>
          <p:cNvPr id="16" name="Shape 14"/>
          <p:cNvSpPr/>
          <p:nvPr/>
        </p:nvSpPr>
        <p:spPr>
          <a:xfrm>
            <a:off x="640080" y="5294376"/>
            <a:ext cx="530352" cy="530352"/>
          </a:xfrm>
          <a:prstGeom prst="ellipse">
            <a:avLst/>
          </a:prstGeom>
          <a:solidFill>
            <a:srgbClr val="D9503F"/>
          </a:solidFill>
          <a:ln/>
        </p:spPr>
      </p:sp>
      <p:sp>
        <p:nvSpPr>
          <p:cNvPr id="17" name="Text 15"/>
          <p:cNvSpPr txBox="1"/>
          <p:nvPr/>
        </p:nvSpPr>
        <p:spPr>
          <a:xfrm>
            <a:off x="640080" y="5294376"/>
            <a:ext cx="530352" cy="530352"/>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18" name="Text 16"/>
          <p:cNvSpPr txBox="1"/>
          <p:nvPr/>
        </p:nvSpPr>
        <p:spPr>
          <a:xfrm>
            <a:off x="1399032" y="5248656"/>
            <a:ext cx="2011680" cy="457200"/>
          </a:xfrm>
          <a:prstGeom prst="rect">
            <a:avLst/>
          </a:prstGeom>
          <a:noFill/>
          <a:ln/>
        </p:spPr>
        <p:txBody>
          <a:bodyPr wrap="square" rtlCol="0" anchor="ctr"/>
          <a:lstStyle/>
          <a:p>
            <a:pPr indent="0" marL="0">
              <a:buNone/>
            </a:pPr>
            <a:r>
              <a:rPr lang="en-US" sz="1800" b="1" dirty="0">
                <a:solidFill>
                  <a:srgbClr val="163D28"/>
                </a:solidFill>
                <a:latin typeface="Calibri" pitchFamily="34" charset="0"/>
                <a:ea typeface="Calibri" pitchFamily="34" charset="-122"/>
                <a:cs typeface="Calibri" pitchFamily="34" charset="-120"/>
              </a:rPr>
              <a:t>Validate</a:t>
            </a:r>
            <a:endParaRPr lang="en-US" sz="1800" dirty="0"/>
          </a:p>
        </p:txBody>
      </p:sp>
      <p:sp>
        <p:nvSpPr>
          <p:cNvPr id="19" name="Text 17"/>
          <p:cNvSpPr txBox="1"/>
          <p:nvPr/>
        </p:nvSpPr>
        <p:spPr>
          <a:xfrm>
            <a:off x="3017520" y="5248656"/>
            <a:ext cx="8503920" cy="1005840"/>
          </a:xfrm>
          <a:prstGeom prst="rect">
            <a:avLst/>
          </a:prstGeom>
          <a:noFill/>
          <a:ln/>
        </p:spPr>
        <p:txBody>
          <a:bodyPr wrap="square" rtlCol="0" anchor="t"/>
          <a:lstStyle/>
          <a:p>
            <a:pPr indent="0" marL="0">
              <a:lnSpc>
                <a:spcPct val="128000"/>
              </a:lnSpc>
              <a:buNone/>
            </a:pPr>
            <a:r>
              <a:rPr lang="en-US" sz="1350" dirty="0">
                <a:solidFill>
                  <a:srgbClr val="1A1A1A"/>
                </a:solidFill>
                <a:latin typeface="Calibri" pitchFamily="34" charset="0"/>
                <a:ea typeface="Calibri" pitchFamily="34" charset="-122"/>
                <a:cs typeface="Calibri" pitchFamily="34" charset="-120"/>
              </a:rPr>
              <a:t>Automated interaction tests (jsdom) for every feature, plus real rendered screenshots for visual QA — real bugs were caught and fixed this way, not just eyeballed.</a:t>
            </a:r>
            <a:endParaRPr lang="en-US" sz="1350" dirty="0"/>
          </a:p>
        </p:txBody>
      </p:sp>
      <p:sp>
        <p:nvSpPr>
          <p:cNvPr id="20" name="Text 18"/>
          <p:cNvSpPr/>
          <p:nvPr/>
        </p:nvSpPr>
        <p:spPr>
          <a:xfrm>
            <a:off x="11475720" y="6446520"/>
            <a:ext cx="457200" cy="274320"/>
          </a:xfrm>
          <a:prstGeom prst="rect">
            <a:avLst/>
          </a:prstGeom>
          <a:noFill/>
          <a:ln/>
        </p:spPr>
        <p:txBody>
          <a:bodyPr wrap="square" rtlCol="0" anchor="ctr"/>
          <a:lstStyle/>
          <a:p>
            <a:pPr algn="r" indent="0" marL="0">
              <a:buNone/>
            </a:pPr>
            <a:r>
              <a:rPr lang="en-US" sz="1100" dirty="0">
                <a:solidFill>
                  <a:srgbClr val="5C6B62"/>
                </a:solidFill>
                <a:latin typeface="Calibri" pitchFamily="34" charset="0"/>
                <a:ea typeface="Calibri" pitchFamily="34" charset="-122"/>
                <a:cs typeface="Calibri" pitchFamily="34" charset="-120"/>
              </a:rPr>
              <a:t>6</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63D28"/>
        </a:solidFill>
      </p:bgPr>
    </p:bg>
    <p:spTree>
      <p:nvGrpSpPr>
        <p:cNvPr id="1" name=""/>
        <p:cNvGrpSpPr/>
        <p:nvPr/>
      </p:nvGrpSpPr>
      <p:grpSpPr>
        <a:xfrm>
          <a:off x="0" y="0"/>
          <a:ext cx="0" cy="0"/>
          <a:chOff x="0" y="0"/>
          <a:chExt cx="0" cy="0"/>
        </a:xfrm>
      </p:grpSpPr>
      <p:sp>
        <p:nvSpPr>
          <p:cNvPr id="2" name="Text 0"/>
          <p:cNvSpPr txBox="1"/>
          <p:nvPr/>
        </p:nvSpPr>
        <p:spPr>
          <a:xfrm>
            <a:off x="640080" y="438912"/>
            <a:ext cx="8229600" cy="365760"/>
          </a:xfrm>
          <a:prstGeom prst="rect">
            <a:avLst/>
          </a:prstGeom>
          <a:noFill/>
          <a:ln/>
        </p:spPr>
        <p:txBody>
          <a:bodyPr wrap="square" rtlCol="0" anchor="ctr"/>
          <a:lstStyle/>
          <a:p>
            <a:pPr indent="0" marL="0">
              <a:buNone/>
            </a:pPr>
            <a:r>
              <a:rPr lang="en-US" sz="1400" b="1" spc="200" kern="0" dirty="0">
                <a:solidFill>
                  <a:srgbClr val="F2A691"/>
                </a:solidFill>
                <a:latin typeface="Calibri" pitchFamily="34" charset="0"/>
                <a:ea typeface="Calibri" pitchFamily="34" charset="-122"/>
                <a:cs typeface="Calibri" pitchFamily="34" charset="-120"/>
              </a:rPr>
              <a:t>06 · IMPACT</a:t>
            </a:r>
            <a:endParaRPr lang="en-US" sz="1400" dirty="0"/>
          </a:p>
        </p:txBody>
      </p:sp>
      <p:sp>
        <p:nvSpPr>
          <p:cNvPr id="3" name="Text 1"/>
          <p:cNvSpPr txBox="1"/>
          <p:nvPr/>
        </p:nvSpPr>
        <p:spPr>
          <a:xfrm>
            <a:off x="640080" y="786384"/>
            <a:ext cx="10881360" cy="777240"/>
          </a:xfrm>
          <a:prstGeom prst="rect">
            <a:avLst/>
          </a:prstGeom>
          <a:noFill/>
          <a:ln/>
        </p:spPr>
        <p:txBody>
          <a:bodyPr wrap="square" rtlCol="0" anchor="ctr"/>
          <a:lstStyle/>
          <a:p>
            <a:pPr indent="0" marL="0">
              <a:buNone/>
            </a:pPr>
            <a:r>
              <a:rPr lang="en-US" sz="3400" b="1" dirty="0">
                <a:solidFill>
                  <a:srgbClr val="FFFFFF"/>
                </a:solidFill>
                <a:latin typeface="Calibri" pitchFamily="34" charset="0"/>
                <a:ea typeface="Calibri" pitchFamily="34" charset="-122"/>
                <a:cs typeface="Calibri" pitchFamily="34" charset="-120"/>
              </a:rPr>
              <a:t>We don't claim impact. We measure it.</a:t>
            </a:r>
            <a:endParaRPr lang="en-US" sz="3400" dirty="0"/>
          </a:p>
        </p:txBody>
      </p:sp>
      <p:sp>
        <p:nvSpPr>
          <p:cNvPr id="4" name="Text 2"/>
          <p:cNvSpPr txBox="1"/>
          <p:nvPr/>
        </p:nvSpPr>
        <p:spPr>
          <a:xfrm>
            <a:off x="640080" y="1627632"/>
            <a:ext cx="10881360" cy="365760"/>
          </a:xfrm>
          <a:prstGeom prst="rect">
            <a:avLst/>
          </a:prstGeom>
          <a:noFill/>
          <a:ln/>
        </p:spPr>
        <p:txBody>
          <a:bodyPr wrap="square" rtlCol="0" anchor="ctr"/>
          <a:lstStyle/>
          <a:p>
            <a:pPr indent="0" marL="0">
              <a:buNone/>
            </a:pPr>
            <a:r>
              <a:rPr lang="en-US" sz="1450" dirty="0">
                <a:solidFill>
                  <a:srgbClr val="CFE3D5"/>
                </a:solidFill>
                <a:latin typeface="Calibri" pitchFamily="34" charset="0"/>
                <a:ea typeface="Calibri" pitchFamily="34" charset="-122"/>
                <a:cs typeface="Calibri" pitchFamily="34" charset="-120"/>
              </a:rPr>
              <a:t>If piloted in one hostel block, this is what we intend to track:</a:t>
            </a:r>
            <a:endParaRPr lang="en-US" sz="1450" dirty="0"/>
          </a:p>
        </p:txBody>
      </p:sp>
      <p:sp>
        <p:nvSpPr>
          <p:cNvPr id="5" name="Shape 3"/>
          <p:cNvSpPr/>
          <p:nvPr/>
        </p:nvSpPr>
        <p:spPr>
          <a:xfrm>
            <a:off x="640080" y="2148840"/>
            <a:ext cx="3429000" cy="868680"/>
          </a:xfrm>
          <a:prstGeom prst="roundRect">
            <a:avLst>
              <a:gd name="adj" fmla="val 10526"/>
            </a:avLst>
          </a:prstGeom>
          <a:solidFill>
            <a:srgbClr val="1F5236"/>
          </a:solidFill>
          <a:ln/>
        </p:spPr>
      </p:sp>
      <p:sp>
        <p:nvSpPr>
          <p:cNvPr id="6" name="Text 4"/>
          <p:cNvSpPr txBox="1"/>
          <p:nvPr/>
        </p:nvSpPr>
        <p:spPr>
          <a:xfrm>
            <a:off x="777240" y="2148840"/>
            <a:ext cx="640080" cy="868680"/>
          </a:xfrm>
          <a:prstGeom prst="rect">
            <a:avLst/>
          </a:prstGeom>
          <a:noFill/>
          <a:ln/>
        </p:spPr>
        <p:txBody>
          <a:bodyPr wrap="square" rtlCol="0" anchor="ctr"/>
          <a:lstStyle/>
          <a:p>
            <a:pPr algn="ctr" indent="0" marL="0">
              <a:buNone/>
            </a:pPr>
            <a:r>
              <a:rPr lang="en-US" sz="2600" b="1" dirty="0">
                <a:solidFill>
                  <a:srgbClr val="F2A691"/>
                </a:solidFill>
                <a:latin typeface="Calibri" pitchFamily="34" charset="0"/>
                <a:ea typeface="Calibri" pitchFamily="34" charset="-122"/>
                <a:cs typeface="Calibri" pitchFamily="34" charset="-120"/>
              </a:rPr>
              <a:t>↓</a:t>
            </a:r>
            <a:endParaRPr lang="en-US" sz="2600" dirty="0"/>
          </a:p>
        </p:txBody>
      </p:sp>
      <p:sp>
        <p:nvSpPr>
          <p:cNvPr id="7" name="Text 5"/>
          <p:cNvSpPr txBox="1"/>
          <p:nvPr/>
        </p:nvSpPr>
        <p:spPr>
          <a:xfrm>
            <a:off x="1417320" y="2148840"/>
            <a:ext cx="2514600" cy="868680"/>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Food waste</a:t>
            </a:r>
            <a:endParaRPr lang="en-US" sz="1400" dirty="0"/>
          </a:p>
        </p:txBody>
      </p:sp>
      <p:sp>
        <p:nvSpPr>
          <p:cNvPr id="8" name="Shape 6"/>
          <p:cNvSpPr/>
          <p:nvPr/>
        </p:nvSpPr>
        <p:spPr>
          <a:xfrm>
            <a:off x="4288536" y="2148840"/>
            <a:ext cx="3429000" cy="868680"/>
          </a:xfrm>
          <a:prstGeom prst="roundRect">
            <a:avLst>
              <a:gd name="adj" fmla="val 10526"/>
            </a:avLst>
          </a:prstGeom>
          <a:solidFill>
            <a:srgbClr val="1F5236"/>
          </a:solidFill>
          <a:ln/>
        </p:spPr>
      </p:sp>
      <p:sp>
        <p:nvSpPr>
          <p:cNvPr id="9" name="Text 7"/>
          <p:cNvSpPr txBox="1"/>
          <p:nvPr/>
        </p:nvSpPr>
        <p:spPr>
          <a:xfrm>
            <a:off x="4425696" y="2148840"/>
            <a:ext cx="640080" cy="868680"/>
          </a:xfrm>
          <a:prstGeom prst="rect">
            <a:avLst/>
          </a:prstGeom>
          <a:noFill/>
          <a:ln/>
        </p:spPr>
        <p:txBody>
          <a:bodyPr wrap="square" rtlCol="0" anchor="ctr"/>
          <a:lstStyle/>
          <a:p>
            <a:pPr algn="ctr" indent="0" marL="0">
              <a:buNone/>
            </a:pPr>
            <a:r>
              <a:rPr lang="en-US" sz="2600" b="1" dirty="0">
                <a:solidFill>
                  <a:srgbClr val="F2A691"/>
                </a:solidFill>
                <a:latin typeface="Calibri" pitchFamily="34" charset="0"/>
                <a:ea typeface="Calibri" pitchFamily="34" charset="-122"/>
                <a:cs typeface="Calibri" pitchFamily="34" charset="-120"/>
              </a:rPr>
              <a:t>↑</a:t>
            </a:r>
            <a:endParaRPr lang="en-US" sz="2600" dirty="0"/>
          </a:p>
        </p:txBody>
      </p:sp>
      <p:sp>
        <p:nvSpPr>
          <p:cNvPr id="10" name="Text 8"/>
          <p:cNvSpPr txBox="1"/>
          <p:nvPr/>
        </p:nvSpPr>
        <p:spPr>
          <a:xfrm>
            <a:off x="5065776" y="2148840"/>
            <a:ext cx="2514600" cy="868680"/>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Nutritional awareness</a:t>
            </a:r>
            <a:endParaRPr lang="en-US" sz="1400" dirty="0"/>
          </a:p>
        </p:txBody>
      </p:sp>
      <p:sp>
        <p:nvSpPr>
          <p:cNvPr id="11" name="Shape 9"/>
          <p:cNvSpPr/>
          <p:nvPr/>
        </p:nvSpPr>
        <p:spPr>
          <a:xfrm>
            <a:off x="7936992" y="2148840"/>
            <a:ext cx="3429000" cy="868680"/>
          </a:xfrm>
          <a:prstGeom prst="roundRect">
            <a:avLst>
              <a:gd name="adj" fmla="val 10526"/>
            </a:avLst>
          </a:prstGeom>
          <a:solidFill>
            <a:srgbClr val="1F5236"/>
          </a:solidFill>
          <a:ln/>
        </p:spPr>
      </p:sp>
      <p:sp>
        <p:nvSpPr>
          <p:cNvPr id="12" name="Text 10"/>
          <p:cNvSpPr txBox="1"/>
          <p:nvPr/>
        </p:nvSpPr>
        <p:spPr>
          <a:xfrm>
            <a:off x="8074152" y="2148840"/>
            <a:ext cx="640080" cy="868680"/>
          </a:xfrm>
          <a:prstGeom prst="rect">
            <a:avLst/>
          </a:prstGeom>
          <a:noFill/>
          <a:ln/>
        </p:spPr>
        <p:txBody>
          <a:bodyPr wrap="square" rtlCol="0" anchor="ctr"/>
          <a:lstStyle/>
          <a:p>
            <a:pPr algn="ctr" indent="0" marL="0">
              <a:buNone/>
            </a:pPr>
            <a:r>
              <a:rPr lang="en-US" sz="2600" b="1" dirty="0">
                <a:solidFill>
                  <a:srgbClr val="F2A691"/>
                </a:solidFill>
                <a:latin typeface="Calibri" pitchFamily="34" charset="0"/>
                <a:ea typeface="Calibri" pitchFamily="34" charset="-122"/>
                <a:cs typeface="Calibri" pitchFamily="34" charset="-120"/>
              </a:rPr>
              <a:t>↓</a:t>
            </a:r>
            <a:endParaRPr lang="en-US" sz="2600" dirty="0"/>
          </a:p>
        </p:txBody>
      </p:sp>
      <p:sp>
        <p:nvSpPr>
          <p:cNvPr id="13" name="Text 11"/>
          <p:cNvSpPr txBox="1"/>
          <p:nvPr/>
        </p:nvSpPr>
        <p:spPr>
          <a:xfrm>
            <a:off x="8714232" y="2148840"/>
            <a:ext cx="2514600" cy="868680"/>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Over-serving</a:t>
            </a:r>
            <a:endParaRPr lang="en-US" sz="1400" dirty="0"/>
          </a:p>
        </p:txBody>
      </p:sp>
      <p:sp>
        <p:nvSpPr>
          <p:cNvPr id="14" name="Shape 12"/>
          <p:cNvSpPr/>
          <p:nvPr/>
        </p:nvSpPr>
        <p:spPr>
          <a:xfrm>
            <a:off x="640080" y="3200400"/>
            <a:ext cx="3429000" cy="868680"/>
          </a:xfrm>
          <a:prstGeom prst="roundRect">
            <a:avLst>
              <a:gd name="adj" fmla="val 10526"/>
            </a:avLst>
          </a:prstGeom>
          <a:solidFill>
            <a:srgbClr val="1F5236"/>
          </a:solidFill>
          <a:ln/>
        </p:spPr>
      </p:sp>
      <p:sp>
        <p:nvSpPr>
          <p:cNvPr id="15" name="Text 13"/>
          <p:cNvSpPr txBox="1"/>
          <p:nvPr/>
        </p:nvSpPr>
        <p:spPr>
          <a:xfrm>
            <a:off x="777240" y="3200400"/>
            <a:ext cx="640080" cy="868680"/>
          </a:xfrm>
          <a:prstGeom prst="rect">
            <a:avLst/>
          </a:prstGeom>
          <a:noFill/>
          <a:ln/>
        </p:spPr>
        <p:txBody>
          <a:bodyPr wrap="square" rtlCol="0" anchor="ctr"/>
          <a:lstStyle/>
          <a:p>
            <a:pPr algn="ctr" indent="0" marL="0">
              <a:buNone/>
            </a:pPr>
            <a:r>
              <a:rPr lang="en-US" sz="2600" b="1" dirty="0">
                <a:solidFill>
                  <a:srgbClr val="F2A691"/>
                </a:solidFill>
                <a:latin typeface="Calibri" pitchFamily="34" charset="0"/>
                <a:ea typeface="Calibri" pitchFamily="34" charset="-122"/>
                <a:cs typeface="Calibri" pitchFamily="34" charset="-120"/>
              </a:rPr>
              <a:t>↑</a:t>
            </a:r>
            <a:endParaRPr lang="en-US" sz="2600" dirty="0"/>
          </a:p>
        </p:txBody>
      </p:sp>
      <p:sp>
        <p:nvSpPr>
          <p:cNvPr id="16" name="Text 14"/>
          <p:cNvSpPr txBox="1"/>
          <p:nvPr/>
        </p:nvSpPr>
        <p:spPr>
          <a:xfrm>
            <a:off x="1417320" y="3200400"/>
            <a:ext cx="2514600" cy="868680"/>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Menu optimization</a:t>
            </a:r>
            <a:endParaRPr lang="en-US" sz="1400" dirty="0"/>
          </a:p>
        </p:txBody>
      </p:sp>
      <p:sp>
        <p:nvSpPr>
          <p:cNvPr id="17" name="Shape 15"/>
          <p:cNvSpPr/>
          <p:nvPr/>
        </p:nvSpPr>
        <p:spPr>
          <a:xfrm>
            <a:off x="4288536" y="3200400"/>
            <a:ext cx="3429000" cy="868680"/>
          </a:xfrm>
          <a:prstGeom prst="roundRect">
            <a:avLst>
              <a:gd name="adj" fmla="val 10526"/>
            </a:avLst>
          </a:prstGeom>
          <a:solidFill>
            <a:srgbClr val="1F5236"/>
          </a:solidFill>
          <a:ln/>
        </p:spPr>
      </p:sp>
      <p:sp>
        <p:nvSpPr>
          <p:cNvPr id="18" name="Text 16"/>
          <p:cNvSpPr txBox="1"/>
          <p:nvPr/>
        </p:nvSpPr>
        <p:spPr>
          <a:xfrm>
            <a:off x="4425696" y="3200400"/>
            <a:ext cx="640080" cy="868680"/>
          </a:xfrm>
          <a:prstGeom prst="rect">
            <a:avLst/>
          </a:prstGeom>
          <a:noFill/>
          <a:ln/>
        </p:spPr>
        <p:txBody>
          <a:bodyPr wrap="square" rtlCol="0" anchor="ctr"/>
          <a:lstStyle/>
          <a:p>
            <a:pPr algn="ctr" indent="0" marL="0">
              <a:buNone/>
            </a:pPr>
            <a:r>
              <a:rPr lang="en-US" sz="2600" b="1" dirty="0">
                <a:solidFill>
                  <a:srgbClr val="F2A691"/>
                </a:solidFill>
                <a:latin typeface="Calibri" pitchFamily="34" charset="0"/>
                <a:ea typeface="Calibri" pitchFamily="34" charset="-122"/>
                <a:cs typeface="Calibri" pitchFamily="34" charset="-120"/>
              </a:rPr>
              <a:t>↑</a:t>
            </a:r>
            <a:endParaRPr lang="en-US" sz="2600" dirty="0"/>
          </a:p>
        </p:txBody>
      </p:sp>
      <p:sp>
        <p:nvSpPr>
          <p:cNvPr id="19" name="Text 17"/>
          <p:cNvSpPr txBox="1"/>
          <p:nvPr/>
        </p:nvSpPr>
        <p:spPr>
          <a:xfrm>
            <a:off x="5065776" y="3200400"/>
            <a:ext cx="2514600" cy="868680"/>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Local/seasonal food adoption</a:t>
            </a:r>
            <a:endParaRPr lang="en-US" sz="1400" dirty="0"/>
          </a:p>
        </p:txBody>
      </p:sp>
      <p:sp>
        <p:nvSpPr>
          <p:cNvPr id="20" name="Shape 18"/>
          <p:cNvSpPr/>
          <p:nvPr/>
        </p:nvSpPr>
        <p:spPr>
          <a:xfrm>
            <a:off x="7936992" y="3200400"/>
            <a:ext cx="3429000" cy="868680"/>
          </a:xfrm>
          <a:prstGeom prst="roundRect">
            <a:avLst>
              <a:gd name="adj" fmla="val 10526"/>
            </a:avLst>
          </a:prstGeom>
          <a:solidFill>
            <a:srgbClr val="1F5236"/>
          </a:solidFill>
          <a:ln/>
        </p:spPr>
      </p:sp>
      <p:sp>
        <p:nvSpPr>
          <p:cNvPr id="21" name="Text 19"/>
          <p:cNvSpPr txBox="1"/>
          <p:nvPr/>
        </p:nvSpPr>
        <p:spPr>
          <a:xfrm>
            <a:off x="8074152" y="3200400"/>
            <a:ext cx="640080" cy="868680"/>
          </a:xfrm>
          <a:prstGeom prst="rect">
            <a:avLst/>
          </a:prstGeom>
          <a:noFill/>
          <a:ln/>
        </p:spPr>
        <p:txBody>
          <a:bodyPr wrap="square" rtlCol="0" anchor="ctr"/>
          <a:lstStyle/>
          <a:p>
            <a:pPr algn="ctr" indent="0" marL="0">
              <a:buNone/>
            </a:pPr>
            <a:r>
              <a:rPr lang="en-US" sz="2600" b="1" dirty="0">
                <a:solidFill>
                  <a:srgbClr val="F2A691"/>
                </a:solidFill>
                <a:latin typeface="Calibri" pitchFamily="34" charset="0"/>
                <a:ea typeface="Calibri" pitchFamily="34" charset="-122"/>
                <a:cs typeface="Calibri" pitchFamily="34" charset="-120"/>
              </a:rPr>
              <a:t>↑</a:t>
            </a:r>
            <a:endParaRPr lang="en-US" sz="2600" dirty="0"/>
          </a:p>
        </p:txBody>
      </p:sp>
      <p:sp>
        <p:nvSpPr>
          <p:cNvPr id="22" name="Text 20"/>
          <p:cNvSpPr txBox="1"/>
          <p:nvPr/>
        </p:nvSpPr>
        <p:spPr>
          <a:xfrm>
            <a:off x="8714232" y="3200400"/>
            <a:ext cx="2514600" cy="868680"/>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Data-driven mess management</a:t>
            </a:r>
            <a:endParaRPr lang="en-US" sz="1400" dirty="0"/>
          </a:p>
        </p:txBody>
      </p:sp>
      <p:sp>
        <p:nvSpPr>
          <p:cNvPr id="23" name="Text 21"/>
          <p:cNvSpPr txBox="1"/>
          <p:nvPr/>
        </p:nvSpPr>
        <p:spPr>
          <a:xfrm>
            <a:off x="640080" y="4526280"/>
            <a:ext cx="10881360" cy="1005840"/>
          </a:xfrm>
          <a:prstGeom prst="rect">
            <a:avLst/>
          </a:prstGeom>
          <a:noFill/>
          <a:ln/>
        </p:spPr>
        <p:txBody>
          <a:bodyPr wrap="square" rtlCol="0" anchor="ctr"/>
          <a:lstStyle/>
          <a:p>
            <a:pPr indent="0" marL="0">
              <a:lnSpc>
                <a:spcPct val="130000"/>
              </a:lnSpc>
              <a:buNone/>
            </a:pPr>
            <a:r>
              <a:rPr lang="en-US" sz="1300" dirty="0">
                <a:solidFill>
                  <a:srgbClr val="E7EFEA"/>
                </a:solidFill>
                <a:latin typeface="Calibri" pitchFamily="34" charset="0"/>
                <a:ea typeface="Calibri" pitchFamily="34" charset="-122"/>
                <a:cs typeface="Calibri" pitchFamily="34" charset="-120"/>
              </a:rPr>
              <a:t>Grounded in a real destination, not just a demo: ThaliMetrics maps directly onto FSSAI Eat Right Campus's food-waste-management, healthy-diets, and local-food-promotion criteria — the framework already recommends daily kilogram-level waste monitoring and food-waste audits.</a:t>
            </a:r>
            <a:endParaRPr lang="en-US" sz="1300" dirty="0"/>
          </a:p>
        </p:txBody>
      </p:sp>
      <p:sp>
        <p:nvSpPr>
          <p:cNvPr id="24" name="Text 22"/>
          <p:cNvSpPr txBox="1"/>
          <p:nvPr/>
        </p:nvSpPr>
        <p:spPr>
          <a:xfrm>
            <a:off x="640080" y="5669280"/>
            <a:ext cx="10881360" cy="457200"/>
          </a:xfrm>
          <a:prstGeom prst="rect">
            <a:avLst/>
          </a:prstGeom>
          <a:noFill/>
          <a:ln/>
        </p:spPr>
        <p:txBody>
          <a:bodyPr wrap="square" rtlCol="0" anchor="ctr"/>
          <a:lstStyle/>
          <a:p>
            <a:pPr indent="0" marL="0">
              <a:buNone/>
            </a:pPr>
            <a:r>
              <a:rPr lang="en-US" sz="1600" b="1" i="1" dirty="0">
                <a:solidFill>
                  <a:srgbClr val="F2A691"/>
                </a:solidFill>
                <a:latin typeface="Calibri" pitchFamily="34" charset="0"/>
                <a:ea typeface="Calibri" pitchFamily="34" charset="-122"/>
                <a:cs typeface="Calibri" pitchFamily="34" charset="-120"/>
              </a:rPr>
              <a:t>"We can't reduce what we can't measure."</a:t>
            </a:r>
            <a:endParaRPr lang="en-US" sz="1600" dirty="0"/>
          </a:p>
        </p:txBody>
      </p:sp>
      <p:sp>
        <p:nvSpPr>
          <p:cNvPr id="25" name="Text 23"/>
          <p:cNvSpPr/>
          <p:nvPr/>
        </p:nvSpPr>
        <p:spPr>
          <a:xfrm>
            <a:off x="11475720" y="6446520"/>
            <a:ext cx="457200" cy="274320"/>
          </a:xfrm>
          <a:prstGeom prst="rect">
            <a:avLst/>
          </a:prstGeom>
          <a:noFill/>
          <a:ln/>
        </p:spPr>
        <p:txBody>
          <a:bodyPr wrap="square" rtlCol="0" anchor="ctr"/>
          <a:lstStyle/>
          <a:p>
            <a:pPr algn="r" indent="0" marL="0">
              <a:buNone/>
            </a:pPr>
            <a:r>
              <a:rPr lang="en-US" sz="1100" dirty="0">
                <a:solidFill>
                  <a:srgbClr val="5C6B62"/>
                </a:solidFill>
                <a:latin typeface="Calibri" pitchFamily="34" charset="0"/>
                <a:ea typeface="Calibri" pitchFamily="34" charset="-122"/>
                <a:cs typeface="Calibri" pitchFamily="34" charset="-120"/>
              </a:rPr>
              <a:t>7</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38912"/>
            <a:ext cx="8229600" cy="365760"/>
          </a:xfrm>
          <a:prstGeom prst="rect">
            <a:avLst/>
          </a:prstGeom>
          <a:noFill/>
          <a:ln/>
        </p:spPr>
        <p:txBody>
          <a:bodyPr wrap="square" rtlCol="0" anchor="ctr"/>
          <a:lstStyle/>
          <a:p>
            <a:pPr indent="0" marL="0">
              <a:buNone/>
            </a:pPr>
            <a:r>
              <a:rPr lang="en-US" sz="1400" b="1" spc="200" kern="0" dirty="0">
                <a:solidFill>
                  <a:srgbClr val="D9503F"/>
                </a:solidFill>
                <a:latin typeface="Calibri" pitchFamily="34" charset="0"/>
                <a:ea typeface="Calibri" pitchFamily="34" charset="-122"/>
                <a:cs typeface="Calibri" pitchFamily="34" charset="-120"/>
              </a:rPr>
              <a:t>07 · INNOVATION &amp; USP</a:t>
            </a:r>
            <a:endParaRPr lang="en-US" sz="1400" dirty="0"/>
          </a:p>
        </p:txBody>
      </p:sp>
      <p:sp>
        <p:nvSpPr>
          <p:cNvPr id="3" name="Text 1"/>
          <p:cNvSpPr txBox="1"/>
          <p:nvPr/>
        </p:nvSpPr>
        <p:spPr>
          <a:xfrm>
            <a:off x="640080" y="786384"/>
            <a:ext cx="10881360" cy="777240"/>
          </a:xfrm>
          <a:prstGeom prst="rect">
            <a:avLst/>
          </a:prstGeom>
          <a:noFill/>
          <a:ln/>
        </p:spPr>
        <p:txBody>
          <a:bodyPr wrap="square" rtlCol="0" anchor="ctr"/>
          <a:lstStyle/>
          <a:p>
            <a:pPr indent="0" marL="0">
              <a:buNone/>
            </a:pPr>
            <a:r>
              <a:rPr lang="en-US" sz="3600" b="1" dirty="0">
                <a:solidFill>
                  <a:srgbClr val="1A1A1A"/>
                </a:solidFill>
                <a:latin typeface="Calibri" pitchFamily="34" charset="0"/>
                <a:ea typeface="Calibri" pitchFamily="34" charset="-122"/>
                <a:cs typeface="Calibri" pitchFamily="34" charset="-120"/>
              </a:rPr>
              <a:t>Why generic waste percentages lie</a:t>
            </a:r>
            <a:endParaRPr lang="en-US" sz="3600" dirty="0"/>
          </a:p>
        </p:txBody>
      </p:sp>
      <p:sp>
        <p:nvSpPr>
          <p:cNvPr id="4" name="Shape 2"/>
          <p:cNvSpPr/>
          <p:nvPr/>
        </p:nvSpPr>
        <p:spPr>
          <a:xfrm>
            <a:off x="640080" y="1737360"/>
            <a:ext cx="5120640" cy="1554480"/>
          </a:xfrm>
          <a:prstGeom prst="roundRect">
            <a:avLst>
              <a:gd name="adj" fmla="val 5882"/>
            </a:avLst>
          </a:prstGeom>
          <a:solidFill>
            <a:srgbClr val="F3F2EE"/>
          </a:solidFill>
          <a:ln/>
        </p:spPr>
      </p:sp>
      <p:sp>
        <p:nvSpPr>
          <p:cNvPr id="5" name="Text 3"/>
          <p:cNvSpPr txBox="1"/>
          <p:nvPr/>
        </p:nvSpPr>
        <p:spPr>
          <a:xfrm>
            <a:off x="914400" y="1901952"/>
            <a:ext cx="4572000" cy="365760"/>
          </a:xfrm>
          <a:prstGeom prst="rect">
            <a:avLst/>
          </a:prstGeom>
          <a:noFill/>
          <a:ln/>
        </p:spPr>
        <p:txBody>
          <a:bodyPr wrap="square" rtlCol="0" anchor="ctr"/>
          <a:lstStyle/>
          <a:p>
            <a:pPr indent="0" marL="0">
              <a:buNone/>
            </a:pPr>
            <a:r>
              <a:rPr lang="en-US" sz="1600" b="1" dirty="0">
                <a:solidFill>
                  <a:srgbClr val="163D28"/>
                </a:solidFill>
                <a:latin typeface="Calibri" pitchFamily="34" charset="0"/>
                <a:ea typeface="Calibri" pitchFamily="34" charset="-122"/>
                <a:cs typeface="Calibri" pitchFamily="34" charset="-120"/>
              </a:rPr>
              <a:t>Student A</a:t>
            </a:r>
            <a:endParaRPr lang="en-US" sz="1600" dirty="0"/>
          </a:p>
        </p:txBody>
      </p:sp>
      <p:sp>
        <p:nvSpPr>
          <p:cNvPr id="6" name="Text 4"/>
          <p:cNvSpPr txBox="1"/>
          <p:nvPr/>
        </p:nvSpPr>
        <p:spPr>
          <a:xfrm>
            <a:off x="914400" y="2377440"/>
            <a:ext cx="4572000" cy="548640"/>
          </a:xfrm>
          <a:prstGeom prst="rect">
            <a:avLst/>
          </a:prstGeom>
          <a:noFill/>
          <a:ln/>
        </p:spPr>
        <p:txBody>
          <a:bodyPr wrap="square" rtlCol="0" anchor="ctr"/>
          <a:lstStyle/>
          <a:p>
            <a:pPr indent="0" marL="0">
              <a:buNone/>
            </a:pPr>
            <a:r>
              <a:rPr lang="en-US" sz="1500" dirty="0">
                <a:solidFill>
                  <a:srgbClr val="1A1A1A"/>
                </a:solidFill>
                <a:latin typeface="Calibri" pitchFamily="34" charset="0"/>
                <a:ea typeface="Calibri" pitchFamily="34" charset="-122"/>
                <a:cs typeface="Calibri" pitchFamily="34" charset="-120"/>
              </a:rPr>
              <a:t>Takes 1 bowl  →  Leaves ½ bowl</a:t>
            </a:r>
            <a:endParaRPr lang="en-US" sz="1500" dirty="0"/>
          </a:p>
        </p:txBody>
      </p:sp>
      <p:sp>
        <p:nvSpPr>
          <p:cNvPr id="7" name="Text 5"/>
          <p:cNvSpPr txBox="1"/>
          <p:nvPr/>
        </p:nvSpPr>
        <p:spPr>
          <a:xfrm>
            <a:off x="914400" y="2834640"/>
            <a:ext cx="4572000" cy="365760"/>
          </a:xfrm>
          <a:prstGeom prst="rect">
            <a:avLst/>
          </a:prstGeom>
          <a:noFill/>
          <a:ln/>
        </p:spPr>
        <p:txBody>
          <a:bodyPr wrap="square" rtlCol="0" anchor="ctr"/>
          <a:lstStyle/>
          <a:p>
            <a:pPr indent="0" marL="0">
              <a:buNone/>
            </a:pPr>
            <a:r>
              <a:rPr lang="en-US" sz="1200" i="1" dirty="0">
                <a:solidFill>
                  <a:srgbClr val="D9503F"/>
                </a:solidFill>
                <a:latin typeface="Calibri" pitchFamily="34" charset="0"/>
                <a:ea typeface="Calibri" pitchFamily="34" charset="-122"/>
                <a:cs typeface="Calibri" pitchFamily="34" charset="-120"/>
              </a:rPr>
              <a:t>Naive system reports: "50% waste"</a:t>
            </a:r>
            <a:endParaRPr lang="en-US" sz="1200" dirty="0"/>
          </a:p>
        </p:txBody>
      </p:sp>
      <p:sp>
        <p:nvSpPr>
          <p:cNvPr id="8" name="Shape 6"/>
          <p:cNvSpPr/>
          <p:nvPr/>
        </p:nvSpPr>
        <p:spPr>
          <a:xfrm>
            <a:off x="5852160" y="1737360"/>
            <a:ext cx="5120640" cy="1554480"/>
          </a:xfrm>
          <a:prstGeom prst="roundRect">
            <a:avLst>
              <a:gd name="adj" fmla="val 5882"/>
            </a:avLst>
          </a:prstGeom>
          <a:solidFill>
            <a:srgbClr val="F3F2EE"/>
          </a:solidFill>
          <a:ln/>
        </p:spPr>
      </p:sp>
      <p:sp>
        <p:nvSpPr>
          <p:cNvPr id="9" name="Text 7"/>
          <p:cNvSpPr txBox="1"/>
          <p:nvPr/>
        </p:nvSpPr>
        <p:spPr>
          <a:xfrm>
            <a:off x="6126480" y="1901952"/>
            <a:ext cx="4572000" cy="365760"/>
          </a:xfrm>
          <a:prstGeom prst="rect">
            <a:avLst/>
          </a:prstGeom>
          <a:noFill/>
          <a:ln/>
        </p:spPr>
        <p:txBody>
          <a:bodyPr wrap="square" rtlCol="0" anchor="ctr"/>
          <a:lstStyle/>
          <a:p>
            <a:pPr indent="0" marL="0">
              <a:buNone/>
            </a:pPr>
            <a:r>
              <a:rPr lang="en-US" sz="1600" b="1" dirty="0">
                <a:solidFill>
                  <a:srgbClr val="163D28"/>
                </a:solidFill>
                <a:latin typeface="Calibri" pitchFamily="34" charset="0"/>
                <a:ea typeface="Calibri" pitchFamily="34" charset="-122"/>
                <a:cs typeface="Calibri" pitchFamily="34" charset="-120"/>
              </a:rPr>
              <a:t>Student B</a:t>
            </a:r>
            <a:endParaRPr lang="en-US" sz="1600" dirty="0"/>
          </a:p>
        </p:txBody>
      </p:sp>
      <p:sp>
        <p:nvSpPr>
          <p:cNvPr id="10" name="Text 8"/>
          <p:cNvSpPr txBox="1"/>
          <p:nvPr/>
        </p:nvSpPr>
        <p:spPr>
          <a:xfrm>
            <a:off x="6126480" y="2377440"/>
            <a:ext cx="4572000" cy="548640"/>
          </a:xfrm>
          <a:prstGeom prst="rect">
            <a:avLst/>
          </a:prstGeom>
          <a:noFill/>
          <a:ln/>
        </p:spPr>
        <p:txBody>
          <a:bodyPr wrap="square" rtlCol="0" anchor="ctr"/>
          <a:lstStyle/>
          <a:p>
            <a:pPr indent="0" marL="0">
              <a:buNone/>
            </a:pPr>
            <a:r>
              <a:rPr lang="en-US" sz="1500" dirty="0">
                <a:solidFill>
                  <a:srgbClr val="1A1A1A"/>
                </a:solidFill>
                <a:latin typeface="Calibri" pitchFamily="34" charset="0"/>
                <a:ea typeface="Calibri" pitchFamily="34" charset="-122"/>
                <a:cs typeface="Calibri" pitchFamily="34" charset="-120"/>
              </a:rPr>
              <a:t>Takes 3 bowls  →  Leaves ½ bowl</a:t>
            </a:r>
            <a:endParaRPr lang="en-US" sz="1500" dirty="0"/>
          </a:p>
        </p:txBody>
      </p:sp>
      <p:sp>
        <p:nvSpPr>
          <p:cNvPr id="11" name="Text 9"/>
          <p:cNvSpPr txBox="1"/>
          <p:nvPr/>
        </p:nvSpPr>
        <p:spPr>
          <a:xfrm>
            <a:off x="6126480" y="2834640"/>
            <a:ext cx="4572000" cy="365760"/>
          </a:xfrm>
          <a:prstGeom prst="rect">
            <a:avLst/>
          </a:prstGeom>
          <a:noFill/>
          <a:ln/>
        </p:spPr>
        <p:txBody>
          <a:bodyPr wrap="square" rtlCol="0" anchor="ctr"/>
          <a:lstStyle/>
          <a:p>
            <a:pPr indent="0" marL="0">
              <a:buNone/>
            </a:pPr>
            <a:r>
              <a:rPr lang="en-US" sz="1200" i="1" dirty="0">
                <a:solidFill>
                  <a:srgbClr val="D9503F"/>
                </a:solidFill>
                <a:latin typeface="Calibri" pitchFamily="34" charset="0"/>
                <a:ea typeface="Calibri" pitchFamily="34" charset="-122"/>
                <a:cs typeface="Calibri" pitchFamily="34" charset="-120"/>
              </a:rPr>
              <a:t>Naive system reports: "50% waste"</a:t>
            </a:r>
            <a:endParaRPr lang="en-US" sz="1200" dirty="0"/>
          </a:p>
        </p:txBody>
      </p:sp>
      <p:sp>
        <p:nvSpPr>
          <p:cNvPr id="12" name="Text 10"/>
          <p:cNvSpPr txBox="1"/>
          <p:nvPr/>
        </p:nvSpPr>
        <p:spPr>
          <a:xfrm>
            <a:off x="640080" y="3520440"/>
            <a:ext cx="10881360" cy="548640"/>
          </a:xfrm>
          <a:prstGeom prst="rect">
            <a:avLst/>
          </a:prstGeom>
          <a:noFill/>
          <a:ln/>
        </p:spPr>
        <p:txBody>
          <a:bodyPr wrap="square" rtlCol="0" anchor="ctr"/>
          <a:lstStyle/>
          <a:p>
            <a:pPr indent="0" marL="0">
              <a:lnSpc>
                <a:spcPct val="125000"/>
              </a:lnSpc>
              <a:buNone/>
            </a:pPr>
            <a:r>
              <a:rPr lang="en-US" sz="1450" dirty="0">
                <a:solidFill>
                  <a:srgbClr val="1A1A1A"/>
                </a:solidFill>
                <a:latin typeface="Calibri" pitchFamily="34" charset="0"/>
                <a:ea typeface="Calibri" pitchFamily="34" charset="-122"/>
                <a:cs typeface="Calibri" pitchFamily="34" charset="-120"/>
              </a:rPr>
              <a:t>Both look identical under a simplistic system. But the mess actually needs to know: how much food was physically wasted?</a:t>
            </a:r>
            <a:endParaRPr lang="en-US" sz="1450" dirty="0"/>
          </a:p>
        </p:txBody>
      </p:sp>
      <p:sp>
        <p:nvSpPr>
          <p:cNvPr id="13" name="Shape 11"/>
          <p:cNvSpPr/>
          <p:nvPr/>
        </p:nvSpPr>
        <p:spPr>
          <a:xfrm>
            <a:off x="640080" y="4251960"/>
            <a:ext cx="10881360" cy="1463040"/>
          </a:xfrm>
          <a:prstGeom prst="roundRect">
            <a:avLst>
              <a:gd name="adj" fmla="val 7500"/>
            </a:avLst>
          </a:prstGeom>
          <a:solidFill>
            <a:srgbClr val="163D28"/>
          </a:solidFill>
          <a:ln/>
        </p:spPr>
      </p:sp>
      <p:sp>
        <p:nvSpPr>
          <p:cNvPr id="14" name="Text 12"/>
          <p:cNvSpPr txBox="1"/>
          <p:nvPr/>
        </p:nvSpPr>
        <p:spPr>
          <a:xfrm>
            <a:off x="1005840" y="4251960"/>
            <a:ext cx="10149840" cy="1463040"/>
          </a:xfrm>
          <a:prstGeom prst="rect">
            <a:avLst/>
          </a:prstGeom>
          <a:noFill/>
          <a:ln/>
        </p:spPr>
        <p:txBody>
          <a:bodyPr wrap="square" rtlCol="0" anchor="ctr"/>
          <a:lstStyle/>
          <a:p>
            <a:pPr algn="ctr" indent="0" marL="0">
              <a:lnSpc>
                <a:spcPct val="125000"/>
              </a:lnSpc>
              <a:buNone/>
            </a:pPr>
            <a:r>
              <a:rPr lang="en-US" sz="1900" b="1" i="1" dirty="0">
                <a:solidFill>
                  <a:srgbClr val="FFFFFF"/>
                </a:solidFill>
                <a:latin typeface="Calibri" pitchFamily="34" charset="0"/>
                <a:ea typeface="Calibri" pitchFamily="34" charset="-122"/>
                <a:cs typeface="Calibri" pitchFamily="34" charset="-120"/>
              </a:rPr>
              <a:t>"We don't ask how much of your plate you wasted. We ask how much of what you actually took came back."</a:t>
            </a:r>
            <a:endParaRPr lang="en-US" sz="1900" dirty="0"/>
          </a:p>
        </p:txBody>
      </p:sp>
      <p:sp>
        <p:nvSpPr>
          <p:cNvPr id="15" name="Text 13"/>
          <p:cNvSpPr/>
          <p:nvPr/>
        </p:nvSpPr>
        <p:spPr>
          <a:xfrm>
            <a:off x="11475720" y="6446520"/>
            <a:ext cx="457200" cy="274320"/>
          </a:xfrm>
          <a:prstGeom prst="rect">
            <a:avLst/>
          </a:prstGeom>
          <a:noFill/>
          <a:ln/>
        </p:spPr>
        <p:txBody>
          <a:bodyPr wrap="square" rtlCol="0" anchor="ctr"/>
          <a:lstStyle/>
          <a:p>
            <a:pPr algn="r" indent="0" marL="0">
              <a:buNone/>
            </a:pPr>
            <a:r>
              <a:rPr lang="en-US" sz="1100" dirty="0">
                <a:solidFill>
                  <a:srgbClr val="5C6B62"/>
                </a:solidFill>
                <a:latin typeface="Calibri" pitchFamily="34" charset="0"/>
                <a:ea typeface="Calibri" pitchFamily="34" charset="-122"/>
                <a:cs typeface="Calibri" pitchFamily="34" charset="-120"/>
              </a:rPr>
              <a:t>8</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38912"/>
            <a:ext cx="8229600" cy="365760"/>
          </a:xfrm>
          <a:prstGeom prst="rect">
            <a:avLst/>
          </a:prstGeom>
          <a:noFill/>
          <a:ln/>
        </p:spPr>
        <p:txBody>
          <a:bodyPr wrap="square" rtlCol="0" anchor="ctr"/>
          <a:lstStyle/>
          <a:p>
            <a:pPr indent="0" marL="0">
              <a:buNone/>
            </a:pPr>
            <a:r>
              <a:rPr lang="en-US" sz="1400" b="1" spc="200" kern="0" dirty="0">
                <a:solidFill>
                  <a:srgbClr val="D9503F"/>
                </a:solidFill>
                <a:latin typeface="Calibri" pitchFamily="34" charset="0"/>
                <a:ea typeface="Calibri" pitchFamily="34" charset="-122"/>
                <a:cs typeface="Calibri" pitchFamily="34" charset="-120"/>
              </a:rPr>
              <a:t>07 · INNOVATION &amp; USP — WHY THALIMETRICS</a:t>
            </a:r>
            <a:endParaRPr lang="en-US" sz="1400" dirty="0"/>
          </a:p>
        </p:txBody>
      </p:sp>
      <p:sp>
        <p:nvSpPr>
          <p:cNvPr id="3" name="Text 1"/>
          <p:cNvSpPr txBox="1"/>
          <p:nvPr/>
        </p:nvSpPr>
        <p:spPr>
          <a:xfrm>
            <a:off x="640080" y="786384"/>
            <a:ext cx="10881360" cy="777240"/>
          </a:xfrm>
          <a:prstGeom prst="rect">
            <a:avLst/>
          </a:prstGeom>
          <a:noFill/>
          <a:ln/>
        </p:spPr>
        <p:txBody>
          <a:bodyPr wrap="square" rtlCol="0" anchor="ctr"/>
          <a:lstStyle/>
          <a:p>
            <a:pPr indent="0" marL="0">
              <a:buNone/>
            </a:pPr>
            <a:r>
              <a:rPr lang="en-US" sz="3600" b="1" dirty="0">
                <a:solidFill>
                  <a:srgbClr val="1A1A1A"/>
                </a:solidFill>
                <a:latin typeface="Calibri" pitchFamily="34" charset="0"/>
                <a:ea typeface="Calibri" pitchFamily="34" charset="-122"/>
                <a:cs typeface="Calibri" pitchFamily="34" charset="-120"/>
              </a:rPr>
              <a:t>One data stream. Two problems solved.</a:t>
            </a:r>
            <a:endParaRPr lang="en-US" sz="3600" dirty="0"/>
          </a:p>
        </p:txBody>
      </p:sp>
      <p:sp>
        <p:nvSpPr>
          <p:cNvPr id="4" name="Shape 2"/>
          <p:cNvSpPr/>
          <p:nvPr/>
        </p:nvSpPr>
        <p:spPr>
          <a:xfrm>
            <a:off x="640080" y="1783080"/>
            <a:ext cx="5120640" cy="475488"/>
          </a:xfrm>
          <a:prstGeom prst="rect">
            <a:avLst/>
          </a:prstGeom>
          <a:solidFill>
            <a:srgbClr val="F3F2EE"/>
          </a:solidFill>
          <a:ln/>
        </p:spPr>
      </p:sp>
      <p:sp>
        <p:nvSpPr>
          <p:cNvPr id="5" name="Shape 3"/>
          <p:cNvSpPr/>
          <p:nvPr/>
        </p:nvSpPr>
        <p:spPr>
          <a:xfrm>
            <a:off x="5852160" y="1783080"/>
            <a:ext cx="5120640" cy="475488"/>
          </a:xfrm>
          <a:prstGeom prst="rect">
            <a:avLst/>
          </a:prstGeom>
          <a:solidFill>
            <a:srgbClr val="163D28"/>
          </a:solidFill>
          <a:ln/>
        </p:spPr>
      </p:sp>
      <p:sp>
        <p:nvSpPr>
          <p:cNvPr id="6" name="Text 4"/>
          <p:cNvSpPr txBox="1"/>
          <p:nvPr/>
        </p:nvSpPr>
        <p:spPr>
          <a:xfrm>
            <a:off x="868680" y="1783080"/>
            <a:ext cx="4846320" cy="475488"/>
          </a:xfrm>
          <a:prstGeom prst="rect">
            <a:avLst/>
          </a:prstGeom>
          <a:noFill/>
          <a:ln/>
        </p:spPr>
        <p:txBody>
          <a:bodyPr wrap="square" rtlCol="0" anchor="ctr"/>
          <a:lstStyle/>
          <a:p>
            <a:pPr indent="0" marL="0">
              <a:buNone/>
            </a:pPr>
            <a:r>
              <a:rPr lang="en-US" sz="1400" b="1" dirty="0">
                <a:solidFill>
                  <a:srgbClr val="163D28"/>
                </a:solidFill>
                <a:latin typeface="Calibri" pitchFamily="34" charset="0"/>
                <a:ea typeface="Calibri" pitchFamily="34" charset="-122"/>
                <a:cs typeface="Calibri" pitchFamily="34" charset="-120"/>
              </a:rPr>
              <a:t>Traditional Mess</a:t>
            </a:r>
            <a:endParaRPr lang="en-US" sz="1400" dirty="0"/>
          </a:p>
        </p:txBody>
      </p:sp>
      <p:sp>
        <p:nvSpPr>
          <p:cNvPr id="7" name="Text 5"/>
          <p:cNvSpPr txBox="1"/>
          <p:nvPr/>
        </p:nvSpPr>
        <p:spPr>
          <a:xfrm>
            <a:off x="6080760" y="1783080"/>
            <a:ext cx="4846320" cy="475488"/>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ThaliMetrics</a:t>
            </a:r>
            <a:endParaRPr lang="en-US" sz="1400" dirty="0"/>
          </a:p>
        </p:txBody>
      </p:sp>
      <p:sp>
        <p:nvSpPr>
          <p:cNvPr id="8" name="Text 6"/>
          <p:cNvSpPr txBox="1"/>
          <p:nvPr/>
        </p:nvSpPr>
        <p:spPr>
          <a:xfrm>
            <a:off x="868680" y="2258568"/>
            <a:ext cx="4846320" cy="475488"/>
          </a:xfrm>
          <a:prstGeom prst="rect">
            <a:avLst/>
          </a:prstGeom>
          <a:noFill/>
          <a:ln/>
        </p:spPr>
        <p:txBody>
          <a:bodyPr wrap="square" rtlCol="0" anchor="ctr"/>
          <a:lstStyle/>
          <a:p>
            <a:pPr indent="0" marL="0">
              <a:buNone/>
            </a:pPr>
            <a:r>
              <a:rPr lang="en-US" sz="1300" dirty="0">
                <a:solidFill>
                  <a:srgbClr val="1A1A1A"/>
                </a:solidFill>
                <a:latin typeface="Calibri" pitchFamily="34" charset="0"/>
                <a:ea typeface="Calibri" pitchFamily="34" charset="-122"/>
                <a:cs typeface="Calibri" pitchFamily="34" charset="-120"/>
              </a:rPr>
              <a:t>Estimates food demand</a:t>
            </a:r>
            <a:endParaRPr lang="en-US" sz="1300" dirty="0"/>
          </a:p>
        </p:txBody>
      </p:sp>
      <p:sp>
        <p:nvSpPr>
          <p:cNvPr id="9" name="Text 7"/>
          <p:cNvSpPr txBox="1"/>
          <p:nvPr/>
        </p:nvSpPr>
        <p:spPr>
          <a:xfrm>
            <a:off x="6080760" y="2258568"/>
            <a:ext cx="4846320" cy="475488"/>
          </a:xfrm>
          <a:prstGeom prst="rect">
            <a:avLst/>
          </a:prstGeom>
          <a:noFill/>
          <a:ln/>
        </p:spPr>
        <p:txBody>
          <a:bodyPr wrap="square" rtlCol="0" anchor="ctr"/>
          <a:lstStyle/>
          <a:p>
            <a:pPr indent="0" marL="0">
              <a:buNone/>
            </a:pPr>
            <a:r>
              <a:rPr lang="en-US" sz="1300" b="1" dirty="0">
                <a:solidFill>
                  <a:srgbClr val="163D28"/>
                </a:solidFill>
                <a:latin typeface="Calibri" pitchFamily="34" charset="0"/>
                <a:ea typeface="Calibri" pitchFamily="34" charset="-122"/>
                <a:cs typeface="Calibri" pitchFamily="34" charset="-120"/>
              </a:rPr>
              <a:t>Learns from actual consumption</a:t>
            </a:r>
            <a:endParaRPr lang="en-US" sz="1300" dirty="0"/>
          </a:p>
        </p:txBody>
      </p:sp>
      <p:sp>
        <p:nvSpPr>
          <p:cNvPr id="10" name="Shape 8"/>
          <p:cNvSpPr/>
          <p:nvPr/>
        </p:nvSpPr>
        <p:spPr>
          <a:xfrm>
            <a:off x="640080" y="2734056"/>
            <a:ext cx="10332720" cy="475488"/>
          </a:xfrm>
          <a:prstGeom prst="rect">
            <a:avLst/>
          </a:prstGeom>
          <a:solidFill>
            <a:srgbClr val="FAFAF8"/>
          </a:solidFill>
          <a:ln/>
        </p:spPr>
      </p:sp>
      <p:sp>
        <p:nvSpPr>
          <p:cNvPr id="11" name="Text 9"/>
          <p:cNvSpPr txBox="1"/>
          <p:nvPr/>
        </p:nvSpPr>
        <p:spPr>
          <a:xfrm>
            <a:off x="868680" y="2734056"/>
            <a:ext cx="4846320" cy="475488"/>
          </a:xfrm>
          <a:prstGeom prst="rect">
            <a:avLst/>
          </a:prstGeom>
          <a:noFill/>
          <a:ln/>
        </p:spPr>
        <p:txBody>
          <a:bodyPr wrap="square" rtlCol="0" anchor="ctr"/>
          <a:lstStyle/>
          <a:p>
            <a:pPr indent="0" marL="0">
              <a:buNone/>
            </a:pPr>
            <a:r>
              <a:rPr lang="en-US" sz="1300" dirty="0">
                <a:solidFill>
                  <a:srgbClr val="1A1A1A"/>
                </a:solidFill>
                <a:latin typeface="Calibri" pitchFamily="34" charset="0"/>
                <a:ea typeface="Calibri" pitchFamily="34" charset="-122"/>
                <a:cs typeface="Calibri" pitchFamily="34" charset="-120"/>
              </a:rPr>
              <a:t>Knows food prepared</a:t>
            </a:r>
            <a:endParaRPr lang="en-US" sz="1300" dirty="0"/>
          </a:p>
        </p:txBody>
      </p:sp>
      <p:sp>
        <p:nvSpPr>
          <p:cNvPr id="12" name="Text 10"/>
          <p:cNvSpPr txBox="1"/>
          <p:nvPr/>
        </p:nvSpPr>
        <p:spPr>
          <a:xfrm>
            <a:off x="6080760" y="2734056"/>
            <a:ext cx="4846320" cy="475488"/>
          </a:xfrm>
          <a:prstGeom prst="rect">
            <a:avLst/>
          </a:prstGeom>
          <a:noFill/>
          <a:ln/>
        </p:spPr>
        <p:txBody>
          <a:bodyPr wrap="square" rtlCol="0" anchor="ctr"/>
          <a:lstStyle/>
          <a:p>
            <a:pPr indent="0" marL="0">
              <a:buNone/>
            </a:pPr>
            <a:r>
              <a:rPr lang="en-US" sz="1300" b="1" dirty="0">
                <a:solidFill>
                  <a:srgbClr val="163D28"/>
                </a:solidFill>
                <a:latin typeface="Calibri" pitchFamily="34" charset="0"/>
                <a:ea typeface="Calibri" pitchFamily="34" charset="-122"/>
                <a:cs typeface="Calibri" pitchFamily="34" charset="-120"/>
              </a:rPr>
              <a:t>Knows food taken</a:t>
            </a:r>
            <a:endParaRPr lang="en-US" sz="1300" dirty="0"/>
          </a:p>
        </p:txBody>
      </p:sp>
      <p:sp>
        <p:nvSpPr>
          <p:cNvPr id="13" name="Text 11"/>
          <p:cNvSpPr txBox="1"/>
          <p:nvPr/>
        </p:nvSpPr>
        <p:spPr>
          <a:xfrm>
            <a:off x="868680" y="3209544"/>
            <a:ext cx="4846320" cy="475488"/>
          </a:xfrm>
          <a:prstGeom prst="rect">
            <a:avLst/>
          </a:prstGeom>
          <a:noFill/>
          <a:ln/>
        </p:spPr>
        <p:txBody>
          <a:bodyPr wrap="square" rtlCol="0" anchor="ctr"/>
          <a:lstStyle/>
          <a:p>
            <a:pPr indent="0" marL="0">
              <a:buNone/>
            </a:pPr>
            <a:r>
              <a:rPr lang="en-US" sz="1300" dirty="0">
                <a:solidFill>
                  <a:srgbClr val="1A1A1A"/>
                </a:solidFill>
                <a:latin typeface="Calibri" pitchFamily="34" charset="0"/>
                <a:ea typeface="Calibri" pitchFamily="34" charset="-122"/>
                <a:cs typeface="Calibri" pitchFamily="34" charset="-120"/>
              </a:rPr>
              <a:t>Generic waste measurement</a:t>
            </a:r>
            <a:endParaRPr lang="en-US" sz="1300" dirty="0"/>
          </a:p>
        </p:txBody>
      </p:sp>
      <p:sp>
        <p:nvSpPr>
          <p:cNvPr id="14" name="Text 12"/>
          <p:cNvSpPr txBox="1"/>
          <p:nvPr/>
        </p:nvSpPr>
        <p:spPr>
          <a:xfrm>
            <a:off x="6080760" y="3209544"/>
            <a:ext cx="4846320" cy="475488"/>
          </a:xfrm>
          <a:prstGeom prst="rect">
            <a:avLst/>
          </a:prstGeom>
          <a:noFill/>
          <a:ln/>
        </p:spPr>
        <p:txBody>
          <a:bodyPr wrap="square" rtlCol="0" anchor="ctr"/>
          <a:lstStyle/>
          <a:p>
            <a:pPr indent="0" marL="0">
              <a:buNone/>
            </a:pPr>
            <a:r>
              <a:rPr lang="en-US" sz="1300" b="1" dirty="0">
                <a:solidFill>
                  <a:srgbClr val="163D28"/>
                </a:solidFill>
                <a:latin typeface="Calibri" pitchFamily="34" charset="0"/>
                <a:ea typeface="Calibri" pitchFamily="34" charset="-122"/>
                <a:cs typeface="Calibri" pitchFamily="34" charset="-120"/>
              </a:rPr>
              <a:t>Waste tied to actual servings</a:t>
            </a:r>
            <a:endParaRPr lang="en-US" sz="1300" dirty="0"/>
          </a:p>
        </p:txBody>
      </p:sp>
      <p:sp>
        <p:nvSpPr>
          <p:cNvPr id="15" name="Shape 13"/>
          <p:cNvSpPr/>
          <p:nvPr/>
        </p:nvSpPr>
        <p:spPr>
          <a:xfrm>
            <a:off x="640080" y="3685032"/>
            <a:ext cx="10332720" cy="475488"/>
          </a:xfrm>
          <a:prstGeom prst="rect">
            <a:avLst/>
          </a:prstGeom>
          <a:solidFill>
            <a:srgbClr val="FAFAF8"/>
          </a:solidFill>
          <a:ln/>
        </p:spPr>
      </p:sp>
      <p:sp>
        <p:nvSpPr>
          <p:cNvPr id="16" name="Text 14"/>
          <p:cNvSpPr txBox="1"/>
          <p:nvPr/>
        </p:nvSpPr>
        <p:spPr>
          <a:xfrm>
            <a:off x="868680" y="3685032"/>
            <a:ext cx="4846320" cy="475488"/>
          </a:xfrm>
          <a:prstGeom prst="rect">
            <a:avLst/>
          </a:prstGeom>
          <a:noFill/>
          <a:ln/>
        </p:spPr>
        <p:txBody>
          <a:bodyPr wrap="square" rtlCol="0" anchor="ctr"/>
          <a:lstStyle/>
          <a:p>
            <a:pPr indent="0" marL="0">
              <a:buNone/>
            </a:pPr>
            <a:r>
              <a:rPr lang="en-US" sz="1300" dirty="0">
                <a:solidFill>
                  <a:srgbClr val="1A1A1A"/>
                </a:solidFill>
                <a:latin typeface="Calibri" pitchFamily="34" charset="0"/>
                <a:ea typeface="Calibri" pitchFamily="34" charset="-122"/>
                <a:cs typeface="Calibri" pitchFamily="34" charset="-120"/>
              </a:rPr>
              <a:t>Static menu</a:t>
            </a:r>
            <a:endParaRPr lang="en-US" sz="1300" dirty="0"/>
          </a:p>
        </p:txBody>
      </p:sp>
      <p:sp>
        <p:nvSpPr>
          <p:cNvPr id="17" name="Text 15"/>
          <p:cNvSpPr txBox="1"/>
          <p:nvPr/>
        </p:nvSpPr>
        <p:spPr>
          <a:xfrm>
            <a:off x="6080760" y="3685032"/>
            <a:ext cx="4846320" cy="475488"/>
          </a:xfrm>
          <a:prstGeom prst="rect">
            <a:avLst/>
          </a:prstGeom>
          <a:noFill/>
          <a:ln/>
        </p:spPr>
        <p:txBody>
          <a:bodyPr wrap="square" rtlCol="0" anchor="ctr"/>
          <a:lstStyle/>
          <a:p>
            <a:pPr indent="0" marL="0">
              <a:buNone/>
            </a:pPr>
            <a:r>
              <a:rPr lang="en-US" sz="1300" b="1" dirty="0">
                <a:solidFill>
                  <a:srgbClr val="163D28"/>
                </a:solidFill>
                <a:latin typeface="Calibri" pitchFamily="34" charset="0"/>
                <a:ea typeface="Calibri" pitchFamily="34" charset="-122"/>
                <a:cs typeface="Calibri" pitchFamily="34" charset="-120"/>
              </a:rPr>
              <a:t>Real-time daily menu, admin-controlled</a:t>
            </a:r>
            <a:endParaRPr lang="en-US" sz="1300" dirty="0"/>
          </a:p>
        </p:txBody>
      </p:sp>
      <p:sp>
        <p:nvSpPr>
          <p:cNvPr id="18" name="Text 16"/>
          <p:cNvSpPr txBox="1"/>
          <p:nvPr/>
        </p:nvSpPr>
        <p:spPr>
          <a:xfrm>
            <a:off x="868680" y="4160520"/>
            <a:ext cx="4846320" cy="475488"/>
          </a:xfrm>
          <a:prstGeom prst="rect">
            <a:avLst/>
          </a:prstGeom>
          <a:noFill/>
          <a:ln/>
        </p:spPr>
        <p:txBody>
          <a:bodyPr wrap="square" rtlCol="0" anchor="ctr"/>
          <a:lstStyle/>
          <a:p>
            <a:pPr indent="0" marL="0">
              <a:buNone/>
            </a:pPr>
            <a:r>
              <a:rPr lang="en-US" sz="1300" dirty="0">
                <a:solidFill>
                  <a:srgbClr val="1A1A1A"/>
                </a:solidFill>
                <a:latin typeface="Calibri" pitchFamily="34" charset="0"/>
                <a:ea typeface="Calibri" pitchFamily="34" charset="-122"/>
                <a:cs typeface="Calibri" pitchFamily="34" charset="-120"/>
              </a:rPr>
              <a:t>Waste discovered later</a:t>
            </a:r>
            <a:endParaRPr lang="en-US" sz="1300" dirty="0"/>
          </a:p>
        </p:txBody>
      </p:sp>
      <p:sp>
        <p:nvSpPr>
          <p:cNvPr id="19" name="Text 17"/>
          <p:cNvSpPr txBox="1"/>
          <p:nvPr/>
        </p:nvSpPr>
        <p:spPr>
          <a:xfrm>
            <a:off x="6080760" y="4160520"/>
            <a:ext cx="4846320" cy="475488"/>
          </a:xfrm>
          <a:prstGeom prst="rect">
            <a:avLst/>
          </a:prstGeom>
          <a:noFill/>
          <a:ln/>
        </p:spPr>
        <p:txBody>
          <a:bodyPr wrap="square" rtlCol="0" anchor="ctr"/>
          <a:lstStyle/>
          <a:p>
            <a:pPr indent="0" marL="0">
              <a:buNone/>
            </a:pPr>
            <a:r>
              <a:rPr lang="en-US" sz="1300" b="1" dirty="0">
                <a:solidFill>
                  <a:srgbClr val="163D28"/>
                </a:solidFill>
                <a:latin typeface="Calibri" pitchFamily="34" charset="0"/>
                <a:ea typeface="Calibri" pitchFamily="34" charset="-122"/>
                <a:cs typeface="Calibri" pitchFamily="34" charset="-120"/>
              </a:rPr>
              <a:t>Waste patterns continuously captured</a:t>
            </a:r>
            <a:endParaRPr lang="en-US" sz="1300" dirty="0"/>
          </a:p>
        </p:txBody>
      </p:sp>
      <p:sp>
        <p:nvSpPr>
          <p:cNvPr id="20" name="Shape 18"/>
          <p:cNvSpPr/>
          <p:nvPr/>
        </p:nvSpPr>
        <p:spPr>
          <a:xfrm>
            <a:off x="640080" y="4636008"/>
            <a:ext cx="10332720" cy="475488"/>
          </a:xfrm>
          <a:prstGeom prst="rect">
            <a:avLst/>
          </a:prstGeom>
          <a:solidFill>
            <a:srgbClr val="FAFAF8"/>
          </a:solidFill>
          <a:ln/>
        </p:spPr>
      </p:sp>
      <p:sp>
        <p:nvSpPr>
          <p:cNvPr id="21" name="Text 19"/>
          <p:cNvSpPr txBox="1"/>
          <p:nvPr/>
        </p:nvSpPr>
        <p:spPr>
          <a:xfrm>
            <a:off x="868680" y="4636008"/>
            <a:ext cx="4846320" cy="475488"/>
          </a:xfrm>
          <a:prstGeom prst="rect">
            <a:avLst/>
          </a:prstGeom>
          <a:noFill/>
          <a:ln/>
        </p:spPr>
        <p:txBody>
          <a:bodyPr wrap="square" rtlCol="0" anchor="ctr"/>
          <a:lstStyle/>
          <a:p>
            <a:pPr indent="0" marL="0">
              <a:buNone/>
            </a:pPr>
            <a:r>
              <a:rPr lang="en-US" sz="1300" dirty="0">
                <a:solidFill>
                  <a:srgbClr val="1A1A1A"/>
                </a:solidFill>
                <a:latin typeface="Calibri" pitchFamily="34" charset="0"/>
                <a:ea typeface="Calibri" pitchFamily="34" charset="-122"/>
                <a:cs typeface="Calibri" pitchFamily="34" charset="-120"/>
              </a:rPr>
              <a:t>No student nutrition feedback</a:t>
            </a:r>
            <a:endParaRPr lang="en-US" sz="1300" dirty="0"/>
          </a:p>
        </p:txBody>
      </p:sp>
      <p:sp>
        <p:nvSpPr>
          <p:cNvPr id="22" name="Text 20"/>
          <p:cNvSpPr txBox="1"/>
          <p:nvPr/>
        </p:nvSpPr>
        <p:spPr>
          <a:xfrm>
            <a:off x="6080760" y="4636008"/>
            <a:ext cx="4846320" cy="475488"/>
          </a:xfrm>
          <a:prstGeom prst="rect">
            <a:avLst/>
          </a:prstGeom>
          <a:noFill/>
          <a:ln/>
        </p:spPr>
        <p:txBody>
          <a:bodyPr wrap="square" rtlCol="0" anchor="ctr"/>
          <a:lstStyle/>
          <a:p>
            <a:pPr indent="0" marL="0">
              <a:buNone/>
            </a:pPr>
            <a:r>
              <a:rPr lang="en-US" sz="1300" b="1" dirty="0">
                <a:solidFill>
                  <a:srgbClr val="163D28"/>
                </a:solidFill>
                <a:latin typeface="Calibri" pitchFamily="34" charset="0"/>
                <a:ea typeface="Calibri" pitchFamily="34" charset="-122"/>
                <a:cs typeface="Calibri" pitchFamily="34" charset="-120"/>
              </a:rPr>
              <a:t>Weekly nutrition digest</a:t>
            </a:r>
            <a:endParaRPr lang="en-US" sz="1300" dirty="0"/>
          </a:p>
        </p:txBody>
      </p:sp>
      <p:sp>
        <p:nvSpPr>
          <p:cNvPr id="23" name="Text 21"/>
          <p:cNvSpPr txBox="1"/>
          <p:nvPr/>
        </p:nvSpPr>
        <p:spPr>
          <a:xfrm>
            <a:off x="868680" y="5111496"/>
            <a:ext cx="4846320" cy="475488"/>
          </a:xfrm>
          <a:prstGeom prst="rect">
            <a:avLst/>
          </a:prstGeom>
          <a:noFill/>
          <a:ln/>
        </p:spPr>
        <p:txBody>
          <a:bodyPr wrap="square" rtlCol="0" anchor="ctr"/>
          <a:lstStyle/>
          <a:p>
            <a:pPr indent="0" marL="0">
              <a:buNone/>
            </a:pPr>
            <a:r>
              <a:rPr lang="en-US" sz="1300" dirty="0">
                <a:solidFill>
                  <a:srgbClr val="1A1A1A"/>
                </a:solidFill>
                <a:latin typeface="Calibri" pitchFamily="34" charset="0"/>
                <a:ea typeface="Calibri" pitchFamily="34" charset="-122"/>
                <a:cs typeface="Calibri" pitchFamily="34" charset="-120"/>
              </a:rPr>
              <a:t>One-sided data</a:t>
            </a:r>
            <a:endParaRPr lang="en-US" sz="1300" dirty="0"/>
          </a:p>
        </p:txBody>
      </p:sp>
      <p:sp>
        <p:nvSpPr>
          <p:cNvPr id="24" name="Text 22"/>
          <p:cNvSpPr txBox="1"/>
          <p:nvPr/>
        </p:nvSpPr>
        <p:spPr>
          <a:xfrm>
            <a:off x="6080760" y="5111496"/>
            <a:ext cx="4846320" cy="475488"/>
          </a:xfrm>
          <a:prstGeom prst="rect">
            <a:avLst/>
          </a:prstGeom>
          <a:noFill/>
          <a:ln/>
        </p:spPr>
        <p:txBody>
          <a:bodyPr wrap="square" rtlCol="0" anchor="ctr"/>
          <a:lstStyle/>
          <a:p>
            <a:pPr indent="0" marL="0">
              <a:buNone/>
            </a:pPr>
            <a:r>
              <a:rPr lang="en-US" sz="1300" b="1" dirty="0">
                <a:solidFill>
                  <a:srgbClr val="163D28"/>
                </a:solidFill>
                <a:latin typeface="Calibri" pitchFamily="34" charset="0"/>
                <a:ea typeface="Calibri" pitchFamily="34" charset="-122"/>
                <a:cs typeface="Calibri" pitchFamily="34" charset="-120"/>
              </a:rPr>
              <a:t>Student + mess feedback loop</a:t>
            </a:r>
            <a:endParaRPr lang="en-US" sz="1300" dirty="0"/>
          </a:p>
        </p:txBody>
      </p:sp>
      <p:sp>
        <p:nvSpPr>
          <p:cNvPr id="25" name="Text 23"/>
          <p:cNvSpPr/>
          <p:nvPr/>
        </p:nvSpPr>
        <p:spPr>
          <a:xfrm>
            <a:off x="11475720" y="6446520"/>
            <a:ext cx="457200" cy="274320"/>
          </a:xfrm>
          <a:prstGeom prst="rect">
            <a:avLst/>
          </a:prstGeom>
          <a:noFill/>
          <a:ln/>
        </p:spPr>
        <p:txBody>
          <a:bodyPr wrap="square" rtlCol="0" anchor="ctr"/>
          <a:lstStyle/>
          <a:p>
            <a:pPr algn="r" indent="0" marL="0">
              <a:buNone/>
            </a:pPr>
            <a:r>
              <a:rPr lang="en-US" sz="1100" dirty="0">
                <a:solidFill>
                  <a:srgbClr val="5C6B62"/>
                </a:solidFill>
                <a:latin typeface="Calibri" pitchFamily="34" charset="0"/>
                <a:ea typeface="Calibri" pitchFamily="34" charset="-122"/>
                <a:cs typeface="Calibri" pitchFamily="34" charset="-120"/>
              </a:rPr>
              <a:t>9</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38912"/>
            <a:ext cx="8229600" cy="365760"/>
          </a:xfrm>
          <a:prstGeom prst="rect">
            <a:avLst/>
          </a:prstGeom>
          <a:noFill/>
          <a:ln/>
        </p:spPr>
        <p:txBody>
          <a:bodyPr wrap="square" rtlCol="0" anchor="ctr"/>
          <a:lstStyle/>
          <a:p>
            <a:pPr indent="0" marL="0">
              <a:buNone/>
            </a:pPr>
            <a:r>
              <a:rPr lang="en-US" sz="1400" b="1" spc="200" kern="0" dirty="0">
                <a:solidFill>
                  <a:srgbClr val="D9503F"/>
                </a:solidFill>
                <a:latin typeface="Calibri" pitchFamily="34" charset="0"/>
                <a:ea typeface="Calibri" pitchFamily="34" charset="-122"/>
                <a:cs typeface="Calibri" pitchFamily="34" charset="-120"/>
              </a:rPr>
              <a:t>08 · KEY FEATURES</a:t>
            </a:r>
            <a:endParaRPr lang="en-US" sz="1400" dirty="0"/>
          </a:p>
        </p:txBody>
      </p:sp>
      <p:sp>
        <p:nvSpPr>
          <p:cNvPr id="3" name="Text 1"/>
          <p:cNvSpPr txBox="1"/>
          <p:nvPr/>
        </p:nvSpPr>
        <p:spPr>
          <a:xfrm>
            <a:off x="640080" y="786384"/>
            <a:ext cx="10881360" cy="777240"/>
          </a:xfrm>
          <a:prstGeom prst="rect">
            <a:avLst/>
          </a:prstGeom>
          <a:noFill/>
          <a:ln/>
        </p:spPr>
        <p:txBody>
          <a:bodyPr wrap="square" rtlCol="0" anchor="ctr"/>
          <a:lstStyle/>
          <a:p>
            <a:pPr indent="0" marL="0">
              <a:buNone/>
            </a:pPr>
            <a:r>
              <a:rPr lang="en-US" sz="3600" b="1" dirty="0">
                <a:solidFill>
                  <a:srgbClr val="1A1A1A"/>
                </a:solidFill>
                <a:latin typeface="Calibri" pitchFamily="34" charset="0"/>
                <a:ea typeface="Calibri" pitchFamily="34" charset="-122"/>
                <a:cs typeface="Calibri" pitchFamily="34" charset="-120"/>
              </a:rPr>
              <a:t>Every interaction creates structured data</a:t>
            </a:r>
            <a:endParaRPr lang="en-US" sz="3600" dirty="0"/>
          </a:p>
        </p:txBody>
      </p:sp>
      <p:sp>
        <p:nvSpPr>
          <p:cNvPr id="4" name="Text 2"/>
          <p:cNvSpPr txBox="1"/>
          <p:nvPr/>
        </p:nvSpPr>
        <p:spPr>
          <a:xfrm>
            <a:off x="640080" y="1645920"/>
            <a:ext cx="10881360" cy="411480"/>
          </a:xfrm>
          <a:prstGeom prst="rect">
            <a:avLst/>
          </a:prstGeom>
          <a:noFill/>
          <a:ln/>
        </p:spPr>
        <p:txBody>
          <a:bodyPr wrap="square" rtlCol="0" anchor="ctr"/>
          <a:lstStyle/>
          <a:p>
            <a:pPr indent="0" marL="0">
              <a:buNone/>
            </a:pPr>
            <a:r>
              <a:rPr lang="en-US" sz="1350" i="1" dirty="0">
                <a:solidFill>
                  <a:srgbClr val="5C6B62"/>
                </a:solidFill>
                <a:latin typeface="Calibri" pitchFamily="34" charset="0"/>
                <a:ea typeface="Calibri" pitchFamily="34" charset="-122"/>
                <a:cs typeface="Calibri" pitchFamily="34" charset="-120"/>
              </a:rPr>
              <a:t>Student → Meal → Dish → Serving qty → Refill qty → Waste qty → Consumption</a:t>
            </a:r>
            <a:endParaRPr lang="en-US" sz="1350" dirty="0"/>
          </a:p>
        </p:txBody>
      </p:sp>
      <p:sp>
        <p:nvSpPr>
          <p:cNvPr id="5" name="Shape 3"/>
          <p:cNvSpPr/>
          <p:nvPr/>
        </p:nvSpPr>
        <p:spPr>
          <a:xfrm>
            <a:off x="640080" y="2194560"/>
            <a:ext cx="5257800" cy="3794760"/>
          </a:xfrm>
          <a:prstGeom prst="roundRect">
            <a:avLst>
              <a:gd name="adj" fmla="val 2892"/>
            </a:avLst>
          </a:prstGeom>
          <a:solidFill>
            <a:srgbClr val="F3F2EE"/>
          </a:solidFill>
          <a:ln/>
        </p:spPr>
      </p:sp>
      <p:sp>
        <p:nvSpPr>
          <p:cNvPr id="6" name="Text 4"/>
          <p:cNvSpPr txBox="1"/>
          <p:nvPr/>
        </p:nvSpPr>
        <p:spPr>
          <a:xfrm>
            <a:off x="914400" y="2377440"/>
            <a:ext cx="4709160" cy="411480"/>
          </a:xfrm>
          <a:prstGeom prst="rect">
            <a:avLst/>
          </a:prstGeom>
          <a:noFill/>
          <a:ln/>
        </p:spPr>
        <p:txBody>
          <a:bodyPr wrap="square" rtlCol="0" anchor="ctr"/>
          <a:lstStyle/>
          <a:p>
            <a:pPr indent="0" marL="0">
              <a:buNone/>
            </a:pPr>
            <a:r>
              <a:rPr lang="en-US" sz="1700" b="1" dirty="0">
                <a:solidFill>
                  <a:srgbClr val="163D28"/>
                </a:solidFill>
                <a:latin typeface="Calibri" pitchFamily="34" charset="0"/>
                <a:ea typeface="Calibri" pitchFamily="34" charset="-122"/>
                <a:cs typeface="Calibri" pitchFamily="34" charset="-120"/>
              </a:rPr>
              <a:t>Student Intelligence</a:t>
            </a:r>
            <a:endParaRPr lang="en-US" sz="1700" dirty="0"/>
          </a:p>
        </p:txBody>
      </p:sp>
      <p:sp>
        <p:nvSpPr>
          <p:cNvPr id="7" name="Text 5"/>
          <p:cNvSpPr txBox="1"/>
          <p:nvPr/>
        </p:nvSpPr>
        <p:spPr>
          <a:xfrm>
            <a:off x="1005840" y="2971800"/>
            <a:ext cx="4526280" cy="411480"/>
          </a:xfrm>
          <a:prstGeom prst="rect">
            <a:avLst/>
          </a:prstGeom>
          <a:noFill/>
          <a:ln/>
        </p:spPr>
        <p:txBody>
          <a:bodyPr wrap="square" rtlCol="0" anchor="ctr"/>
          <a:lstStyle/>
          <a:p>
            <a:pPr indent="0" marL="0">
              <a:buNone/>
            </a:pPr>
            <a:r>
              <a:rPr lang="en-US" sz="1350" dirty="0">
                <a:solidFill>
                  <a:srgbClr val="1A1A1A"/>
                </a:solidFill>
                <a:latin typeface="Calibri" pitchFamily="34" charset="0"/>
                <a:ea typeface="Calibri" pitchFamily="34" charset="-122"/>
                <a:cs typeface="Calibri" pitchFamily="34" charset="-120"/>
              </a:rPr>
              <a:t>•  Protein, carbs, fat</a:t>
            </a:r>
            <a:endParaRPr lang="en-US" sz="1350" dirty="0"/>
          </a:p>
        </p:txBody>
      </p:sp>
      <p:sp>
        <p:nvSpPr>
          <p:cNvPr id="8" name="Text 6"/>
          <p:cNvSpPr txBox="1"/>
          <p:nvPr/>
        </p:nvSpPr>
        <p:spPr>
          <a:xfrm>
            <a:off x="1005840" y="3429000"/>
            <a:ext cx="4526280" cy="411480"/>
          </a:xfrm>
          <a:prstGeom prst="rect">
            <a:avLst/>
          </a:prstGeom>
          <a:noFill/>
          <a:ln/>
        </p:spPr>
        <p:txBody>
          <a:bodyPr wrap="square" rtlCol="0" anchor="ctr"/>
          <a:lstStyle/>
          <a:p>
            <a:pPr indent="0" marL="0">
              <a:buNone/>
            </a:pPr>
            <a:r>
              <a:rPr lang="en-US" sz="1350" dirty="0">
                <a:solidFill>
                  <a:srgbClr val="1A1A1A"/>
                </a:solidFill>
                <a:latin typeface="Calibri" pitchFamily="34" charset="0"/>
                <a:ea typeface="Calibri" pitchFamily="34" charset="-122"/>
                <a:cs typeface="Calibri" pitchFamily="34" charset="-120"/>
              </a:rPr>
              <a:t>•  Iron · Calcium · Vitamin A</a:t>
            </a:r>
            <a:endParaRPr lang="en-US" sz="1350" dirty="0"/>
          </a:p>
        </p:txBody>
      </p:sp>
      <p:sp>
        <p:nvSpPr>
          <p:cNvPr id="9" name="Text 7"/>
          <p:cNvSpPr txBox="1"/>
          <p:nvPr/>
        </p:nvSpPr>
        <p:spPr>
          <a:xfrm>
            <a:off x="1005840" y="3886200"/>
            <a:ext cx="4526280" cy="411480"/>
          </a:xfrm>
          <a:prstGeom prst="rect">
            <a:avLst/>
          </a:prstGeom>
          <a:noFill/>
          <a:ln/>
        </p:spPr>
        <p:txBody>
          <a:bodyPr wrap="square" rtlCol="0" anchor="ctr"/>
          <a:lstStyle/>
          <a:p>
            <a:pPr indent="0" marL="0">
              <a:buNone/>
            </a:pPr>
            <a:r>
              <a:rPr lang="en-US" sz="1350" dirty="0">
                <a:solidFill>
                  <a:srgbClr val="1A1A1A"/>
                </a:solidFill>
                <a:latin typeface="Calibri" pitchFamily="34" charset="0"/>
                <a:ea typeface="Calibri" pitchFamily="34" charset="-122"/>
                <a:cs typeface="Calibri" pitchFamily="34" charset="-120"/>
              </a:rPr>
              <a:t>•  Vitamin C · Folate · B12</a:t>
            </a:r>
            <a:endParaRPr lang="en-US" sz="1350" dirty="0"/>
          </a:p>
        </p:txBody>
      </p:sp>
      <p:sp>
        <p:nvSpPr>
          <p:cNvPr id="10" name="Text 8"/>
          <p:cNvSpPr txBox="1"/>
          <p:nvPr/>
        </p:nvSpPr>
        <p:spPr>
          <a:xfrm>
            <a:off x="1005840" y="4343400"/>
            <a:ext cx="4526280" cy="411480"/>
          </a:xfrm>
          <a:prstGeom prst="rect">
            <a:avLst/>
          </a:prstGeom>
          <a:noFill/>
          <a:ln/>
        </p:spPr>
        <p:txBody>
          <a:bodyPr wrap="square" rtlCol="0" anchor="ctr"/>
          <a:lstStyle/>
          <a:p>
            <a:pPr indent="0" marL="0">
              <a:buNone/>
            </a:pPr>
            <a:r>
              <a:rPr lang="en-US" sz="1350" dirty="0">
                <a:solidFill>
                  <a:srgbClr val="1A1A1A"/>
                </a:solidFill>
                <a:latin typeface="Calibri" pitchFamily="34" charset="0"/>
                <a:ea typeface="Calibri" pitchFamily="34" charset="-122"/>
                <a:cs typeface="Calibri" pitchFamily="34" charset="-120"/>
              </a:rPr>
              <a:t>•  Zinc · Fiber</a:t>
            </a:r>
            <a:endParaRPr lang="en-US" sz="1350" dirty="0"/>
          </a:p>
        </p:txBody>
      </p:sp>
      <p:sp>
        <p:nvSpPr>
          <p:cNvPr id="11" name="Text 9"/>
          <p:cNvSpPr txBox="1"/>
          <p:nvPr/>
        </p:nvSpPr>
        <p:spPr>
          <a:xfrm>
            <a:off x="1005840" y="4800600"/>
            <a:ext cx="4526280" cy="411480"/>
          </a:xfrm>
          <a:prstGeom prst="rect">
            <a:avLst/>
          </a:prstGeom>
          <a:noFill/>
          <a:ln/>
        </p:spPr>
        <p:txBody>
          <a:bodyPr wrap="square" rtlCol="0" anchor="ctr"/>
          <a:lstStyle/>
          <a:p>
            <a:pPr indent="0" marL="0">
              <a:buNone/>
            </a:pPr>
            <a:r>
              <a:rPr lang="en-US" sz="1350" dirty="0">
                <a:solidFill>
                  <a:srgbClr val="1A1A1A"/>
                </a:solidFill>
                <a:latin typeface="Calibri" pitchFamily="34" charset="0"/>
                <a:ea typeface="Calibri" pitchFamily="34" charset="-122"/>
                <a:cs typeface="Calibri" pitchFamily="34" charset="-120"/>
              </a:rPr>
              <a:t>•  Meal-level catch-up tracking</a:t>
            </a:r>
            <a:endParaRPr lang="en-US" sz="1350" dirty="0"/>
          </a:p>
        </p:txBody>
      </p:sp>
      <p:sp>
        <p:nvSpPr>
          <p:cNvPr id="12" name="Text 10"/>
          <p:cNvSpPr txBox="1"/>
          <p:nvPr/>
        </p:nvSpPr>
        <p:spPr>
          <a:xfrm>
            <a:off x="1005840" y="5257800"/>
            <a:ext cx="4526280" cy="411480"/>
          </a:xfrm>
          <a:prstGeom prst="rect">
            <a:avLst/>
          </a:prstGeom>
          <a:noFill/>
          <a:ln/>
        </p:spPr>
        <p:txBody>
          <a:bodyPr wrap="square" rtlCol="0" anchor="ctr"/>
          <a:lstStyle/>
          <a:p>
            <a:pPr indent="0" marL="0">
              <a:buNone/>
            </a:pPr>
            <a:r>
              <a:rPr lang="en-US" sz="1350" dirty="0">
                <a:solidFill>
                  <a:srgbClr val="1A1A1A"/>
                </a:solidFill>
                <a:latin typeface="Calibri" pitchFamily="34" charset="0"/>
                <a:ea typeface="Calibri" pitchFamily="34" charset="-122"/>
                <a:cs typeface="Calibri" pitchFamily="34" charset="-120"/>
              </a:rPr>
              <a:t>•  Low-waste streak badge</a:t>
            </a:r>
            <a:endParaRPr lang="en-US" sz="1350" dirty="0"/>
          </a:p>
        </p:txBody>
      </p:sp>
      <p:sp>
        <p:nvSpPr>
          <p:cNvPr id="13" name="Shape 11"/>
          <p:cNvSpPr/>
          <p:nvPr/>
        </p:nvSpPr>
        <p:spPr>
          <a:xfrm>
            <a:off x="6263640" y="2194560"/>
            <a:ext cx="5257800" cy="3794760"/>
          </a:xfrm>
          <a:prstGeom prst="roundRect">
            <a:avLst>
              <a:gd name="adj" fmla="val 2892"/>
            </a:avLst>
          </a:prstGeom>
          <a:solidFill>
            <a:srgbClr val="163D28"/>
          </a:solidFill>
          <a:ln/>
        </p:spPr>
      </p:sp>
      <p:sp>
        <p:nvSpPr>
          <p:cNvPr id="14" name="Text 12"/>
          <p:cNvSpPr txBox="1"/>
          <p:nvPr/>
        </p:nvSpPr>
        <p:spPr>
          <a:xfrm>
            <a:off x="6537960" y="2377440"/>
            <a:ext cx="4709160" cy="411480"/>
          </a:xfrm>
          <a:prstGeom prst="rect">
            <a:avLst/>
          </a:prstGeom>
          <a:noFill/>
          <a:ln/>
        </p:spPr>
        <p:txBody>
          <a:bodyPr wrap="square"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Mess Intelligence</a:t>
            </a:r>
            <a:endParaRPr lang="en-US" sz="1700" dirty="0"/>
          </a:p>
        </p:txBody>
      </p:sp>
      <p:sp>
        <p:nvSpPr>
          <p:cNvPr id="15" name="Text 13"/>
          <p:cNvSpPr txBox="1"/>
          <p:nvPr/>
        </p:nvSpPr>
        <p:spPr>
          <a:xfrm>
            <a:off x="6629400" y="2971800"/>
            <a:ext cx="4526280" cy="411480"/>
          </a:xfrm>
          <a:prstGeom prst="rect">
            <a:avLst/>
          </a:prstGeom>
          <a:noFill/>
          <a:ln/>
        </p:spPr>
        <p:txBody>
          <a:bodyPr wrap="square" rtlCol="0" anchor="ctr"/>
          <a:lstStyle/>
          <a:p>
            <a:pPr indent="0" marL="0">
              <a:buNone/>
            </a:pPr>
            <a:r>
              <a:rPr lang="en-US" sz="1350" dirty="0">
                <a:solidFill>
                  <a:srgbClr val="E7EFEA"/>
                </a:solidFill>
                <a:latin typeface="Calibri" pitchFamily="34" charset="0"/>
                <a:ea typeface="Calibri" pitchFamily="34" charset="-122"/>
                <a:cs typeface="Calibri" pitchFamily="34" charset="-120"/>
              </a:rPr>
              <a:t>•  Waste by dish · meal · day</a:t>
            </a:r>
            <a:endParaRPr lang="en-US" sz="1350" dirty="0"/>
          </a:p>
        </p:txBody>
      </p:sp>
      <p:sp>
        <p:nvSpPr>
          <p:cNvPr id="16" name="Text 14"/>
          <p:cNvSpPr txBox="1"/>
          <p:nvPr/>
        </p:nvSpPr>
        <p:spPr>
          <a:xfrm>
            <a:off x="6629400" y="3429000"/>
            <a:ext cx="4526280" cy="411480"/>
          </a:xfrm>
          <a:prstGeom prst="rect">
            <a:avLst/>
          </a:prstGeom>
          <a:noFill/>
          <a:ln/>
        </p:spPr>
        <p:txBody>
          <a:bodyPr wrap="square" rtlCol="0" anchor="ctr"/>
          <a:lstStyle/>
          <a:p>
            <a:pPr indent="0" marL="0">
              <a:buNone/>
            </a:pPr>
            <a:r>
              <a:rPr lang="en-US" sz="1350" dirty="0">
                <a:solidFill>
                  <a:srgbClr val="E7EFEA"/>
                </a:solidFill>
                <a:latin typeface="Calibri" pitchFamily="34" charset="0"/>
                <a:ea typeface="Calibri" pitchFamily="34" charset="-122"/>
                <a:cs typeface="Calibri" pitchFamily="34" charset="-120"/>
              </a:rPr>
              <a:t>•  Top-3 wasted per category</a:t>
            </a:r>
            <a:endParaRPr lang="en-US" sz="1350" dirty="0"/>
          </a:p>
        </p:txBody>
      </p:sp>
      <p:sp>
        <p:nvSpPr>
          <p:cNvPr id="17" name="Text 15"/>
          <p:cNvSpPr txBox="1"/>
          <p:nvPr/>
        </p:nvSpPr>
        <p:spPr>
          <a:xfrm>
            <a:off x="6629400" y="3886200"/>
            <a:ext cx="4526280" cy="411480"/>
          </a:xfrm>
          <a:prstGeom prst="rect">
            <a:avLst/>
          </a:prstGeom>
          <a:noFill/>
          <a:ln/>
        </p:spPr>
        <p:txBody>
          <a:bodyPr wrap="square" rtlCol="0" anchor="ctr"/>
          <a:lstStyle/>
          <a:p>
            <a:pPr indent="0" marL="0">
              <a:buNone/>
            </a:pPr>
            <a:r>
              <a:rPr lang="en-US" sz="1350" dirty="0">
                <a:solidFill>
                  <a:srgbClr val="E7EFEA"/>
                </a:solidFill>
                <a:latin typeface="Calibri" pitchFamily="34" charset="0"/>
                <a:ea typeface="Calibri" pitchFamily="34" charset="-122"/>
                <a:cs typeface="Calibri" pitchFamily="34" charset="-120"/>
              </a:rPr>
              <a:t>•  Most / least picked dishes</a:t>
            </a:r>
            <a:endParaRPr lang="en-US" sz="1350" dirty="0"/>
          </a:p>
        </p:txBody>
      </p:sp>
      <p:sp>
        <p:nvSpPr>
          <p:cNvPr id="18" name="Text 16"/>
          <p:cNvSpPr txBox="1"/>
          <p:nvPr/>
        </p:nvSpPr>
        <p:spPr>
          <a:xfrm>
            <a:off x="6629400" y="4343400"/>
            <a:ext cx="4526280" cy="411480"/>
          </a:xfrm>
          <a:prstGeom prst="rect">
            <a:avLst/>
          </a:prstGeom>
          <a:noFill/>
          <a:ln/>
        </p:spPr>
        <p:txBody>
          <a:bodyPr wrap="square" rtlCol="0" anchor="ctr"/>
          <a:lstStyle/>
          <a:p>
            <a:pPr indent="0" marL="0">
              <a:buNone/>
            </a:pPr>
            <a:r>
              <a:rPr lang="en-US" sz="1350" dirty="0">
                <a:solidFill>
                  <a:srgbClr val="E7EFEA"/>
                </a:solidFill>
                <a:latin typeface="Calibri" pitchFamily="34" charset="0"/>
                <a:ea typeface="Calibri" pitchFamily="34" charset="-122"/>
                <a:cs typeface="Calibri" pitchFamily="34" charset="-120"/>
              </a:rPr>
              <a:t>•  Local/seasonal swap suggestions</a:t>
            </a:r>
            <a:endParaRPr lang="en-US" sz="1350" dirty="0"/>
          </a:p>
        </p:txBody>
      </p:sp>
      <p:sp>
        <p:nvSpPr>
          <p:cNvPr id="19" name="Text 17"/>
          <p:cNvSpPr txBox="1"/>
          <p:nvPr/>
        </p:nvSpPr>
        <p:spPr>
          <a:xfrm>
            <a:off x="6629400" y="4800600"/>
            <a:ext cx="4526280" cy="411480"/>
          </a:xfrm>
          <a:prstGeom prst="rect">
            <a:avLst/>
          </a:prstGeom>
          <a:noFill/>
          <a:ln/>
        </p:spPr>
        <p:txBody>
          <a:bodyPr wrap="square" rtlCol="0" anchor="ctr"/>
          <a:lstStyle/>
          <a:p>
            <a:pPr indent="0" marL="0">
              <a:buNone/>
            </a:pPr>
            <a:r>
              <a:rPr lang="en-US" sz="1350" dirty="0">
                <a:solidFill>
                  <a:srgbClr val="E7EFEA"/>
                </a:solidFill>
                <a:latin typeface="Calibri" pitchFamily="34" charset="0"/>
                <a:ea typeface="Calibri" pitchFamily="34" charset="-122"/>
                <a:cs typeface="Calibri" pitchFamily="34" charset="-120"/>
              </a:rPr>
              <a:t>•  Role-gated Admin Panel (v5)</a:t>
            </a:r>
            <a:endParaRPr lang="en-US" sz="1350" dirty="0"/>
          </a:p>
        </p:txBody>
      </p:sp>
      <p:sp>
        <p:nvSpPr>
          <p:cNvPr id="20" name="Text 18"/>
          <p:cNvSpPr txBox="1"/>
          <p:nvPr/>
        </p:nvSpPr>
        <p:spPr>
          <a:xfrm>
            <a:off x="6629400" y="5257800"/>
            <a:ext cx="4526280" cy="411480"/>
          </a:xfrm>
          <a:prstGeom prst="rect">
            <a:avLst/>
          </a:prstGeom>
          <a:noFill/>
          <a:ln/>
        </p:spPr>
        <p:txBody>
          <a:bodyPr wrap="square" rtlCol="0" anchor="ctr"/>
          <a:lstStyle/>
          <a:p>
            <a:pPr indent="0" marL="0">
              <a:buNone/>
            </a:pPr>
            <a:r>
              <a:rPr lang="en-US" sz="1350" dirty="0">
                <a:solidFill>
                  <a:srgbClr val="E7EFEA"/>
                </a:solidFill>
                <a:latin typeface="Calibri" pitchFamily="34" charset="0"/>
                <a:ea typeface="Calibri" pitchFamily="34" charset="-122"/>
                <a:cs typeface="Calibri" pitchFamily="34" charset="-120"/>
              </a:rPr>
              <a:t>•  Approx. kg served — Warden Insights</a:t>
            </a:r>
            <a:endParaRPr lang="en-US" sz="1350" dirty="0"/>
          </a:p>
        </p:txBody>
      </p:sp>
      <p:sp>
        <p:nvSpPr>
          <p:cNvPr id="21" name="Text 19"/>
          <p:cNvSpPr/>
          <p:nvPr/>
        </p:nvSpPr>
        <p:spPr>
          <a:xfrm>
            <a:off x="11475720" y="6446520"/>
            <a:ext cx="457200" cy="274320"/>
          </a:xfrm>
          <a:prstGeom prst="rect">
            <a:avLst/>
          </a:prstGeom>
          <a:noFill/>
          <a:ln/>
        </p:spPr>
        <p:txBody>
          <a:bodyPr wrap="square" rtlCol="0" anchor="ctr"/>
          <a:lstStyle/>
          <a:p>
            <a:pPr algn="r" indent="0" marL="0">
              <a:buNone/>
            </a:pPr>
            <a:r>
              <a:rPr lang="en-US" sz="1100" dirty="0">
                <a:solidFill>
                  <a:srgbClr val="5C6B62"/>
                </a:solidFill>
                <a:latin typeface="Calibri" pitchFamily="34" charset="0"/>
                <a:ea typeface="Calibri" pitchFamily="34" charset="-122"/>
                <a:cs typeface="Calibri" pitchFamily="34" charset="-120"/>
              </a:rPr>
              <a:t>10</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38912"/>
            <a:ext cx="8229600" cy="365760"/>
          </a:xfrm>
          <a:prstGeom prst="rect">
            <a:avLst/>
          </a:prstGeom>
          <a:noFill/>
          <a:ln/>
        </p:spPr>
        <p:txBody>
          <a:bodyPr wrap="square" rtlCol="0" anchor="ctr"/>
          <a:lstStyle/>
          <a:p>
            <a:pPr indent="0" marL="0">
              <a:buNone/>
            </a:pPr>
            <a:r>
              <a:rPr lang="en-US" sz="1400" b="1" spc="200" kern="0" dirty="0">
                <a:solidFill>
                  <a:srgbClr val="D9503F"/>
                </a:solidFill>
                <a:latin typeface="Calibri" pitchFamily="34" charset="0"/>
                <a:ea typeface="Calibri" pitchFamily="34" charset="-122"/>
                <a:cs typeface="Calibri" pitchFamily="34" charset="-120"/>
              </a:rPr>
              <a:t>09 · TECH STACK</a:t>
            </a:r>
            <a:endParaRPr lang="en-US" sz="1400" dirty="0"/>
          </a:p>
        </p:txBody>
      </p:sp>
      <p:sp>
        <p:nvSpPr>
          <p:cNvPr id="3" name="Text 1"/>
          <p:cNvSpPr txBox="1"/>
          <p:nvPr/>
        </p:nvSpPr>
        <p:spPr>
          <a:xfrm>
            <a:off x="640080" y="786384"/>
            <a:ext cx="10881360" cy="777240"/>
          </a:xfrm>
          <a:prstGeom prst="rect">
            <a:avLst/>
          </a:prstGeom>
          <a:noFill/>
          <a:ln/>
        </p:spPr>
        <p:txBody>
          <a:bodyPr wrap="square" rtlCol="0" anchor="ctr"/>
          <a:lstStyle/>
          <a:p>
            <a:pPr indent="0" marL="0">
              <a:buNone/>
            </a:pPr>
            <a:r>
              <a:rPr lang="en-US" sz="3600" b="1" dirty="0">
                <a:solidFill>
                  <a:srgbClr val="1A1A1A"/>
                </a:solidFill>
                <a:latin typeface="Calibri" pitchFamily="34" charset="0"/>
                <a:ea typeface="Calibri" pitchFamily="34" charset="-122"/>
                <a:cs typeface="Calibri" pitchFamily="34" charset="-120"/>
              </a:rPr>
              <a:t>Deliberately simple, deliberately zero-friction</a:t>
            </a:r>
            <a:endParaRPr lang="en-US" sz="3600" dirty="0"/>
          </a:p>
        </p:txBody>
      </p:sp>
      <p:sp>
        <p:nvSpPr>
          <p:cNvPr id="4" name="Shape 2"/>
          <p:cNvSpPr/>
          <p:nvPr/>
        </p:nvSpPr>
        <p:spPr>
          <a:xfrm>
            <a:off x="640080" y="1783080"/>
            <a:ext cx="5257800" cy="1417320"/>
          </a:xfrm>
          <a:prstGeom prst="roundRect">
            <a:avLst>
              <a:gd name="adj" fmla="val 6452"/>
            </a:avLst>
          </a:prstGeom>
          <a:solidFill>
            <a:srgbClr val="F3F2EE"/>
          </a:solidFill>
          <a:ln/>
        </p:spPr>
      </p:sp>
      <p:sp>
        <p:nvSpPr>
          <p:cNvPr id="5" name="Text 3"/>
          <p:cNvSpPr txBox="1"/>
          <p:nvPr/>
        </p:nvSpPr>
        <p:spPr>
          <a:xfrm>
            <a:off x="868680" y="1947672"/>
            <a:ext cx="4800600" cy="411480"/>
          </a:xfrm>
          <a:prstGeom prst="rect">
            <a:avLst/>
          </a:prstGeom>
          <a:noFill/>
          <a:ln/>
        </p:spPr>
        <p:txBody>
          <a:bodyPr wrap="square" rtlCol="0" anchor="ctr"/>
          <a:lstStyle/>
          <a:p>
            <a:pPr indent="0" marL="0">
              <a:buNone/>
            </a:pPr>
            <a:r>
              <a:rPr lang="en-US" sz="1650" b="1" dirty="0">
                <a:solidFill>
                  <a:srgbClr val="D9503F"/>
                </a:solidFill>
                <a:latin typeface="Calibri" pitchFamily="34" charset="0"/>
                <a:ea typeface="Calibri" pitchFamily="34" charset="-122"/>
                <a:cs typeface="Calibri" pitchFamily="34" charset="-120"/>
              </a:rPr>
              <a:t>Frontend</a:t>
            </a:r>
            <a:endParaRPr lang="en-US" sz="1650" dirty="0"/>
          </a:p>
        </p:txBody>
      </p:sp>
      <p:sp>
        <p:nvSpPr>
          <p:cNvPr id="6" name="Text 4"/>
          <p:cNvSpPr txBox="1"/>
          <p:nvPr/>
        </p:nvSpPr>
        <p:spPr>
          <a:xfrm>
            <a:off x="868680" y="2423160"/>
            <a:ext cx="4800600" cy="685800"/>
          </a:xfrm>
          <a:prstGeom prst="rect">
            <a:avLst/>
          </a:prstGeom>
          <a:noFill/>
          <a:ln/>
        </p:spPr>
        <p:txBody>
          <a:bodyPr wrap="square" rtlCol="0" anchor="ctr"/>
          <a:lstStyle/>
          <a:p>
            <a:pPr indent="0" marL="0">
              <a:lnSpc>
                <a:spcPct val="125000"/>
              </a:lnSpc>
              <a:buNone/>
            </a:pPr>
            <a:r>
              <a:rPr lang="en-US" sz="1300" dirty="0">
                <a:solidFill>
                  <a:srgbClr val="1A1A1A"/>
                </a:solidFill>
                <a:latin typeface="Calibri" pitchFamily="34" charset="0"/>
                <a:ea typeface="Calibri" pitchFamily="34" charset="-122"/>
                <a:cs typeface="Calibri" pitchFamily="34" charset="-120"/>
              </a:rPr>
              <a:t>HTML5, CSS3, vanilla JavaScript — no framework, no build step</a:t>
            </a:r>
            <a:endParaRPr lang="en-US" sz="1300" dirty="0"/>
          </a:p>
        </p:txBody>
      </p:sp>
      <p:sp>
        <p:nvSpPr>
          <p:cNvPr id="7" name="Shape 5"/>
          <p:cNvSpPr/>
          <p:nvPr/>
        </p:nvSpPr>
        <p:spPr>
          <a:xfrm>
            <a:off x="6263640" y="1783080"/>
            <a:ext cx="5257800" cy="1417320"/>
          </a:xfrm>
          <a:prstGeom prst="roundRect">
            <a:avLst>
              <a:gd name="adj" fmla="val 6452"/>
            </a:avLst>
          </a:prstGeom>
          <a:solidFill>
            <a:srgbClr val="F3F2EE"/>
          </a:solidFill>
          <a:ln/>
        </p:spPr>
      </p:sp>
      <p:sp>
        <p:nvSpPr>
          <p:cNvPr id="8" name="Text 6"/>
          <p:cNvSpPr txBox="1"/>
          <p:nvPr/>
        </p:nvSpPr>
        <p:spPr>
          <a:xfrm>
            <a:off x="6492240" y="1947672"/>
            <a:ext cx="4800600" cy="411480"/>
          </a:xfrm>
          <a:prstGeom prst="rect">
            <a:avLst/>
          </a:prstGeom>
          <a:noFill/>
          <a:ln/>
        </p:spPr>
        <p:txBody>
          <a:bodyPr wrap="square" rtlCol="0" anchor="ctr"/>
          <a:lstStyle/>
          <a:p>
            <a:pPr indent="0" marL="0">
              <a:buNone/>
            </a:pPr>
            <a:r>
              <a:rPr lang="en-US" sz="1650" b="1" dirty="0">
                <a:solidFill>
                  <a:srgbClr val="D9503F"/>
                </a:solidFill>
                <a:latin typeface="Calibri" pitchFamily="34" charset="0"/>
                <a:ea typeface="Calibri" pitchFamily="34" charset="-122"/>
                <a:cs typeface="Calibri" pitchFamily="34" charset="-120"/>
              </a:rPr>
              <a:t>Styling</a:t>
            </a:r>
            <a:endParaRPr lang="en-US" sz="1650" dirty="0"/>
          </a:p>
        </p:txBody>
      </p:sp>
      <p:sp>
        <p:nvSpPr>
          <p:cNvPr id="9" name="Text 7"/>
          <p:cNvSpPr txBox="1"/>
          <p:nvPr/>
        </p:nvSpPr>
        <p:spPr>
          <a:xfrm>
            <a:off x="6492240" y="2423160"/>
            <a:ext cx="4800600" cy="685800"/>
          </a:xfrm>
          <a:prstGeom prst="rect">
            <a:avLst/>
          </a:prstGeom>
          <a:noFill/>
          <a:ln/>
        </p:spPr>
        <p:txBody>
          <a:bodyPr wrap="square" rtlCol="0" anchor="ctr"/>
          <a:lstStyle/>
          <a:p>
            <a:pPr indent="0" marL="0">
              <a:lnSpc>
                <a:spcPct val="125000"/>
              </a:lnSpc>
              <a:buNone/>
            </a:pPr>
            <a:r>
              <a:rPr lang="en-US" sz="1300" dirty="0">
                <a:solidFill>
                  <a:srgbClr val="1A1A1A"/>
                </a:solidFill>
                <a:latin typeface="Calibri" pitchFamily="34" charset="0"/>
                <a:ea typeface="Calibri" pitchFamily="34" charset="-122"/>
                <a:cs typeface="Calibri" pitchFamily="34" charset="-120"/>
              </a:rPr>
              <a:t>Custom glassmorphic CSS, real brand assets, SVG progress rings</a:t>
            </a:r>
            <a:endParaRPr lang="en-US" sz="1300" dirty="0"/>
          </a:p>
        </p:txBody>
      </p:sp>
      <p:sp>
        <p:nvSpPr>
          <p:cNvPr id="10" name="Shape 8"/>
          <p:cNvSpPr/>
          <p:nvPr/>
        </p:nvSpPr>
        <p:spPr>
          <a:xfrm>
            <a:off x="640080" y="3383280"/>
            <a:ext cx="5257800" cy="1417320"/>
          </a:xfrm>
          <a:prstGeom prst="roundRect">
            <a:avLst>
              <a:gd name="adj" fmla="val 6452"/>
            </a:avLst>
          </a:prstGeom>
          <a:solidFill>
            <a:srgbClr val="F3F2EE"/>
          </a:solidFill>
          <a:ln/>
        </p:spPr>
      </p:sp>
      <p:sp>
        <p:nvSpPr>
          <p:cNvPr id="11" name="Text 9"/>
          <p:cNvSpPr txBox="1"/>
          <p:nvPr/>
        </p:nvSpPr>
        <p:spPr>
          <a:xfrm>
            <a:off x="868680" y="3547872"/>
            <a:ext cx="4800600" cy="411480"/>
          </a:xfrm>
          <a:prstGeom prst="rect">
            <a:avLst/>
          </a:prstGeom>
          <a:noFill/>
          <a:ln/>
        </p:spPr>
        <p:txBody>
          <a:bodyPr wrap="square" rtlCol="0" anchor="ctr"/>
          <a:lstStyle/>
          <a:p>
            <a:pPr indent="0" marL="0">
              <a:buNone/>
            </a:pPr>
            <a:r>
              <a:rPr lang="en-US" sz="1650" b="1" dirty="0">
                <a:solidFill>
                  <a:srgbClr val="D9503F"/>
                </a:solidFill>
                <a:latin typeface="Calibri" pitchFamily="34" charset="0"/>
                <a:ea typeface="Calibri" pitchFamily="34" charset="-122"/>
                <a:cs typeface="Calibri" pitchFamily="34" charset="-120"/>
              </a:rPr>
              <a:t>Data</a:t>
            </a:r>
            <a:endParaRPr lang="en-US" sz="1650" dirty="0"/>
          </a:p>
        </p:txBody>
      </p:sp>
      <p:sp>
        <p:nvSpPr>
          <p:cNvPr id="12" name="Text 10"/>
          <p:cNvSpPr txBox="1"/>
          <p:nvPr/>
        </p:nvSpPr>
        <p:spPr>
          <a:xfrm>
            <a:off x="868680" y="4023360"/>
            <a:ext cx="4800600" cy="685800"/>
          </a:xfrm>
          <a:prstGeom prst="rect">
            <a:avLst/>
          </a:prstGeom>
          <a:noFill/>
          <a:ln/>
        </p:spPr>
        <p:txBody>
          <a:bodyPr wrap="square" rtlCol="0" anchor="ctr"/>
          <a:lstStyle/>
          <a:p>
            <a:pPr indent="0" marL="0">
              <a:lnSpc>
                <a:spcPct val="125000"/>
              </a:lnSpc>
              <a:buNone/>
            </a:pPr>
            <a:r>
              <a:rPr lang="en-US" sz="1300" dirty="0">
                <a:solidFill>
                  <a:srgbClr val="1A1A1A"/>
                </a:solidFill>
                <a:latin typeface="Calibri" pitchFamily="34" charset="0"/>
                <a:ea typeface="Calibri" pitchFamily="34" charset="-122"/>
                <a:cs typeface="Calibri" pitchFamily="34" charset="-120"/>
              </a:rPr>
              <a:t>Browser localStorage — no backend required for the demo</a:t>
            </a:r>
            <a:endParaRPr lang="en-US" sz="1300" dirty="0"/>
          </a:p>
        </p:txBody>
      </p:sp>
      <p:sp>
        <p:nvSpPr>
          <p:cNvPr id="13" name="Shape 11"/>
          <p:cNvSpPr/>
          <p:nvPr/>
        </p:nvSpPr>
        <p:spPr>
          <a:xfrm>
            <a:off x="6263640" y="3383280"/>
            <a:ext cx="5257800" cy="1417320"/>
          </a:xfrm>
          <a:prstGeom prst="roundRect">
            <a:avLst>
              <a:gd name="adj" fmla="val 6452"/>
            </a:avLst>
          </a:prstGeom>
          <a:solidFill>
            <a:srgbClr val="F3F2EE"/>
          </a:solidFill>
          <a:ln/>
        </p:spPr>
      </p:sp>
      <p:sp>
        <p:nvSpPr>
          <p:cNvPr id="14" name="Text 12"/>
          <p:cNvSpPr txBox="1"/>
          <p:nvPr/>
        </p:nvSpPr>
        <p:spPr>
          <a:xfrm>
            <a:off x="6492240" y="3547872"/>
            <a:ext cx="4800600" cy="411480"/>
          </a:xfrm>
          <a:prstGeom prst="rect">
            <a:avLst/>
          </a:prstGeom>
          <a:noFill/>
          <a:ln/>
        </p:spPr>
        <p:txBody>
          <a:bodyPr wrap="square" rtlCol="0" anchor="ctr"/>
          <a:lstStyle/>
          <a:p>
            <a:pPr indent="0" marL="0">
              <a:buNone/>
            </a:pPr>
            <a:r>
              <a:rPr lang="en-US" sz="1650" b="1" dirty="0">
                <a:solidFill>
                  <a:srgbClr val="D9503F"/>
                </a:solidFill>
                <a:latin typeface="Calibri" pitchFamily="34" charset="0"/>
                <a:ea typeface="Calibri" pitchFamily="34" charset="-122"/>
                <a:cs typeface="Calibri" pitchFamily="34" charset="-120"/>
              </a:rPr>
              <a:t>Hosting</a:t>
            </a:r>
            <a:endParaRPr lang="en-US" sz="1650" dirty="0"/>
          </a:p>
        </p:txBody>
      </p:sp>
      <p:sp>
        <p:nvSpPr>
          <p:cNvPr id="15" name="Text 13"/>
          <p:cNvSpPr txBox="1"/>
          <p:nvPr/>
        </p:nvSpPr>
        <p:spPr>
          <a:xfrm>
            <a:off x="6492240" y="4023360"/>
            <a:ext cx="4800600" cy="685800"/>
          </a:xfrm>
          <a:prstGeom prst="rect">
            <a:avLst/>
          </a:prstGeom>
          <a:noFill/>
          <a:ln/>
        </p:spPr>
        <p:txBody>
          <a:bodyPr wrap="square" rtlCol="0" anchor="ctr"/>
          <a:lstStyle/>
          <a:p>
            <a:pPr indent="0" marL="0">
              <a:lnSpc>
                <a:spcPct val="125000"/>
              </a:lnSpc>
              <a:buNone/>
            </a:pPr>
            <a:r>
              <a:rPr lang="en-US" sz="1300" dirty="0">
                <a:solidFill>
                  <a:srgbClr val="1A1A1A"/>
                </a:solidFill>
                <a:latin typeface="Calibri" pitchFamily="34" charset="0"/>
                <a:ea typeface="Calibri" pitchFamily="34" charset="-122"/>
                <a:cs typeface="Calibri" pitchFamily="34" charset="-120"/>
              </a:rPr>
              <a:t>GitHub Pages — one live link, zero deploy pipeline</a:t>
            </a:r>
            <a:endParaRPr lang="en-US" sz="1300" dirty="0"/>
          </a:p>
        </p:txBody>
      </p:sp>
      <p:sp>
        <p:nvSpPr>
          <p:cNvPr id="16" name="Shape 14"/>
          <p:cNvSpPr/>
          <p:nvPr/>
        </p:nvSpPr>
        <p:spPr>
          <a:xfrm>
            <a:off x="640080" y="4983480"/>
            <a:ext cx="5257800" cy="1417320"/>
          </a:xfrm>
          <a:prstGeom prst="roundRect">
            <a:avLst>
              <a:gd name="adj" fmla="val 6452"/>
            </a:avLst>
          </a:prstGeom>
          <a:solidFill>
            <a:srgbClr val="F3F2EE"/>
          </a:solidFill>
          <a:ln/>
        </p:spPr>
      </p:sp>
      <p:sp>
        <p:nvSpPr>
          <p:cNvPr id="17" name="Text 15"/>
          <p:cNvSpPr txBox="1"/>
          <p:nvPr/>
        </p:nvSpPr>
        <p:spPr>
          <a:xfrm>
            <a:off x="868680" y="5148072"/>
            <a:ext cx="4800600" cy="411480"/>
          </a:xfrm>
          <a:prstGeom prst="rect">
            <a:avLst/>
          </a:prstGeom>
          <a:noFill/>
          <a:ln/>
        </p:spPr>
        <p:txBody>
          <a:bodyPr wrap="square" rtlCol="0" anchor="ctr"/>
          <a:lstStyle/>
          <a:p>
            <a:pPr indent="0" marL="0">
              <a:buNone/>
            </a:pPr>
            <a:r>
              <a:rPr lang="en-US" sz="1650" b="1" dirty="0">
                <a:solidFill>
                  <a:srgbClr val="D9503F"/>
                </a:solidFill>
                <a:latin typeface="Calibri" pitchFamily="34" charset="0"/>
                <a:ea typeface="Calibri" pitchFamily="34" charset="-122"/>
                <a:cs typeface="Calibri" pitchFamily="34" charset="-120"/>
              </a:rPr>
              <a:t>Testing</a:t>
            </a:r>
            <a:endParaRPr lang="en-US" sz="1650" dirty="0"/>
          </a:p>
        </p:txBody>
      </p:sp>
      <p:sp>
        <p:nvSpPr>
          <p:cNvPr id="18" name="Text 16"/>
          <p:cNvSpPr txBox="1"/>
          <p:nvPr/>
        </p:nvSpPr>
        <p:spPr>
          <a:xfrm>
            <a:off x="868680" y="5623560"/>
            <a:ext cx="4800600" cy="685800"/>
          </a:xfrm>
          <a:prstGeom prst="rect">
            <a:avLst/>
          </a:prstGeom>
          <a:noFill/>
          <a:ln/>
        </p:spPr>
        <p:txBody>
          <a:bodyPr wrap="square" rtlCol="0" anchor="ctr"/>
          <a:lstStyle/>
          <a:p>
            <a:pPr indent="0" marL="0">
              <a:lnSpc>
                <a:spcPct val="125000"/>
              </a:lnSpc>
              <a:buNone/>
            </a:pPr>
            <a:r>
              <a:rPr lang="en-US" sz="1300" dirty="0">
                <a:solidFill>
                  <a:srgbClr val="1A1A1A"/>
                </a:solidFill>
                <a:latin typeface="Calibri" pitchFamily="34" charset="0"/>
                <a:ea typeface="Calibri" pitchFamily="34" charset="-122"/>
                <a:cs typeface="Calibri" pitchFamily="34" charset="-120"/>
              </a:rPr>
              <a:t>Node.js + jsdom automated interaction tests on every feature</a:t>
            </a:r>
            <a:endParaRPr lang="en-US" sz="1300" dirty="0"/>
          </a:p>
        </p:txBody>
      </p:sp>
      <p:sp>
        <p:nvSpPr>
          <p:cNvPr id="19" name="Shape 17"/>
          <p:cNvSpPr/>
          <p:nvPr/>
        </p:nvSpPr>
        <p:spPr>
          <a:xfrm>
            <a:off x="6263640" y="4983480"/>
            <a:ext cx="5257800" cy="1417320"/>
          </a:xfrm>
          <a:prstGeom prst="roundRect">
            <a:avLst>
              <a:gd name="adj" fmla="val 6452"/>
            </a:avLst>
          </a:prstGeom>
          <a:solidFill>
            <a:srgbClr val="F3F2EE"/>
          </a:solidFill>
          <a:ln/>
        </p:spPr>
      </p:sp>
      <p:sp>
        <p:nvSpPr>
          <p:cNvPr id="20" name="Text 18"/>
          <p:cNvSpPr txBox="1"/>
          <p:nvPr/>
        </p:nvSpPr>
        <p:spPr>
          <a:xfrm>
            <a:off x="6492240" y="5148072"/>
            <a:ext cx="4800600" cy="411480"/>
          </a:xfrm>
          <a:prstGeom prst="rect">
            <a:avLst/>
          </a:prstGeom>
          <a:noFill/>
          <a:ln/>
        </p:spPr>
        <p:txBody>
          <a:bodyPr wrap="square" rtlCol="0" anchor="ctr"/>
          <a:lstStyle/>
          <a:p>
            <a:pPr indent="0" marL="0">
              <a:buNone/>
            </a:pPr>
            <a:r>
              <a:rPr lang="en-US" sz="1650" b="1" dirty="0">
                <a:solidFill>
                  <a:srgbClr val="D9503F"/>
                </a:solidFill>
                <a:latin typeface="Calibri" pitchFamily="34" charset="0"/>
                <a:ea typeface="Calibri" pitchFamily="34" charset="-122"/>
                <a:cs typeface="Calibri" pitchFamily="34" charset="-120"/>
              </a:rPr>
              <a:t>Nutrition foundation</a:t>
            </a:r>
            <a:endParaRPr lang="en-US" sz="1650" dirty="0"/>
          </a:p>
        </p:txBody>
      </p:sp>
      <p:sp>
        <p:nvSpPr>
          <p:cNvPr id="21" name="Text 19"/>
          <p:cNvSpPr txBox="1"/>
          <p:nvPr/>
        </p:nvSpPr>
        <p:spPr>
          <a:xfrm>
            <a:off x="6492240" y="5623560"/>
            <a:ext cx="4800600" cy="685800"/>
          </a:xfrm>
          <a:prstGeom prst="rect">
            <a:avLst/>
          </a:prstGeom>
          <a:noFill/>
          <a:ln/>
        </p:spPr>
        <p:txBody>
          <a:bodyPr wrap="square" rtlCol="0" anchor="ctr"/>
          <a:lstStyle/>
          <a:p>
            <a:pPr indent="0" marL="0">
              <a:lnSpc>
                <a:spcPct val="125000"/>
              </a:lnSpc>
              <a:buNone/>
            </a:pPr>
            <a:r>
              <a:rPr lang="en-US" sz="1300" dirty="0">
                <a:solidFill>
                  <a:srgbClr val="1A1A1A"/>
                </a:solidFill>
                <a:latin typeface="Calibri" pitchFamily="34" charset="0"/>
                <a:ea typeface="Calibri" pitchFamily="34" charset="-122"/>
                <a:cs typeface="Calibri" pitchFamily="34" charset="-120"/>
              </a:rPr>
              <a:t>ICMR-NIN 2020 reference intakes — informs, never diagnoses</a:t>
            </a:r>
            <a:endParaRPr lang="en-US" sz="1300" dirty="0"/>
          </a:p>
        </p:txBody>
      </p:sp>
      <p:sp>
        <p:nvSpPr>
          <p:cNvPr id="22" name="Text 20"/>
          <p:cNvSpPr/>
          <p:nvPr/>
        </p:nvSpPr>
        <p:spPr>
          <a:xfrm>
            <a:off x="11475720" y="6446520"/>
            <a:ext cx="457200" cy="274320"/>
          </a:xfrm>
          <a:prstGeom prst="rect">
            <a:avLst/>
          </a:prstGeom>
          <a:noFill/>
          <a:ln/>
        </p:spPr>
        <p:txBody>
          <a:bodyPr wrap="square" rtlCol="0" anchor="ctr"/>
          <a:lstStyle/>
          <a:p>
            <a:pPr algn="r" indent="0" marL="0">
              <a:buNone/>
            </a:pPr>
            <a:r>
              <a:rPr lang="en-US" sz="1100" dirty="0">
                <a:solidFill>
                  <a:srgbClr val="5C6B62"/>
                </a:solidFill>
                <a:latin typeface="Calibri" pitchFamily="34" charset="0"/>
                <a:ea typeface="Calibri" pitchFamily="34" charset="-122"/>
                <a:cs typeface="Calibri" pitchFamily="34" charset="-120"/>
              </a:rPr>
              <a:t>11</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38912"/>
            <a:ext cx="8229600" cy="365760"/>
          </a:xfrm>
          <a:prstGeom prst="rect">
            <a:avLst/>
          </a:prstGeom>
          <a:noFill/>
          <a:ln/>
        </p:spPr>
        <p:txBody>
          <a:bodyPr wrap="square" rtlCol="0" anchor="ctr"/>
          <a:lstStyle/>
          <a:p>
            <a:pPr indent="0" marL="0">
              <a:buNone/>
            </a:pPr>
            <a:r>
              <a:rPr lang="en-US" sz="1400" b="1" spc="200" kern="0" dirty="0">
                <a:solidFill>
                  <a:srgbClr val="D9503F"/>
                </a:solidFill>
                <a:latin typeface="Calibri" pitchFamily="34" charset="0"/>
                <a:ea typeface="Calibri" pitchFamily="34" charset="-122"/>
                <a:cs typeface="Calibri" pitchFamily="34" charset="-120"/>
              </a:rPr>
              <a:t>10 · FUTURE SCOPE</a:t>
            </a:r>
            <a:endParaRPr lang="en-US" sz="1400" dirty="0"/>
          </a:p>
        </p:txBody>
      </p:sp>
      <p:sp>
        <p:nvSpPr>
          <p:cNvPr id="3" name="Text 1"/>
          <p:cNvSpPr txBox="1"/>
          <p:nvPr/>
        </p:nvSpPr>
        <p:spPr>
          <a:xfrm>
            <a:off x="640080" y="786384"/>
            <a:ext cx="10881360" cy="777240"/>
          </a:xfrm>
          <a:prstGeom prst="rect">
            <a:avLst/>
          </a:prstGeom>
          <a:noFill/>
          <a:ln/>
        </p:spPr>
        <p:txBody>
          <a:bodyPr wrap="square" rtlCol="0" anchor="ctr"/>
          <a:lstStyle/>
          <a:p>
            <a:pPr indent="0" marL="0">
              <a:buNone/>
            </a:pPr>
            <a:r>
              <a:rPr lang="en-US" sz="3600" b="1" dirty="0">
                <a:solidFill>
                  <a:srgbClr val="1A1A1A"/>
                </a:solidFill>
                <a:latin typeface="Calibri" pitchFamily="34" charset="0"/>
                <a:ea typeface="Calibri" pitchFamily="34" charset="-122"/>
                <a:cs typeface="Calibri" pitchFamily="34" charset="-120"/>
              </a:rPr>
              <a:t>Where this goes next</a:t>
            </a:r>
            <a:endParaRPr lang="en-US" sz="3600" dirty="0"/>
          </a:p>
        </p:txBody>
      </p:sp>
      <p:sp>
        <p:nvSpPr>
          <p:cNvPr id="4" name="Text 2"/>
          <p:cNvSpPr txBox="1"/>
          <p:nvPr/>
        </p:nvSpPr>
        <p:spPr>
          <a:xfrm>
            <a:off x="640080" y="1737360"/>
            <a:ext cx="640080" cy="457200"/>
          </a:xfrm>
          <a:prstGeom prst="rect">
            <a:avLst/>
          </a:prstGeom>
          <a:noFill/>
          <a:ln/>
        </p:spPr>
        <p:txBody>
          <a:bodyPr wrap="square" rtlCol="0" anchor="ctr"/>
          <a:lstStyle/>
          <a:p>
            <a:pPr indent="0" marL="0">
              <a:buNone/>
            </a:pPr>
            <a:r>
              <a:rPr lang="en-US" sz="1700" b="1" dirty="0">
                <a:solidFill>
                  <a:srgbClr val="D9503F"/>
                </a:solidFill>
                <a:latin typeface="Calibri" pitchFamily="34" charset="0"/>
                <a:ea typeface="Calibri" pitchFamily="34" charset="-122"/>
                <a:cs typeface="Calibri" pitchFamily="34" charset="-120"/>
              </a:rPr>
              <a:t>01</a:t>
            </a:r>
            <a:endParaRPr lang="en-US" sz="1700" dirty="0"/>
          </a:p>
        </p:txBody>
      </p:sp>
      <p:sp>
        <p:nvSpPr>
          <p:cNvPr id="5" name="Text 3"/>
          <p:cNvSpPr txBox="1"/>
          <p:nvPr/>
        </p:nvSpPr>
        <p:spPr>
          <a:xfrm>
            <a:off x="1325880" y="1755648"/>
            <a:ext cx="10058400" cy="457200"/>
          </a:xfrm>
          <a:prstGeom prst="rect">
            <a:avLst/>
          </a:prstGeom>
          <a:noFill/>
          <a:ln/>
        </p:spPr>
        <p:txBody>
          <a:bodyPr wrap="square" rtlCol="0" anchor="ctr"/>
          <a:lstStyle/>
          <a:p>
            <a:pPr indent="0" marL="0">
              <a:buNone/>
            </a:pPr>
            <a:r>
              <a:rPr lang="en-US" sz="1400" dirty="0">
                <a:solidFill>
                  <a:srgbClr val="1A1A1A"/>
                </a:solidFill>
                <a:latin typeface="Calibri" pitchFamily="34" charset="0"/>
                <a:ea typeface="Calibri" pitchFamily="34" charset="-122"/>
                <a:cs typeface="Calibri" pitchFamily="34" charset="-120"/>
              </a:rPr>
              <a:t>Real, properly licensed food photography across the full dish library</a:t>
            </a:r>
            <a:endParaRPr lang="en-US" sz="1400" dirty="0"/>
          </a:p>
        </p:txBody>
      </p:sp>
      <p:sp>
        <p:nvSpPr>
          <p:cNvPr id="6" name="Text 4"/>
          <p:cNvSpPr txBox="1"/>
          <p:nvPr/>
        </p:nvSpPr>
        <p:spPr>
          <a:xfrm>
            <a:off x="640080" y="2304288"/>
            <a:ext cx="640080" cy="457200"/>
          </a:xfrm>
          <a:prstGeom prst="rect">
            <a:avLst/>
          </a:prstGeom>
          <a:noFill/>
          <a:ln/>
        </p:spPr>
        <p:txBody>
          <a:bodyPr wrap="square" rtlCol="0" anchor="ctr"/>
          <a:lstStyle/>
          <a:p>
            <a:pPr indent="0" marL="0">
              <a:buNone/>
            </a:pPr>
            <a:r>
              <a:rPr lang="en-US" sz="1700" b="1" dirty="0">
                <a:solidFill>
                  <a:srgbClr val="D9503F"/>
                </a:solidFill>
                <a:latin typeface="Calibri" pitchFamily="34" charset="0"/>
                <a:ea typeface="Calibri" pitchFamily="34" charset="-122"/>
                <a:cs typeface="Calibri" pitchFamily="34" charset="-120"/>
              </a:rPr>
              <a:t>02</a:t>
            </a:r>
            <a:endParaRPr lang="en-US" sz="1700" dirty="0"/>
          </a:p>
        </p:txBody>
      </p:sp>
      <p:sp>
        <p:nvSpPr>
          <p:cNvPr id="7" name="Text 5"/>
          <p:cNvSpPr txBox="1"/>
          <p:nvPr/>
        </p:nvSpPr>
        <p:spPr>
          <a:xfrm>
            <a:off x="1325880" y="2322576"/>
            <a:ext cx="10058400" cy="457200"/>
          </a:xfrm>
          <a:prstGeom prst="rect">
            <a:avLst/>
          </a:prstGeom>
          <a:noFill/>
          <a:ln/>
        </p:spPr>
        <p:txBody>
          <a:bodyPr wrap="square" rtlCol="0" anchor="ctr"/>
          <a:lstStyle/>
          <a:p>
            <a:pPr indent="0" marL="0">
              <a:buNone/>
            </a:pPr>
            <a:r>
              <a:rPr lang="en-US" sz="1400" dirty="0">
                <a:solidFill>
                  <a:srgbClr val="1A1A1A"/>
                </a:solidFill>
                <a:latin typeface="Calibri" pitchFamily="34" charset="0"/>
                <a:ea typeface="Calibri" pitchFamily="34" charset="-122"/>
                <a:cs typeface="Calibri" pitchFamily="34" charset="-120"/>
              </a:rPr>
              <a:t>Apple Health / Samsung Health integration for automatic BMI-based targets</a:t>
            </a:r>
            <a:endParaRPr lang="en-US" sz="1400" dirty="0"/>
          </a:p>
        </p:txBody>
      </p:sp>
      <p:sp>
        <p:nvSpPr>
          <p:cNvPr id="8" name="Text 6"/>
          <p:cNvSpPr txBox="1"/>
          <p:nvPr/>
        </p:nvSpPr>
        <p:spPr>
          <a:xfrm>
            <a:off x="640080" y="2871216"/>
            <a:ext cx="640080" cy="457200"/>
          </a:xfrm>
          <a:prstGeom prst="rect">
            <a:avLst/>
          </a:prstGeom>
          <a:noFill/>
          <a:ln/>
        </p:spPr>
        <p:txBody>
          <a:bodyPr wrap="square" rtlCol="0" anchor="ctr"/>
          <a:lstStyle/>
          <a:p>
            <a:pPr indent="0" marL="0">
              <a:buNone/>
            </a:pPr>
            <a:r>
              <a:rPr lang="en-US" sz="1700" b="1" dirty="0">
                <a:solidFill>
                  <a:srgbClr val="D9503F"/>
                </a:solidFill>
                <a:latin typeface="Calibri" pitchFamily="34" charset="0"/>
                <a:ea typeface="Calibri" pitchFamily="34" charset="-122"/>
                <a:cs typeface="Calibri" pitchFamily="34" charset="-120"/>
              </a:rPr>
              <a:t>03</a:t>
            </a:r>
            <a:endParaRPr lang="en-US" sz="1700" dirty="0"/>
          </a:p>
        </p:txBody>
      </p:sp>
      <p:sp>
        <p:nvSpPr>
          <p:cNvPr id="9" name="Text 7"/>
          <p:cNvSpPr txBox="1"/>
          <p:nvPr/>
        </p:nvSpPr>
        <p:spPr>
          <a:xfrm>
            <a:off x="1325880" y="2889504"/>
            <a:ext cx="10058400" cy="457200"/>
          </a:xfrm>
          <a:prstGeom prst="rect">
            <a:avLst/>
          </a:prstGeom>
          <a:noFill/>
          <a:ln/>
        </p:spPr>
        <p:txBody>
          <a:bodyPr wrap="square" rtlCol="0" anchor="ctr"/>
          <a:lstStyle/>
          <a:p>
            <a:pPr indent="0" marL="0">
              <a:buNone/>
            </a:pPr>
            <a:r>
              <a:rPr lang="en-US" sz="1400" dirty="0">
                <a:solidFill>
                  <a:srgbClr val="1A1A1A"/>
                </a:solidFill>
                <a:latin typeface="Calibri" pitchFamily="34" charset="0"/>
                <a:ea typeface="Calibri" pitchFamily="34" charset="-122"/>
                <a:cs typeface="Calibri" pitchFamily="34" charset="-120"/>
              </a:rPr>
              <a:t>Live backend + real vendor integration, piloted in a single hostel block first</a:t>
            </a:r>
            <a:endParaRPr lang="en-US" sz="1400" dirty="0"/>
          </a:p>
        </p:txBody>
      </p:sp>
      <p:sp>
        <p:nvSpPr>
          <p:cNvPr id="10" name="Text 8"/>
          <p:cNvSpPr txBox="1"/>
          <p:nvPr/>
        </p:nvSpPr>
        <p:spPr>
          <a:xfrm>
            <a:off x="640080" y="3438144"/>
            <a:ext cx="640080" cy="457200"/>
          </a:xfrm>
          <a:prstGeom prst="rect">
            <a:avLst/>
          </a:prstGeom>
          <a:noFill/>
          <a:ln/>
        </p:spPr>
        <p:txBody>
          <a:bodyPr wrap="square" rtlCol="0" anchor="ctr"/>
          <a:lstStyle/>
          <a:p>
            <a:pPr indent="0" marL="0">
              <a:buNone/>
            </a:pPr>
            <a:r>
              <a:rPr lang="en-US" sz="1700" b="1" dirty="0">
                <a:solidFill>
                  <a:srgbClr val="D9503F"/>
                </a:solidFill>
                <a:latin typeface="Calibri" pitchFamily="34" charset="0"/>
                <a:ea typeface="Calibri" pitchFamily="34" charset="-122"/>
                <a:cs typeface="Calibri" pitchFamily="34" charset="-120"/>
              </a:rPr>
              <a:t>04</a:t>
            </a:r>
            <a:endParaRPr lang="en-US" sz="1700" dirty="0"/>
          </a:p>
        </p:txBody>
      </p:sp>
      <p:sp>
        <p:nvSpPr>
          <p:cNvPr id="11" name="Text 9"/>
          <p:cNvSpPr txBox="1"/>
          <p:nvPr/>
        </p:nvSpPr>
        <p:spPr>
          <a:xfrm>
            <a:off x="1325880" y="3456432"/>
            <a:ext cx="10058400" cy="457200"/>
          </a:xfrm>
          <a:prstGeom prst="rect">
            <a:avLst/>
          </a:prstGeom>
          <a:noFill/>
          <a:ln/>
        </p:spPr>
        <p:txBody>
          <a:bodyPr wrap="square" rtlCol="0" anchor="ctr"/>
          <a:lstStyle/>
          <a:p>
            <a:pPr indent="0" marL="0">
              <a:buNone/>
            </a:pPr>
            <a:r>
              <a:rPr lang="en-US" sz="1400" dirty="0">
                <a:solidFill>
                  <a:srgbClr val="1A1A1A"/>
                </a:solidFill>
                <a:latin typeface="Calibri" pitchFamily="34" charset="0"/>
                <a:ea typeface="Calibri" pitchFamily="34" charset="-122"/>
                <a:cs typeface="Calibri" pitchFamily="34" charset="-120"/>
              </a:rPr>
              <a:t>Formal pursuit of FSSAI Eat Right Campus certification for VIT</a:t>
            </a:r>
            <a:endParaRPr lang="en-US" sz="1400" dirty="0"/>
          </a:p>
        </p:txBody>
      </p:sp>
      <p:sp>
        <p:nvSpPr>
          <p:cNvPr id="12" name="Shape 10"/>
          <p:cNvSpPr/>
          <p:nvPr/>
        </p:nvSpPr>
        <p:spPr>
          <a:xfrm>
            <a:off x="640080" y="4160520"/>
            <a:ext cx="10881360" cy="1965960"/>
          </a:xfrm>
          <a:prstGeom prst="roundRect">
            <a:avLst>
              <a:gd name="adj" fmla="val 5581"/>
            </a:avLst>
          </a:prstGeom>
          <a:solidFill>
            <a:srgbClr val="163D28"/>
          </a:solidFill>
          <a:ln/>
        </p:spPr>
      </p:sp>
      <p:sp>
        <p:nvSpPr>
          <p:cNvPr id="13" name="Text 11"/>
          <p:cNvSpPr txBox="1"/>
          <p:nvPr/>
        </p:nvSpPr>
        <p:spPr>
          <a:xfrm>
            <a:off x="914400" y="4343400"/>
            <a:ext cx="10241280" cy="365760"/>
          </a:xfrm>
          <a:prstGeom prst="rect">
            <a:avLst/>
          </a:prstGeom>
          <a:noFill/>
          <a:ln/>
        </p:spPr>
        <p:txBody>
          <a:bodyPr wrap="square" rtlCol="0" anchor="ctr"/>
          <a:lstStyle/>
          <a:p>
            <a:pPr indent="0" marL="0">
              <a:buNone/>
            </a:pPr>
            <a:r>
              <a:rPr lang="en-US" sz="1500" b="1" dirty="0">
                <a:solidFill>
                  <a:srgbClr val="F2A691"/>
                </a:solidFill>
                <a:latin typeface="Calibri" pitchFamily="34" charset="0"/>
                <a:ea typeface="Calibri" pitchFamily="34" charset="-122"/>
                <a:cs typeface="Calibri" pitchFamily="34" charset="-120"/>
              </a:rPr>
              <a:t>Scaling vision — B2B2C campus platform</a:t>
            </a:r>
            <a:endParaRPr lang="en-US" sz="1500" dirty="0"/>
          </a:p>
        </p:txBody>
      </p:sp>
      <p:sp>
        <p:nvSpPr>
          <p:cNvPr id="14" name="Text 12"/>
          <p:cNvSpPr txBox="1"/>
          <p:nvPr/>
        </p:nvSpPr>
        <p:spPr>
          <a:xfrm>
            <a:off x="914400" y="4800600"/>
            <a:ext cx="10241280" cy="457200"/>
          </a:xfrm>
          <a:prstGeom prst="rect">
            <a:avLst/>
          </a:prstGeom>
          <a:noFill/>
          <a:ln/>
        </p:spPr>
        <p:txBody>
          <a:bodyPr wrap="square"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1 Hostel  →  1 Campus  →  Multiple Campuses  →  Institutional food-service networks</a:t>
            </a:r>
            <a:endParaRPr lang="en-US" sz="1600" dirty="0"/>
          </a:p>
        </p:txBody>
      </p:sp>
      <p:sp>
        <p:nvSpPr>
          <p:cNvPr id="15" name="Text 13"/>
          <p:cNvSpPr txBox="1"/>
          <p:nvPr/>
        </p:nvSpPr>
        <p:spPr>
          <a:xfrm>
            <a:off x="914400" y="5349240"/>
            <a:ext cx="10241280" cy="640080"/>
          </a:xfrm>
          <a:prstGeom prst="rect">
            <a:avLst/>
          </a:prstGeom>
          <a:noFill/>
          <a:ln/>
        </p:spPr>
        <p:txBody>
          <a:bodyPr wrap="square" rtlCol="0" anchor="ctr"/>
          <a:lstStyle/>
          <a:p>
            <a:pPr indent="0" marL="0">
              <a:lnSpc>
                <a:spcPct val="130000"/>
              </a:lnSpc>
              <a:buNone/>
            </a:pPr>
            <a:r>
              <a:rPr lang="en-US" sz="1250" dirty="0">
                <a:solidFill>
                  <a:srgbClr val="E7EFEA"/>
                </a:solidFill>
                <a:latin typeface="Calibri" pitchFamily="34" charset="0"/>
                <a:ea typeface="Calibri" pitchFamily="34" charset="-122"/>
                <a:cs typeface="Calibri" pitchFamily="34" charset="-120"/>
              </a:rPr>
              <a:t>Aggregated data could eventually inform demand forecasting, menu optimization, and procurement — for the customer (college/university/mess operator), serving students and mess staff alike.</a:t>
            </a:r>
            <a:endParaRPr lang="en-US" sz="1250" dirty="0"/>
          </a:p>
        </p:txBody>
      </p:sp>
      <p:sp>
        <p:nvSpPr>
          <p:cNvPr id="16" name="Text 14"/>
          <p:cNvSpPr/>
          <p:nvPr/>
        </p:nvSpPr>
        <p:spPr>
          <a:xfrm>
            <a:off x="11475720" y="6446520"/>
            <a:ext cx="457200" cy="274320"/>
          </a:xfrm>
          <a:prstGeom prst="rect">
            <a:avLst/>
          </a:prstGeom>
          <a:noFill/>
          <a:ln/>
        </p:spPr>
        <p:txBody>
          <a:bodyPr wrap="square" rtlCol="0" anchor="ctr"/>
          <a:lstStyle/>
          <a:p>
            <a:pPr algn="r" indent="0" marL="0">
              <a:buNone/>
            </a:pPr>
            <a:r>
              <a:rPr lang="en-US" sz="1100" dirty="0">
                <a:solidFill>
                  <a:srgbClr val="5C6B62"/>
                </a:solidFill>
                <a:latin typeface="Calibri" pitchFamily="34" charset="0"/>
                <a:ea typeface="Calibri" pitchFamily="34" charset="-122"/>
                <a:cs typeface="Calibri" pitchFamily="34" charset="-120"/>
              </a:rPr>
              <a:t>12</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63D28"/>
        </a:solidFill>
      </p:bgPr>
    </p:bg>
    <p:spTree>
      <p:nvGrpSpPr>
        <p:cNvPr id="1" name=""/>
        <p:cNvGrpSpPr/>
        <p:nvPr/>
      </p:nvGrpSpPr>
      <p:grpSpPr>
        <a:xfrm>
          <a:off x="0" y="0"/>
          <a:ext cx="0" cy="0"/>
          <a:chOff x="0" y="0"/>
          <a:chExt cx="0" cy="0"/>
        </a:xfrm>
      </p:grpSpPr>
      <p:sp>
        <p:nvSpPr>
          <p:cNvPr id="2" name="Text 0"/>
          <p:cNvSpPr txBox="1"/>
          <p:nvPr/>
        </p:nvSpPr>
        <p:spPr>
          <a:xfrm>
            <a:off x="640080" y="438912"/>
            <a:ext cx="8229600" cy="365760"/>
          </a:xfrm>
          <a:prstGeom prst="rect">
            <a:avLst/>
          </a:prstGeom>
          <a:noFill/>
          <a:ln/>
        </p:spPr>
        <p:txBody>
          <a:bodyPr wrap="square" rtlCol="0" anchor="ctr"/>
          <a:lstStyle/>
          <a:p>
            <a:pPr indent="0" marL="0">
              <a:buNone/>
            </a:pPr>
            <a:r>
              <a:rPr lang="en-US" sz="1400" b="1" spc="200" kern="0" dirty="0">
                <a:solidFill>
                  <a:srgbClr val="F2A691"/>
                </a:solidFill>
                <a:latin typeface="Calibri" pitchFamily="34" charset="0"/>
                <a:ea typeface="Calibri" pitchFamily="34" charset="-122"/>
                <a:cs typeface="Calibri" pitchFamily="34" charset="-120"/>
              </a:rPr>
              <a:t>ADDITIONAL MATERIALS</a:t>
            </a:r>
            <a:endParaRPr lang="en-US" sz="1400" dirty="0"/>
          </a:p>
        </p:txBody>
      </p:sp>
      <p:sp>
        <p:nvSpPr>
          <p:cNvPr id="3" name="Text 1"/>
          <p:cNvSpPr txBox="1"/>
          <p:nvPr/>
        </p:nvSpPr>
        <p:spPr>
          <a:xfrm>
            <a:off x="640080" y="786384"/>
            <a:ext cx="10881360" cy="777240"/>
          </a:xfrm>
          <a:prstGeom prst="rect">
            <a:avLst/>
          </a:prstGeom>
          <a:noFill/>
          <a:ln/>
        </p:spPr>
        <p:txBody>
          <a:bodyPr wrap="square" rtlCol="0" anchor="ctr"/>
          <a:lstStyle/>
          <a:p>
            <a:pPr indent="0" marL="0">
              <a:buNone/>
            </a:pPr>
            <a:r>
              <a:rPr lang="en-US" sz="3400" b="1" dirty="0">
                <a:solidFill>
                  <a:srgbClr val="FFFFFF"/>
                </a:solidFill>
                <a:latin typeface="Calibri" pitchFamily="34" charset="0"/>
                <a:ea typeface="Calibri" pitchFamily="34" charset="-122"/>
                <a:cs typeface="Calibri" pitchFamily="34" charset="-120"/>
              </a:rPr>
              <a:t>Everything behind this pitch</a:t>
            </a:r>
            <a:endParaRPr lang="en-US" sz="3400" dirty="0"/>
          </a:p>
        </p:txBody>
      </p:sp>
      <p:sp>
        <p:nvSpPr>
          <p:cNvPr id="4" name="Text 2"/>
          <p:cNvSpPr txBox="1"/>
          <p:nvPr/>
        </p:nvSpPr>
        <p:spPr>
          <a:xfrm>
            <a:off x="640080" y="1874520"/>
            <a:ext cx="3017520" cy="457200"/>
          </a:xfrm>
          <a:prstGeom prst="rect">
            <a:avLst/>
          </a:prstGeom>
          <a:noFill/>
          <a:ln/>
        </p:spPr>
        <p:txBody>
          <a:bodyPr wrap="square" rtlCol="0" anchor="ctr"/>
          <a:lstStyle/>
          <a:p>
            <a:pPr indent="0" marL="0">
              <a:buNone/>
            </a:pPr>
            <a:r>
              <a:rPr lang="en-US" sz="1500" b="1" dirty="0">
                <a:solidFill>
                  <a:srgbClr val="F2A691"/>
                </a:solidFill>
                <a:latin typeface="Calibri" pitchFamily="34" charset="0"/>
                <a:ea typeface="Calibri" pitchFamily="34" charset="-122"/>
                <a:cs typeface="Calibri" pitchFamily="34" charset="-120"/>
              </a:rPr>
              <a:t>Live demo:</a:t>
            </a:r>
            <a:endParaRPr lang="en-US" sz="1500" dirty="0"/>
          </a:p>
        </p:txBody>
      </p:sp>
      <p:sp>
        <p:nvSpPr>
          <p:cNvPr id="5" name="Text 3"/>
          <p:cNvSpPr txBox="1"/>
          <p:nvPr/>
        </p:nvSpPr>
        <p:spPr>
          <a:xfrm>
            <a:off x="3703320" y="1874520"/>
            <a:ext cx="7772400" cy="457200"/>
          </a:xfrm>
          <a:prstGeom prst="rect">
            <a:avLst/>
          </a:prstGeom>
          <a:noFill/>
          <a:ln/>
        </p:spPr>
        <p:txBody>
          <a:bodyPr wrap="square" rtlCol="0" anchor="ctr"/>
          <a:lstStyle/>
          <a:p>
            <a:pPr indent="0" marL="0">
              <a:buNone/>
            </a:pPr>
            <a:r>
              <a:rPr lang="en-US" sz="1400" dirty="0">
                <a:solidFill>
                  <a:srgbClr val="E7EFEA"/>
                </a:solidFill>
                <a:latin typeface="Calibri" pitchFamily="34" charset="0"/>
                <a:ea typeface="Calibri" pitchFamily="34" charset="-122"/>
                <a:cs typeface="Calibri" pitchFamily="34" charset="-120"/>
              </a:rPr>
              <a:t>coder1234a.github.io/ThaliMetrics/app/</a:t>
            </a:r>
            <a:endParaRPr lang="en-US" sz="1400" dirty="0"/>
          </a:p>
        </p:txBody>
      </p:sp>
      <p:sp>
        <p:nvSpPr>
          <p:cNvPr id="6" name="Text 4"/>
          <p:cNvSpPr txBox="1"/>
          <p:nvPr/>
        </p:nvSpPr>
        <p:spPr>
          <a:xfrm>
            <a:off x="640080" y="2496312"/>
            <a:ext cx="3017520" cy="457200"/>
          </a:xfrm>
          <a:prstGeom prst="rect">
            <a:avLst/>
          </a:prstGeom>
          <a:noFill/>
          <a:ln/>
        </p:spPr>
        <p:txBody>
          <a:bodyPr wrap="square" rtlCol="0" anchor="ctr"/>
          <a:lstStyle/>
          <a:p>
            <a:pPr indent="0" marL="0">
              <a:buNone/>
            </a:pPr>
            <a:r>
              <a:rPr lang="en-US" sz="1500" b="1" dirty="0">
                <a:solidFill>
                  <a:srgbClr val="F2A691"/>
                </a:solidFill>
                <a:latin typeface="Calibri" pitchFamily="34" charset="0"/>
                <a:ea typeface="Calibri" pitchFamily="34" charset="-122"/>
                <a:cs typeface="Calibri" pitchFamily="34" charset="-120"/>
              </a:rPr>
              <a:t>Source code:</a:t>
            </a:r>
            <a:endParaRPr lang="en-US" sz="1500" dirty="0"/>
          </a:p>
        </p:txBody>
      </p:sp>
      <p:sp>
        <p:nvSpPr>
          <p:cNvPr id="7" name="Text 5"/>
          <p:cNvSpPr txBox="1"/>
          <p:nvPr/>
        </p:nvSpPr>
        <p:spPr>
          <a:xfrm>
            <a:off x="3703320" y="2496312"/>
            <a:ext cx="7772400" cy="457200"/>
          </a:xfrm>
          <a:prstGeom prst="rect">
            <a:avLst/>
          </a:prstGeom>
          <a:noFill/>
          <a:ln/>
        </p:spPr>
        <p:txBody>
          <a:bodyPr wrap="square" rtlCol="0" anchor="ctr"/>
          <a:lstStyle/>
          <a:p>
            <a:pPr indent="0" marL="0">
              <a:buNone/>
            </a:pPr>
            <a:r>
              <a:rPr lang="en-US" sz="1400" dirty="0">
                <a:solidFill>
                  <a:srgbClr val="E7EFEA"/>
                </a:solidFill>
                <a:latin typeface="Calibri" pitchFamily="34" charset="0"/>
                <a:ea typeface="Calibri" pitchFamily="34" charset="-122"/>
                <a:cs typeface="Calibri" pitchFamily="34" charset="-120"/>
              </a:rPr>
              <a:t>github.com/Coder1234a/ThaliMetrics</a:t>
            </a:r>
            <a:endParaRPr lang="en-US" sz="1400" dirty="0"/>
          </a:p>
        </p:txBody>
      </p:sp>
      <p:sp>
        <p:nvSpPr>
          <p:cNvPr id="8" name="Text 6"/>
          <p:cNvSpPr txBox="1"/>
          <p:nvPr/>
        </p:nvSpPr>
        <p:spPr>
          <a:xfrm>
            <a:off x="640080" y="3118104"/>
            <a:ext cx="3017520" cy="457200"/>
          </a:xfrm>
          <a:prstGeom prst="rect">
            <a:avLst/>
          </a:prstGeom>
          <a:noFill/>
          <a:ln/>
        </p:spPr>
        <p:txBody>
          <a:bodyPr wrap="square" rtlCol="0" anchor="ctr"/>
          <a:lstStyle/>
          <a:p>
            <a:pPr indent="0" marL="0">
              <a:buNone/>
            </a:pPr>
            <a:r>
              <a:rPr lang="en-US" sz="1500" b="1" dirty="0">
                <a:solidFill>
                  <a:srgbClr val="F2A691"/>
                </a:solidFill>
                <a:latin typeface="Calibri" pitchFamily="34" charset="0"/>
                <a:ea typeface="Calibri" pitchFamily="34" charset="-122"/>
                <a:cs typeface="Calibri" pitchFamily="34" charset="-120"/>
              </a:rPr>
              <a:t>Project brief (PDF):</a:t>
            </a:r>
            <a:endParaRPr lang="en-US" sz="1500" dirty="0"/>
          </a:p>
        </p:txBody>
      </p:sp>
      <p:sp>
        <p:nvSpPr>
          <p:cNvPr id="9" name="Text 7"/>
          <p:cNvSpPr txBox="1"/>
          <p:nvPr/>
        </p:nvSpPr>
        <p:spPr>
          <a:xfrm>
            <a:off x="3703320" y="3118104"/>
            <a:ext cx="7772400" cy="457200"/>
          </a:xfrm>
          <a:prstGeom prst="rect">
            <a:avLst/>
          </a:prstGeom>
          <a:noFill/>
          <a:ln/>
        </p:spPr>
        <p:txBody>
          <a:bodyPr wrap="square" rtlCol="0" anchor="ctr"/>
          <a:lstStyle/>
          <a:p>
            <a:pPr indent="0" marL="0">
              <a:buNone/>
            </a:pPr>
            <a:r>
              <a:rPr lang="en-US" sz="1400" dirty="0">
                <a:solidFill>
                  <a:srgbClr val="E7EFEA"/>
                </a:solidFill>
                <a:latin typeface="Calibri" pitchFamily="34" charset="0"/>
                <a:ea typeface="Calibri" pitchFamily="34" charset="-122"/>
                <a:cs typeface="Calibri" pitchFamily="34" charset="-120"/>
              </a:rPr>
              <a:t>docs/ThaliMetrics_Brief.pdf</a:t>
            </a:r>
            <a:endParaRPr lang="en-US" sz="1400" dirty="0"/>
          </a:p>
        </p:txBody>
      </p:sp>
      <p:sp>
        <p:nvSpPr>
          <p:cNvPr id="10" name="Text 8"/>
          <p:cNvSpPr txBox="1"/>
          <p:nvPr/>
        </p:nvSpPr>
        <p:spPr>
          <a:xfrm>
            <a:off x="640080" y="3739896"/>
            <a:ext cx="3017520" cy="457200"/>
          </a:xfrm>
          <a:prstGeom prst="rect">
            <a:avLst/>
          </a:prstGeom>
          <a:noFill/>
          <a:ln/>
        </p:spPr>
        <p:txBody>
          <a:bodyPr wrap="square" rtlCol="0" anchor="ctr"/>
          <a:lstStyle/>
          <a:p>
            <a:pPr indent="0" marL="0">
              <a:buNone/>
            </a:pPr>
            <a:r>
              <a:rPr lang="en-US" sz="1500" b="1" dirty="0">
                <a:solidFill>
                  <a:srgbClr val="F2A691"/>
                </a:solidFill>
                <a:latin typeface="Calibri" pitchFamily="34" charset="0"/>
                <a:ea typeface="Calibri" pitchFamily="34" charset="-122"/>
                <a:cs typeface="Calibri" pitchFamily="34" charset="-120"/>
              </a:rPr>
              <a:t>Research reference (PDF):</a:t>
            </a:r>
            <a:endParaRPr lang="en-US" sz="1500" dirty="0"/>
          </a:p>
        </p:txBody>
      </p:sp>
      <p:sp>
        <p:nvSpPr>
          <p:cNvPr id="11" name="Text 9"/>
          <p:cNvSpPr txBox="1"/>
          <p:nvPr/>
        </p:nvSpPr>
        <p:spPr>
          <a:xfrm>
            <a:off x="3703320" y="3739896"/>
            <a:ext cx="7772400" cy="457200"/>
          </a:xfrm>
          <a:prstGeom prst="rect">
            <a:avLst/>
          </a:prstGeom>
          <a:noFill/>
          <a:ln/>
        </p:spPr>
        <p:txBody>
          <a:bodyPr wrap="square" rtlCol="0" anchor="ctr"/>
          <a:lstStyle/>
          <a:p>
            <a:pPr indent="0" marL="0">
              <a:buNone/>
            </a:pPr>
            <a:r>
              <a:rPr lang="en-US" sz="1400" dirty="0">
                <a:solidFill>
                  <a:srgbClr val="E7EFEA"/>
                </a:solidFill>
                <a:latin typeface="Calibri" pitchFamily="34" charset="0"/>
                <a:ea typeface="Calibri" pitchFamily="34" charset="-122"/>
                <a:cs typeface="Calibri" pitchFamily="34" charset="-120"/>
              </a:rPr>
              <a:t>docs/RESEARCH_REFERENCE.pdf — FSSAI + ICMR-NIN sourcing</a:t>
            </a:r>
            <a:endParaRPr lang="en-US" sz="1400" dirty="0"/>
          </a:p>
        </p:txBody>
      </p:sp>
      <p:sp>
        <p:nvSpPr>
          <p:cNvPr id="12" name="Text 10"/>
          <p:cNvSpPr txBox="1"/>
          <p:nvPr/>
        </p:nvSpPr>
        <p:spPr>
          <a:xfrm>
            <a:off x="640080" y="4361688"/>
            <a:ext cx="3017520" cy="457200"/>
          </a:xfrm>
          <a:prstGeom prst="rect">
            <a:avLst/>
          </a:prstGeom>
          <a:noFill/>
          <a:ln/>
        </p:spPr>
        <p:txBody>
          <a:bodyPr wrap="square" rtlCol="0" anchor="ctr"/>
          <a:lstStyle/>
          <a:p>
            <a:pPr indent="0" marL="0">
              <a:buNone/>
            </a:pPr>
            <a:r>
              <a:rPr lang="en-US" sz="1500" b="1" dirty="0">
                <a:solidFill>
                  <a:srgbClr val="F2A691"/>
                </a:solidFill>
                <a:latin typeface="Calibri" pitchFamily="34" charset="0"/>
                <a:ea typeface="Calibri" pitchFamily="34" charset="-122"/>
                <a:cs typeface="Calibri" pitchFamily="34" charset="-120"/>
              </a:rPr>
              <a:t>Competitive analysis:</a:t>
            </a:r>
            <a:endParaRPr lang="en-US" sz="1500" dirty="0"/>
          </a:p>
        </p:txBody>
      </p:sp>
      <p:sp>
        <p:nvSpPr>
          <p:cNvPr id="13" name="Text 11"/>
          <p:cNvSpPr txBox="1"/>
          <p:nvPr/>
        </p:nvSpPr>
        <p:spPr>
          <a:xfrm>
            <a:off x="3703320" y="4361688"/>
            <a:ext cx="7772400" cy="457200"/>
          </a:xfrm>
          <a:prstGeom prst="rect">
            <a:avLst/>
          </a:prstGeom>
          <a:noFill/>
          <a:ln/>
        </p:spPr>
        <p:txBody>
          <a:bodyPr wrap="square" rtlCol="0" anchor="ctr"/>
          <a:lstStyle/>
          <a:p>
            <a:pPr indent="0" marL="0">
              <a:buNone/>
            </a:pPr>
            <a:r>
              <a:rPr lang="en-US" sz="1400" dirty="0">
                <a:solidFill>
                  <a:srgbClr val="E7EFEA"/>
                </a:solidFill>
                <a:latin typeface="Calibri" pitchFamily="34" charset="0"/>
                <a:ea typeface="Calibri" pitchFamily="34" charset="-122"/>
                <a:cs typeface="Calibri" pitchFamily="34" charset="-120"/>
              </a:rPr>
              <a:t>docs/COMPETITIVE_ANALYSIS.md — HealthifyMe, Leanpath, Winnow</a:t>
            </a:r>
            <a:endParaRPr lang="en-US" sz="1400" dirty="0"/>
          </a:p>
        </p:txBody>
      </p:sp>
      <p:sp>
        <p:nvSpPr>
          <p:cNvPr id="14" name="Text 12"/>
          <p:cNvSpPr txBox="1"/>
          <p:nvPr/>
        </p:nvSpPr>
        <p:spPr>
          <a:xfrm>
            <a:off x="640080" y="4983480"/>
            <a:ext cx="3017520" cy="457200"/>
          </a:xfrm>
          <a:prstGeom prst="rect">
            <a:avLst/>
          </a:prstGeom>
          <a:noFill/>
          <a:ln/>
        </p:spPr>
        <p:txBody>
          <a:bodyPr wrap="square" rtlCol="0" anchor="ctr"/>
          <a:lstStyle/>
          <a:p>
            <a:pPr indent="0" marL="0">
              <a:buNone/>
            </a:pPr>
            <a:r>
              <a:rPr lang="en-US" sz="1500" b="1" dirty="0">
                <a:solidFill>
                  <a:srgbClr val="F2A691"/>
                </a:solidFill>
                <a:latin typeface="Calibri" pitchFamily="34" charset="0"/>
                <a:ea typeface="Calibri" pitchFamily="34" charset="-122"/>
                <a:cs typeface="Calibri" pitchFamily="34" charset="-120"/>
              </a:rPr>
              <a:t>Decision log:</a:t>
            </a:r>
            <a:endParaRPr lang="en-US" sz="1500" dirty="0"/>
          </a:p>
        </p:txBody>
      </p:sp>
      <p:sp>
        <p:nvSpPr>
          <p:cNvPr id="15" name="Text 13"/>
          <p:cNvSpPr txBox="1"/>
          <p:nvPr/>
        </p:nvSpPr>
        <p:spPr>
          <a:xfrm>
            <a:off x="3703320" y="4983480"/>
            <a:ext cx="7772400" cy="457200"/>
          </a:xfrm>
          <a:prstGeom prst="rect">
            <a:avLst/>
          </a:prstGeom>
          <a:noFill/>
          <a:ln/>
        </p:spPr>
        <p:txBody>
          <a:bodyPr wrap="square" rtlCol="0" anchor="ctr"/>
          <a:lstStyle/>
          <a:p>
            <a:pPr indent="0" marL="0">
              <a:buNone/>
            </a:pPr>
            <a:r>
              <a:rPr lang="en-US" sz="1400" dirty="0">
                <a:solidFill>
                  <a:srgbClr val="E7EFEA"/>
                </a:solidFill>
                <a:latin typeface="Calibri" pitchFamily="34" charset="0"/>
                <a:ea typeface="Calibri" pitchFamily="34" charset="-122"/>
                <a:cs typeface="Calibri" pitchFamily="34" charset="-120"/>
              </a:rPr>
              <a:t>DECISIONS.md — every design call, and why</a:t>
            </a:r>
            <a:endParaRPr lang="en-US" sz="1400" dirty="0"/>
          </a:p>
        </p:txBody>
      </p:sp>
      <p:sp>
        <p:nvSpPr>
          <p:cNvPr id="16" name="Text 14"/>
          <p:cNvSpPr txBox="1"/>
          <p:nvPr/>
        </p:nvSpPr>
        <p:spPr>
          <a:xfrm>
            <a:off x="640080" y="5943600"/>
            <a:ext cx="10881360" cy="457200"/>
          </a:xfrm>
          <a:prstGeom prst="rect">
            <a:avLst/>
          </a:prstGeom>
          <a:noFill/>
          <a:ln/>
        </p:spPr>
        <p:txBody>
          <a:bodyPr wrap="square" rtlCol="0" anchor="ctr"/>
          <a:lstStyle/>
          <a:p>
            <a:pPr indent="0" marL="0">
              <a:buNone/>
            </a:pPr>
            <a:r>
              <a:rPr lang="en-US" sz="1600" b="1" i="1" dirty="0">
                <a:solidFill>
                  <a:srgbClr val="FFFFFF"/>
                </a:solidFill>
                <a:latin typeface="Calibri" pitchFamily="34" charset="0"/>
                <a:ea typeface="Calibri" pitchFamily="34" charset="-122"/>
                <a:cs typeface="Calibri" pitchFamily="34" charset="-120"/>
              </a:rPr>
              <a:t>"Every serving tells a story. ThaliMetrics makes it measurable."</a:t>
            </a:r>
            <a:endParaRPr lang="en-US" sz="1600" dirty="0"/>
          </a:p>
        </p:txBody>
      </p:sp>
      <p:sp>
        <p:nvSpPr>
          <p:cNvPr id="17" name="Text 15"/>
          <p:cNvSpPr/>
          <p:nvPr/>
        </p:nvSpPr>
        <p:spPr>
          <a:xfrm>
            <a:off x="11475720" y="6446520"/>
            <a:ext cx="457200" cy="274320"/>
          </a:xfrm>
          <a:prstGeom prst="rect">
            <a:avLst/>
          </a:prstGeom>
          <a:noFill/>
          <a:ln/>
        </p:spPr>
        <p:txBody>
          <a:bodyPr wrap="square" rtlCol="0" anchor="ctr"/>
          <a:lstStyle/>
          <a:p>
            <a:pPr algn="r" indent="0" marL="0">
              <a:buNone/>
            </a:pPr>
            <a:r>
              <a:rPr lang="en-US" sz="1100" dirty="0">
                <a:solidFill>
                  <a:srgbClr val="5C6B62"/>
                </a:solidFill>
                <a:latin typeface="Calibri" pitchFamily="34" charset="0"/>
                <a:ea typeface="Calibri" pitchFamily="34" charset="-122"/>
                <a:cs typeface="Calibri" pitchFamily="34" charset="-120"/>
              </a:rPr>
              <a:t>13</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2026-09-04T09:33:33Z</dcterms:created>
  <dcterms:modified xsi:type="dcterms:W3CDTF">2026-09-04T09:33:33Z</dcterms:modified>
</cp:coreProperties>
</file>